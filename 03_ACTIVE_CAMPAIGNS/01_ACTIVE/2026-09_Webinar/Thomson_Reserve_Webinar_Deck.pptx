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3.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86" r:id="rId6"/>
    <p:sldId id="287"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7691" autoAdjust="0"/>
  </p:normalViewPr>
  <p:slideViewPr>
    <p:cSldViewPr snapToGrid="0" snapToObjects="1">
      <p:cViewPr>
        <p:scale>
          <a:sx n="78" d="100"/>
          <a:sy n="78" d="100"/>
        </p:scale>
        <p:origin x="183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A4A"/>
                </a:solidFill>
                <a:latin typeface="Cambria"/>
              </a:defRPr>
            </a:pPr>
            <a:r>
              <a:rPr lang="en-SG" sz="1300" b="0" i="0" u="none" strike="noStrike">
                <a:solidFill>
                  <a:srgbClr val="1B2A4A"/>
                </a:solidFill>
                <a:latin typeface="Cambria"/>
              </a:rPr>
              <a:t>Average Annual Return (%)</a:t>
            </a:r>
          </a:p>
        </c:rich>
      </c:tx>
      <c:overlay val="0"/>
    </c:title>
    <c:autoTitleDeleted val="0"/>
    <c:plotArea>
      <c:layout/>
      <c:barChart>
        <c:barDir val="col"/>
        <c:grouping val="clustered"/>
        <c:varyColors val="0"/>
        <c:ser>
          <c:idx val="0"/>
          <c:order val="0"/>
          <c:tx>
            <c:strRef>
              <c:f>Sheet1!$B$1</c:f>
              <c:strCache>
                <c:ptCount val="1"/>
                <c:pt idx="0">
                  <c:v>Avg annual return</c:v>
                </c:pt>
              </c:strCache>
            </c:strRef>
          </c:tx>
          <c:spPr>
            <a:solidFill>
              <a:srgbClr val="6B7280"/>
            </a:solidFill>
            <a:effectLst/>
          </c:spPr>
          <c:invertIfNegative val="0"/>
          <c:dPt>
            <c:idx val="0"/>
            <c:invertIfNegative val="0"/>
            <c:bubble3D val="0"/>
            <c:spPr>
              <a:solidFill>
                <a:schemeClr val="accent5">
                  <a:lumMod val="60000"/>
                  <a:lumOff val="40000"/>
                </a:schemeClr>
              </a:solidFill>
              <a:effectLst/>
            </c:spPr>
            <c:extLst>
              <c:ext xmlns:c16="http://schemas.microsoft.com/office/drawing/2014/chart" uri="{C3380CC4-5D6E-409C-BE32-E72D297353CC}">
                <c16:uniqueId val="{00000001-A1BA-4B25-98D1-B38CF8344BBA}"/>
              </c:ext>
            </c:extLst>
          </c:dPt>
          <c:dPt>
            <c:idx val="1"/>
            <c:invertIfNegative val="0"/>
            <c:bubble3D val="0"/>
            <c:spPr>
              <a:solidFill>
                <a:srgbClr val="C9A227"/>
              </a:solidFill>
              <a:effectLst/>
            </c:spPr>
            <c:extLst>
              <c:ext xmlns:c16="http://schemas.microsoft.com/office/drawing/2014/chart" uri="{C3380CC4-5D6E-409C-BE32-E72D297353CC}">
                <c16:uniqueId val="{00000003-A1BA-4B25-98D1-B38CF8344BBA}"/>
              </c:ext>
            </c:extLst>
          </c:dPt>
          <c:dPt>
            <c:idx val="2"/>
            <c:invertIfNegative val="0"/>
            <c:bubble3D val="0"/>
            <c:spPr>
              <a:solidFill>
                <a:srgbClr val="9E1B32"/>
              </a:solidFill>
              <a:effectLst/>
            </c:spPr>
            <c:extLst>
              <c:ext xmlns:c16="http://schemas.microsoft.com/office/drawing/2014/chart" uri="{C3380CC4-5D6E-409C-BE32-E72D297353CC}">
                <c16:uniqueId val="{00000005-A1BA-4B25-98D1-B38CF8344BBA}"/>
              </c:ext>
            </c:extLst>
          </c:dPt>
          <c:dPt>
            <c:idx val="3"/>
            <c:invertIfNegative val="0"/>
            <c:bubble3D val="0"/>
            <c:spPr>
              <a:solidFill>
                <a:schemeClr val="accent2">
                  <a:lumMod val="75000"/>
                </a:schemeClr>
              </a:solidFill>
              <a:effectLst/>
            </c:spPr>
            <c:extLst>
              <c:ext xmlns:c16="http://schemas.microsoft.com/office/drawing/2014/chart" uri="{C3380CC4-5D6E-409C-BE32-E72D297353CC}">
                <c16:uniqueId val="{00000007-A1BA-4B25-98D1-B38CF8344BBA}"/>
              </c:ext>
            </c:extLst>
          </c:dPt>
          <c:dLbls>
            <c:dLbl>
              <c:idx val="3"/>
              <c:tx>
                <c:rich>
                  <a:bodyPr/>
                  <a:lstStyle/>
                  <a:p>
                    <a:r>
                      <a:rPr lang="en-US"/>
                      <a:t>25</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A1BA-4B25-98D1-B38CF8344BBA}"/>
                </c:ext>
              </c:extLst>
            </c:dLbl>
            <c:numFmt formatCode="#,##0" sourceLinked="0"/>
            <c:spPr>
              <a:noFill/>
              <a:ln>
                <a:noFill/>
              </a:ln>
              <a:effectLst/>
            </c:spPr>
            <c:txPr>
              <a:bodyPr/>
              <a:lstStyle/>
              <a:p>
                <a:pPr>
                  <a:defRPr sz="11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S&amp;P 500</c:v>
                </c:pt>
                <c:pt idx="1">
                  <c:v>STI Total Return</c:v>
                </c:pt>
                <c:pt idx="2">
                  <c:v>SG Property (Unleveraged)</c:v>
                </c:pt>
                <c:pt idx="3">
                  <c:v>SG Property (4x Leveraged)</c:v>
                </c:pt>
              </c:strCache>
            </c:strRef>
          </c:cat>
          <c:val>
            <c:numRef>
              <c:f>Sheet1!$B$2:$B$5</c:f>
              <c:numCache>
                <c:formatCode>General</c:formatCode>
                <c:ptCount val="4"/>
                <c:pt idx="0">
                  <c:v>14</c:v>
                </c:pt>
                <c:pt idx="1">
                  <c:v>12</c:v>
                </c:pt>
                <c:pt idx="2">
                  <c:v>10</c:v>
                </c:pt>
                <c:pt idx="3">
                  <c:v>25</c:v>
                </c:pt>
              </c:numCache>
            </c:numRef>
          </c:val>
          <c:extLst>
            <c:ext xmlns:c16="http://schemas.microsoft.com/office/drawing/2014/chart" uri="{C3380CC4-5D6E-409C-BE32-E72D297353CC}">
              <c16:uniqueId val="{00000006-A1BA-4B25-98D1-B38CF8344BB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6E8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A4A"/>
                </a:solidFill>
                <a:latin typeface="Cambria"/>
              </a:defRPr>
            </a:pPr>
            <a:r>
              <a:rPr lang="en-SG" sz="1300" b="0" i="0" u="none" strike="noStrike">
                <a:solidFill>
                  <a:srgbClr val="1B2A4A"/>
                </a:solidFill>
                <a:latin typeface="Cambria"/>
              </a:rPr>
              <a:t>Average Annual Return (%)</a:t>
            </a:r>
          </a:p>
        </c:rich>
      </c:tx>
      <c:overlay val="0"/>
    </c:title>
    <c:autoTitleDeleted val="0"/>
    <c:plotArea>
      <c:layout/>
      <c:barChart>
        <c:barDir val="col"/>
        <c:grouping val="clustered"/>
        <c:varyColors val="0"/>
        <c:ser>
          <c:idx val="0"/>
          <c:order val="0"/>
          <c:tx>
            <c:strRef>
              <c:f>Sheet1!$B$1</c:f>
              <c:strCache>
                <c:ptCount val="1"/>
                <c:pt idx="0">
                  <c:v>Avg annual return</c:v>
                </c:pt>
              </c:strCache>
            </c:strRef>
          </c:tx>
          <c:spPr>
            <a:solidFill>
              <a:srgbClr val="6B7280"/>
            </a:solidFill>
            <a:effectLst/>
          </c:spPr>
          <c:invertIfNegative val="0"/>
          <c:dPt>
            <c:idx val="0"/>
            <c:invertIfNegative val="0"/>
            <c:bubble3D val="0"/>
            <c:spPr>
              <a:solidFill>
                <a:schemeClr val="accent5">
                  <a:lumMod val="60000"/>
                  <a:lumOff val="40000"/>
                </a:schemeClr>
              </a:solidFill>
              <a:effectLst/>
            </c:spPr>
            <c:extLst>
              <c:ext xmlns:c16="http://schemas.microsoft.com/office/drawing/2014/chart" uri="{C3380CC4-5D6E-409C-BE32-E72D297353CC}">
                <c16:uniqueId val="{00000001-A1BA-4B25-98D1-B38CF8344BBA}"/>
              </c:ext>
            </c:extLst>
          </c:dPt>
          <c:dPt>
            <c:idx val="1"/>
            <c:invertIfNegative val="0"/>
            <c:bubble3D val="0"/>
            <c:spPr>
              <a:solidFill>
                <a:srgbClr val="C9A227"/>
              </a:solidFill>
              <a:effectLst/>
            </c:spPr>
            <c:extLst>
              <c:ext xmlns:c16="http://schemas.microsoft.com/office/drawing/2014/chart" uri="{C3380CC4-5D6E-409C-BE32-E72D297353CC}">
                <c16:uniqueId val="{00000003-A1BA-4B25-98D1-B38CF8344BBA}"/>
              </c:ext>
            </c:extLst>
          </c:dPt>
          <c:dPt>
            <c:idx val="2"/>
            <c:invertIfNegative val="0"/>
            <c:bubble3D val="0"/>
            <c:spPr>
              <a:solidFill>
                <a:srgbClr val="9E1B32"/>
              </a:solidFill>
              <a:effectLst/>
            </c:spPr>
            <c:extLst>
              <c:ext xmlns:c16="http://schemas.microsoft.com/office/drawing/2014/chart" uri="{C3380CC4-5D6E-409C-BE32-E72D297353CC}">
                <c16:uniqueId val="{00000005-A1BA-4B25-98D1-B38CF8344BBA}"/>
              </c:ext>
            </c:extLst>
          </c:dPt>
          <c:dPt>
            <c:idx val="3"/>
            <c:invertIfNegative val="0"/>
            <c:bubble3D val="0"/>
            <c:spPr>
              <a:solidFill>
                <a:schemeClr val="accent2">
                  <a:lumMod val="75000"/>
                </a:schemeClr>
              </a:solidFill>
              <a:effectLst/>
            </c:spPr>
            <c:extLst>
              <c:ext xmlns:c16="http://schemas.microsoft.com/office/drawing/2014/chart" uri="{C3380CC4-5D6E-409C-BE32-E72D297353CC}">
                <c16:uniqueId val="{00000006-0FEE-44A5-A4F0-950F2FD91396}"/>
              </c:ext>
            </c:extLst>
          </c:dPt>
          <c:dLbls>
            <c:numFmt formatCode="#,##0" sourceLinked="0"/>
            <c:spPr>
              <a:noFill/>
              <a:ln>
                <a:noFill/>
              </a:ln>
              <a:effectLst/>
            </c:spPr>
            <c:txPr>
              <a:bodyPr/>
              <a:lstStyle/>
              <a:p>
                <a:pPr>
                  <a:defRPr sz="11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S&amp;P 500</c:v>
                </c:pt>
                <c:pt idx="1">
                  <c:v>STI Total Return</c:v>
                </c:pt>
                <c:pt idx="2">
                  <c:v>SG Property (Unleveraged)</c:v>
                </c:pt>
                <c:pt idx="3">
                  <c:v>SG Property (4x Leveraged)</c:v>
                </c:pt>
              </c:strCache>
            </c:strRef>
          </c:cat>
          <c:val>
            <c:numRef>
              <c:f>Sheet1!$B$2:$B$5</c:f>
              <c:numCache>
                <c:formatCode>General</c:formatCode>
                <c:ptCount val="4"/>
                <c:pt idx="0">
                  <c:v>12</c:v>
                </c:pt>
                <c:pt idx="1">
                  <c:v>10</c:v>
                </c:pt>
                <c:pt idx="2">
                  <c:v>9</c:v>
                </c:pt>
                <c:pt idx="3">
                  <c:v>22</c:v>
                </c:pt>
              </c:numCache>
            </c:numRef>
          </c:val>
          <c:extLst>
            <c:ext xmlns:c16="http://schemas.microsoft.com/office/drawing/2014/chart" uri="{C3380CC4-5D6E-409C-BE32-E72D297353CC}">
              <c16:uniqueId val="{00000006-A1BA-4B25-98D1-B38CF8344BB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6E8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Unit Mix</c:v>
                </c:pt>
              </c:strCache>
            </c:strRef>
          </c:tx>
          <c:spPr>
            <a:solidFill>
              <a:schemeClr val="accent1"/>
            </a:solidFill>
            <a:ln w="9525" cap="flat">
              <a:solidFill>
                <a:srgbClr val="F9F9F9"/>
              </a:solidFill>
              <a:prstDash val="solid"/>
              <a:round/>
            </a:ln>
            <a:effectLst/>
          </c:spPr>
          <c:dPt>
            <c:idx val="0"/>
            <c:bubble3D val="0"/>
            <c:spPr>
              <a:solidFill>
                <a:srgbClr val="1B2A4A"/>
              </a:solidFill>
              <a:effectLst/>
            </c:spPr>
            <c:extLst>
              <c:ext xmlns:c16="http://schemas.microsoft.com/office/drawing/2014/chart" uri="{C3380CC4-5D6E-409C-BE32-E72D297353CC}">
                <c16:uniqueId val="{00000001-7D3C-4461-B112-72F5F2FF5B36}"/>
              </c:ext>
            </c:extLst>
          </c:dPt>
          <c:dPt>
            <c:idx val="1"/>
            <c:bubble3D val="0"/>
            <c:spPr>
              <a:solidFill>
                <a:srgbClr val="C9A227"/>
              </a:solidFill>
              <a:effectLst/>
            </c:spPr>
            <c:extLst>
              <c:ext xmlns:c16="http://schemas.microsoft.com/office/drawing/2014/chart" uri="{C3380CC4-5D6E-409C-BE32-E72D297353CC}">
                <c16:uniqueId val="{00000003-7D3C-4461-B112-72F5F2FF5B36}"/>
              </c:ext>
            </c:extLst>
          </c:dPt>
          <c:dLbls>
            <c:dLbl>
              <c:idx val="0"/>
              <c:numFmt formatCode="General" sourceLinked="0"/>
              <c:spPr/>
              <c:txPr>
                <a:bodyPr/>
                <a:lstStyle/>
                <a:p>
                  <a:pPr>
                    <a:defRPr sz="13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D3C-4461-B112-72F5F2FF5B36}"/>
                </c:ext>
              </c:extLst>
            </c:dLbl>
            <c:dLbl>
              <c:idx val="1"/>
              <c:numFmt formatCode="General" sourceLinked="0"/>
              <c:spPr/>
              <c:txPr>
                <a:bodyPr/>
                <a:lstStyle/>
                <a:p>
                  <a:pPr>
                    <a:defRPr sz="13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D3C-4461-B112-72F5F2FF5B36}"/>
                </c:ext>
              </c:extLst>
            </c:dLbl>
            <c:numFmt formatCode="General" sourceLinked="0"/>
            <c:spPr>
              <a:noFill/>
              <a:ln>
                <a:noFill/>
              </a:ln>
              <a:effectLst/>
            </c:spPr>
            <c:txPr>
              <a:bodyPr/>
              <a:lstStyle/>
              <a:p>
                <a:pPr>
                  <a:defRPr sz="1800" b="1"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2–3 Bedroom (majority)</c:v>
                </c:pt>
                <c:pt idx="1">
                  <c:v>Larger / Family units</c:v>
                </c:pt>
              </c:strCache>
            </c:strRef>
          </c:cat>
          <c:val>
            <c:numRef>
              <c:f>Sheet1!$B$2:$B$3</c:f>
              <c:numCache>
                <c:formatCode>General</c:formatCode>
                <c:ptCount val="2"/>
                <c:pt idx="0">
                  <c:v>78</c:v>
                </c:pt>
                <c:pt idx="1">
                  <c:v>22</c:v>
                </c:pt>
              </c:numCache>
            </c:numRef>
          </c:val>
          <c:extLst>
            <c:ext xmlns:c16="http://schemas.microsoft.com/office/drawing/2014/chart" uri="{C3380CC4-5D6E-409C-BE32-E72D297353CC}">
              <c16:uniqueId val="{00000004-7D3C-4461-B112-72F5F2FF5B36}"/>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100">
              <a:solidFill>
                <a:srgbClr val="1F2937"/>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3583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welcome in. Drop a "yes I can hear you" — and tell me: what's pulling you toward Thomson Reserve? The MRT, the school, the hype, or just "everyone's talking about it"? [Wait 30-45 sec, read 3-4 responses]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exactly what the next hour is. You're going to get real, specific information on Thomson Reserve. That's not the bait before the pitch. That's the actual content. But I'm also going to show you something most people never get shown: the two questions that actually decide whether a launch like this is a good move. You won't walk out of here having made a final decision. What you'll walk out with is real information on this project, and the knowledge that there's an actual process — and someone who runs it. Let's get into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word on why I'm qualified to run this. Started under $600K, as an HDB. Since then — a portfolio realistically sitting at $6.6 to $9 million in net asset value. Two real deals: The Tre Ver, bought $1.05M, exited $1.28M. Parc Clematis, bought $1.15M, exited $1.525M.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bar I hold every launch to, including my own money. The S&amp;P 500 has averaged roughly 10.5% a year historically. Singapore private property averages closer to 4.8% a year in capital growth, plus about 3% rental yield. On paper, stocks win. So why buy property at all? Leverage. Run the real math on my own deals: Parc Clematis, roughly 22.9% a year on the capital I actually committed. The Tre Ver, about 12.9%. Both cleared the S&amp;P bar. Both did it through leverage, not luck.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6DBA4-D828-D64F-E6C4-32AC10AB81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692017-6E15-968F-9FEF-8E3DDCA51F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0BD8D7-CA93-DDED-4C46-D75E02D47382}"/>
              </a:ext>
            </a:extLst>
          </p:cNvPr>
          <p:cNvSpPr>
            <a:spLocks noGrp="1"/>
          </p:cNvSpPr>
          <p:nvPr>
            <p:ph type="body" idx="1"/>
          </p:nvPr>
        </p:nvSpPr>
        <p:spPr/>
        <p:txBody>
          <a:bodyPr/>
          <a:lstStyle/>
          <a:p>
            <a:r>
              <a:rPr lang="en-US" dirty="0"/>
              <a:t>Here's the bar I hold every launch to, including my own money. The S&amp;P 500 has averaged roughly 10.5% a year historically. Singapore private property averages closer to 4.8% a year in capital growth, plus about 3% rental yield. On paper, stocks win. So why buy property at all? Leverage. Run the real math on my own deals: Parc Clematis, roughly 22.9% a year on the capital I actually committed. The Tre Ver, about 12.9%. Both cleared the S&amp;P bar. Both did it through leverage, not luck.</a:t>
            </a:r>
          </a:p>
        </p:txBody>
      </p:sp>
      <p:sp>
        <p:nvSpPr>
          <p:cNvPr id="4" name="Slide Number Placeholder 3">
            <a:extLst>
              <a:ext uri="{FF2B5EF4-FFF2-40B4-BE49-F238E27FC236}">
                <a16:creationId xmlns:a16="http://schemas.microsoft.com/office/drawing/2014/main" id="{D33A3C99-8230-CF7D-8EDB-BEC59872CAE3}"/>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786301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D7C46-FBF5-E902-80A0-B550B843D1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35ED73-590A-8E12-12EB-484FABD28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A30FDF-BBCE-9597-8850-B46616D63BA1}"/>
              </a:ext>
            </a:extLst>
          </p:cNvPr>
          <p:cNvSpPr>
            <a:spLocks noGrp="1"/>
          </p:cNvSpPr>
          <p:nvPr>
            <p:ph type="body" idx="1"/>
          </p:nvPr>
        </p:nvSpPr>
        <p:spPr/>
        <p:txBody>
          <a:bodyPr/>
          <a:lstStyle/>
          <a:p>
            <a:r>
              <a:rPr lang="en-US" dirty="0"/>
              <a:t>Quick word on why I'm qualified to run this. Started under $600K, as an HDB. Since then — a portfolio realistically sitting at $6.6 to $9 million in net asset value. Two real deals: The Tre Ver, bought $1.05M, exited $1.28M. Parc Clematis, bought $1.15M, exited $1.525M.</a:t>
            </a:r>
          </a:p>
        </p:txBody>
      </p:sp>
      <p:sp>
        <p:nvSpPr>
          <p:cNvPr id="4" name="Slide Number Placeholder 3">
            <a:extLst>
              <a:ext uri="{FF2B5EF4-FFF2-40B4-BE49-F238E27FC236}">
                <a16:creationId xmlns:a16="http://schemas.microsoft.com/office/drawing/2014/main" id="{3092D989-3193-AD4A-65EB-77C6533C15B5}"/>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685514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why now specifically: capital flowing in from a strong stock market looking for a home, where interest rates go next, and — the one that predicts prices best — land cost. Every time a developer pays more for land than the last guy, that's next year's price floor. Keep that in mind, because it's exactly what we're building on in a few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evaluating Thomson Reserve only ask one question: is it a good project. Tonight we're asking two. Question 1 — Fit. Is it right for you, specifically. Question 2 — Probability. If it is a fit, what are your actual odds of getting the unit you want, at a price that still makes sense? Both get answered live, on this project, with real numbers. Let's start with Fit.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come through my desk: stay-for-free — live better, at zero net cost over time. Pure investment — held to the S&amp;P bar I just showed you. Buying for the kids — school-priority driven. Legacy — the next 20 to 30 years.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 1 to 4. We're using this in a few minutes, and again at the end. [Read 5-6 responses]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facts. District 20, Bright Hill Drive. 99-year lease. 1,268 units, six towers. Joint venture of three established developers. Direct link to Upper Thomson MRT. A well-known school inside the priority radius. Land cost, publicly disclosed: $1,178 psf ppr. No official price list yet.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 actually want to do with you right now — not describe the process, run it. Land, Expenses, Profit, Benchmark. That's how a fair price gets built, and I'll show you exactly how it applies here.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 $1,178 psf ppr. Reasonable relative to recent nearby land sales.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 want to name something directly, because if you've been reading anything about this launch, you've probably already thought it: even if the land was cheap, why would the developer pass those savings on to me? That's a real, fair objection — I've seen it argued almost word for word on property forums discussing this exact project. And it's correct. Cheap land is not a promise of a cheap price. That's exactly why we keep building.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Expenses — construction, financing, marketing. Not disclosed publicly at this stage, which is normal. This is where an estimated breakeven gets built — the same four factors, every time.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Profit — the margin a developer needs to justify building at all. Unknown until pricing drops.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 — what's actually proven nearby right now, not what a showflat feels like it's worth. Public analyst estimates on Thomson Reserve currently range widely — from the low $2,000s to around $3,100 psf. That's the honest answer, not a dodge: I cannot give you a confident number tonight, and neither can anyone else being straight with you.</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you can do with even an estimated range. Take the middle of that public estimate — call it roughly $2,600 to $2,900 psf — and run it through the same leverage math I showed you on my own deals. That's the exact test, and it's the same one I'm applying to my own decision.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Stay-for-free: the location and school fundamentals are genuinely strong — reasonable fit. Kids/school: genuinely strong, one of the better arguments for this project specifically. Legacy: reasonable, with the 99-year lease worth factoring in. Pure investment: needs real scrutiny — until there's a confirmed price, I can't tell you this clears the bar, and I won't pretend otherwise.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question almost nobody asks. Say Thomson Reserve genuinely fits your objective. That doesn't mean you get the unit you want, at a price you're happy with.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direct about something, because it's a real trap. If Thomson Reserve sells out fast on launch weekend, that will get reported everywhere as proof it's a great investment. It isn't. Plenty of launches that sold out fast have gone on to underperform after completion. Don't let a queue confirm a decision your own numbers haven't confirmed yet.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actual odds depend heavily on what you're buying. With the bulk of 1,268 units concentrated in the smaller 2- and 3-bedroom range, a buyer chasing one of those types faces very different odds than someone after a larger family unit. Same project, structurally different probability, depending purely on what you need.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actual process, in three parts. Before: walk-away price, ranked list, financing sorted. During: what you actually do live if your first choice is gone — discipline, not panic. After: what changes once you're holding the unit, or didn't get it.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common things buyers get wrong across every launch, not just this one — the gap between total floor area and usable, liveable space. Worth checking on any unit you're comparing, Thomson Reserve included.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wait for the ballot and hope your number and the price both land in your favour — a gamble on two things you don't control. Or you can walk in with a plan already priced out, already knows your walk-away, already knows your real odds. Not a gamble. Prepared. Every client who works with us gets this same process — even the ones who end up balloting for Thomson Reserve anyway.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fair-price build, live, including the one honest gap — no official price yet. Two objections most buyers are already having, addressed directly. A real probability check. A three-phase process. Everything tonight was general — mine, or an average scenario. Yours is different.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nothing — decide on hype and queue numbers. DIY with tonight's process — genuinely usable, said with respect. The real gap: no read on YOUR numbers, no one to tell you “wait” when that's the honest call. Work with us — the same process, run properly, on your numbers.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objective was stay-for-free, here's what I want to do for you. If it was investment, here's what changes. Track 1, Next Move Strategy Session. Track 2, Thomson Reserve balloting support — everything in Track 1, plus the full before/during/after process.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SLIDE — replace with 2-3 real, consented result snippets before recording. Do not present placeholder text live.]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timing, phase-pricing if confirmed for this project, genuine one-on-one capacity only.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You're not deciding today. You're deciding whether you want a real process behind you when you do. Two-track booking link on screen.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tonight was information on Thomson Reserve, and the process behind it. For the next while, ask me anything. [Every question governed by the Live Q&amp;A Handling Rule: reflect through Fit/Probability, teach the thinking, never a prescribed verdict on someone else's numbers, bridge to a call when it's genuinely a 'run my numbers' question.]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A4A"/>
          </a:solidFill>
          <a:ln/>
        </p:spPr>
        <p:txBody>
          <a:bodyPr/>
          <a:lstStyle/>
          <a:p>
            <a:endParaRPr lang="en-SG"/>
          </a:p>
        </p:txBody>
      </p:sp>
      <p:sp>
        <p:nvSpPr>
          <p:cNvPr id="3" name="Shape 1"/>
          <p:cNvSpPr/>
          <p:nvPr/>
        </p:nvSpPr>
        <p:spPr>
          <a:xfrm>
            <a:off x="8778240" y="-2011680"/>
            <a:ext cx="6400800" cy="6400800"/>
          </a:xfrm>
          <a:prstGeom prst="ellipse">
            <a:avLst/>
          </a:prstGeom>
          <a:solidFill>
            <a:srgbClr val="121D33"/>
          </a:solidFill>
          <a:ln/>
        </p:spPr>
        <p:txBody>
          <a:bodyPr/>
          <a:lstStyle/>
          <a:p>
            <a:endParaRPr lang="en-SG"/>
          </a:p>
        </p:txBody>
      </p:sp>
      <p:sp>
        <p:nvSpPr>
          <p:cNvPr id="4" name="Shape 2"/>
          <p:cNvSpPr/>
          <p:nvPr/>
        </p:nvSpPr>
        <p:spPr>
          <a:xfrm>
            <a:off x="9692640" y="-1097280"/>
            <a:ext cx="4572000" cy="4572000"/>
          </a:xfrm>
          <a:prstGeom prst="ellipse">
            <a:avLst/>
          </a:prstGeom>
          <a:solidFill>
            <a:srgbClr val="24365C"/>
          </a:solidFill>
          <a:ln/>
        </p:spPr>
        <p:txBody>
          <a:bodyPr/>
          <a:lstStyle/>
          <a:p>
            <a:endParaRPr lang="en-SG"/>
          </a:p>
        </p:txBody>
      </p:sp>
      <p:sp>
        <p:nvSpPr>
          <p:cNvPr id="5" name="Text 3"/>
          <p:cNvSpPr txBox="1"/>
          <p:nvPr/>
        </p:nvSpPr>
        <p:spPr>
          <a:xfrm>
            <a:off x="822960" y="1188720"/>
            <a:ext cx="9144000" cy="45720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LIVE WEBINAR</a:t>
            </a:r>
            <a:endParaRPr lang="en-US" sz="1400" dirty="0"/>
          </a:p>
        </p:txBody>
      </p:sp>
      <p:sp>
        <p:nvSpPr>
          <p:cNvPr id="6" name="Text 4"/>
          <p:cNvSpPr txBox="1"/>
          <p:nvPr/>
        </p:nvSpPr>
        <p:spPr>
          <a:xfrm>
            <a:off x="822960" y="1691640"/>
            <a:ext cx="9692640" cy="2468880"/>
          </a:xfrm>
          <a:prstGeom prst="rect">
            <a:avLst/>
          </a:prstGeom>
          <a:noFill/>
          <a:ln/>
        </p:spPr>
        <p:txBody>
          <a:bodyPr wrap="square" lIns="0" tIns="0" rIns="0" bIns="0" rtlCol="0" anchor="ctr"/>
          <a:lstStyle/>
          <a:p>
            <a:r>
              <a:rPr lang="en-SG" sz="6000" dirty="0">
                <a:solidFill>
                  <a:schemeClr val="bg1"/>
                </a:solidFill>
                <a:latin typeface="Impact" panose="020B0806030902050204" pitchFamily="34" charset="0"/>
                <a:cs typeface="Aharoni" panose="020F0502020204030204" pitchFamily="2" charset="-79"/>
              </a:rPr>
              <a:t>I HAVE $3M BUDGET, AM I GONNA BUY THOMSON RESERVE</a:t>
            </a:r>
            <a:endParaRPr lang="en-US" sz="6000" dirty="0">
              <a:solidFill>
                <a:schemeClr val="bg1"/>
              </a:solidFill>
              <a:latin typeface="Impact" panose="020B0806030902050204" pitchFamily="34" charset="0"/>
              <a:cs typeface="Aharoni" panose="020F0502020204030204" pitchFamily="2" charset="-79"/>
            </a:endParaRPr>
          </a:p>
        </p:txBody>
      </p:sp>
      <p:sp>
        <p:nvSpPr>
          <p:cNvPr id="7" name="Text 5"/>
          <p:cNvSpPr txBox="1"/>
          <p:nvPr/>
        </p:nvSpPr>
        <p:spPr>
          <a:xfrm>
            <a:off x="822960" y="4160520"/>
            <a:ext cx="8961120" cy="1005840"/>
          </a:xfrm>
          <a:prstGeom prst="rect">
            <a:avLst/>
          </a:prstGeom>
          <a:noFill/>
          <a:ln/>
        </p:spPr>
        <p:txBody>
          <a:bodyPr wrap="square" lIns="0" tIns="0" rIns="0" bIns="0" rtlCol="0" anchor="ctr"/>
          <a:lstStyle/>
          <a:p>
            <a:pPr marL="0" indent="0">
              <a:buNone/>
            </a:pPr>
            <a:r>
              <a:rPr lang="en-US" sz="1800" i="1" dirty="0">
                <a:solidFill>
                  <a:srgbClr val="D7DCE8"/>
                </a:solidFill>
                <a:latin typeface="Calibri" pitchFamily="34" charset="0"/>
                <a:ea typeface="Calibri" pitchFamily="34" charset="-122"/>
                <a:cs typeface="Calibri" pitchFamily="34" charset="-120"/>
              </a:rPr>
              <a:t>The Two Questions Almost Nobody Asks Before They Ballot — Live, With Real Numbers.</a:t>
            </a:r>
            <a:endParaRPr lang="en-US" sz="1800" dirty="0"/>
          </a:p>
        </p:txBody>
      </p:sp>
      <p:sp>
        <p:nvSpPr>
          <p:cNvPr id="8" name="Shape 6"/>
          <p:cNvSpPr/>
          <p:nvPr/>
        </p:nvSpPr>
        <p:spPr>
          <a:xfrm>
            <a:off x="822960" y="5806440"/>
            <a:ext cx="502920" cy="36576"/>
          </a:xfrm>
          <a:prstGeom prst="rect">
            <a:avLst/>
          </a:prstGeom>
          <a:solidFill>
            <a:srgbClr val="C9A227"/>
          </a:solidFill>
          <a:ln/>
        </p:spPr>
        <p:txBody>
          <a:bodyPr/>
          <a:lstStyle/>
          <a:p>
            <a:endParaRPr lang="en-SG"/>
          </a:p>
        </p:txBody>
      </p:sp>
      <p:sp>
        <p:nvSpPr>
          <p:cNvPr id="9" name="Text 7"/>
          <p:cNvSpPr txBox="1"/>
          <p:nvPr/>
        </p:nvSpPr>
        <p:spPr>
          <a:xfrm>
            <a:off x="822960" y="5943600"/>
            <a:ext cx="7315200" cy="457200"/>
          </a:xfrm>
          <a:prstGeom prst="rect">
            <a:avLst/>
          </a:prstGeom>
          <a:noFill/>
          <a:ln/>
        </p:spPr>
        <p:txBody>
          <a:bodyPr wrap="square" lIns="0" tIns="0" rIns="0" bIns="0" rtlCol="0" anchor="ctr"/>
          <a:lstStyle/>
          <a:p>
            <a:r>
              <a:rPr lang="en-US" sz="1400" b="1" dirty="0">
                <a:solidFill>
                  <a:srgbClr val="FFFFFF"/>
                </a:solidFill>
                <a:latin typeface="Calibri" pitchFamily="34" charset="0"/>
                <a:ea typeface="Calibri" pitchFamily="34" charset="-122"/>
                <a:cs typeface="Calibri" pitchFamily="34" charset="-120"/>
              </a:rPr>
              <a:t>Property Coach Edmund Tan  ·  Singapore Real Estate Insider ·  The REI Method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5400" dirty="0">
                <a:solidFill>
                  <a:srgbClr val="1B2A4A"/>
                </a:solidFill>
                <a:latin typeface="Impact" panose="020B0806030902050204" pitchFamily="34" charset="0"/>
                <a:ea typeface="Cambria" pitchFamily="34" charset="-122"/>
                <a:cs typeface="Cambria" pitchFamily="34" charset="-120"/>
              </a:rPr>
              <a:t>WHAT TONIGHT ACTUALLY IS</a:t>
            </a:r>
            <a:endParaRPr lang="en-US" sz="5400" dirty="0">
              <a:latin typeface="Impact" panose="020B0806030902050204" pitchFamily="34" charset="0"/>
            </a:endParaRPr>
          </a:p>
        </p:txBody>
      </p:sp>
      <p:sp>
        <p:nvSpPr>
          <p:cNvPr id="4" name="Shape 2"/>
          <p:cNvSpPr/>
          <p:nvPr/>
        </p:nvSpPr>
        <p:spPr>
          <a:xfrm>
            <a:off x="640080" y="1965960"/>
            <a:ext cx="594360" cy="594360"/>
          </a:xfrm>
          <a:prstGeom prst="ellipse">
            <a:avLst/>
          </a:prstGeom>
          <a:solidFill>
            <a:srgbClr val="1B2A4A"/>
          </a:solidFill>
          <a:ln/>
          <a:effectLst>
            <a:outerShdw blurRad="101600" dist="38100" dir="5400000" algn="bl" rotWithShape="0">
              <a:srgbClr val="000000">
                <a:alpha val="18000"/>
              </a:srgbClr>
            </a:outerShdw>
          </a:effectLst>
        </p:spPr>
        <p:txBody>
          <a:bodyPr/>
          <a:lstStyle/>
          <a:p>
            <a:endParaRPr lang="en-SG"/>
          </a:p>
        </p:txBody>
      </p:sp>
      <p:sp>
        <p:nvSpPr>
          <p:cNvPr id="5" name="Text 3"/>
          <p:cNvSpPr txBox="1"/>
          <p:nvPr/>
        </p:nvSpPr>
        <p:spPr>
          <a:xfrm>
            <a:off x="640080" y="1965960"/>
            <a:ext cx="59436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508760" y="1920240"/>
            <a:ext cx="9966960" cy="822960"/>
          </a:xfrm>
          <a:prstGeom prst="rect">
            <a:avLst/>
          </a:prstGeom>
          <a:noFill/>
          <a:ln/>
        </p:spPr>
        <p:txBody>
          <a:bodyPr wrap="square" lIns="0" tIns="0" rIns="0" bIns="0" rtlCol="0" anchor="ctr"/>
          <a:lstStyle/>
          <a:p>
            <a:pPr marL="0" indent="0">
              <a:buNone/>
            </a:pPr>
            <a:r>
              <a:rPr lang="en-US" sz="1600" dirty="0">
                <a:solidFill>
                  <a:srgbClr val="1F2937"/>
                </a:solidFill>
                <a:latin typeface="Calibri" pitchFamily="34" charset="0"/>
                <a:ea typeface="Calibri" pitchFamily="34" charset="-122"/>
                <a:cs typeface="Calibri" pitchFamily="34" charset="-120"/>
              </a:rPr>
              <a:t>Real information on Thomson Reserve — the numbers, the honest read, what works and what gives me pause.</a:t>
            </a:r>
            <a:endParaRPr lang="en-US" sz="1600" dirty="0"/>
          </a:p>
        </p:txBody>
      </p:sp>
      <p:sp>
        <p:nvSpPr>
          <p:cNvPr id="7" name="Shape 5"/>
          <p:cNvSpPr/>
          <p:nvPr/>
        </p:nvSpPr>
        <p:spPr>
          <a:xfrm>
            <a:off x="640080" y="3200400"/>
            <a:ext cx="594360" cy="594360"/>
          </a:xfrm>
          <a:prstGeom prst="ellipse">
            <a:avLst/>
          </a:prstGeom>
          <a:solidFill>
            <a:srgbClr val="1B2A4A"/>
          </a:solidFill>
          <a:ln/>
          <a:effectLst>
            <a:outerShdw blurRad="101600" dist="38100" dir="5400000" algn="bl" rotWithShape="0">
              <a:srgbClr val="000000">
                <a:alpha val="18000"/>
              </a:srgbClr>
            </a:outerShdw>
          </a:effectLst>
        </p:spPr>
        <p:txBody>
          <a:bodyPr/>
          <a:lstStyle/>
          <a:p>
            <a:endParaRPr lang="en-SG"/>
          </a:p>
        </p:txBody>
      </p:sp>
      <p:sp>
        <p:nvSpPr>
          <p:cNvPr id="8" name="Text 6"/>
          <p:cNvSpPr txBox="1"/>
          <p:nvPr/>
        </p:nvSpPr>
        <p:spPr>
          <a:xfrm>
            <a:off x="640080" y="3200400"/>
            <a:ext cx="59436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1508760" y="3154680"/>
            <a:ext cx="9966960" cy="822960"/>
          </a:xfrm>
          <a:prstGeom prst="rect">
            <a:avLst/>
          </a:prstGeom>
          <a:noFill/>
          <a:ln/>
        </p:spPr>
        <p:txBody>
          <a:bodyPr wrap="square" lIns="0" tIns="0" rIns="0" bIns="0" rtlCol="0" anchor="ctr"/>
          <a:lstStyle/>
          <a:p>
            <a:pPr marL="0" indent="0">
              <a:buNone/>
            </a:pPr>
            <a:r>
              <a:rPr lang="en-US" sz="1600" dirty="0">
                <a:solidFill>
                  <a:srgbClr val="1F2937"/>
                </a:solidFill>
                <a:latin typeface="Calibri" pitchFamily="34" charset="0"/>
                <a:ea typeface="Calibri" pitchFamily="34" charset="-122"/>
                <a:cs typeface="Calibri" pitchFamily="34" charset="-120"/>
              </a:rPr>
              <a:t>The two questions almost nobody asks before they ballot — not just "is it good," but "is it right for you," and "will you actually get it."</a:t>
            </a:r>
            <a:endParaRPr lang="en-US" sz="1600" dirty="0"/>
          </a:p>
        </p:txBody>
      </p:sp>
      <p:sp>
        <p:nvSpPr>
          <p:cNvPr id="10" name="Shape 8"/>
          <p:cNvSpPr/>
          <p:nvPr/>
        </p:nvSpPr>
        <p:spPr>
          <a:xfrm>
            <a:off x="640080" y="4434840"/>
            <a:ext cx="594360" cy="594360"/>
          </a:xfrm>
          <a:prstGeom prst="ellipse">
            <a:avLst/>
          </a:prstGeom>
          <a:solidFill>
            <a:srgbClr val="1B2A4A"/>
          </a:solidFill>
          <a:ln/>
          <a:effectLst>
            <a:outerShdw blurRad="101600" dist="38100" dir="5400000" algn="bl" rotWithShape="0">
              <a:srgbClr val="000000">
                <a:alpha val="18000"/>
              </a:srgbClr>
            </a:outerShdw>
          </a:effectLst>
        </p:spPr>
        <p:txBody>
          <a:bodyPr/>
          <a:lstStyle/>
          <a:p>
            <a:endParaRPr lang="en-SG"/>
          </a:p>
        </p:txBody>
      </p:sp>
      <p:sp>
        <p:nvSpPr>
          <p:cNvPr id="11" name="Text 9"/>
          <p:cNvSpPr txBox="1"/>
          <p:nvPr/>
        </p:nvSpPr>
        <p:spPr>
          <a:xfrm>
            <a:off x="640080" y="4434840"/>
            <a:ext cx="59436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2" name="Text 10"/>
          <p:cNvSpPr txBox="1"/>
          <p:nvPr/>
        </p:nvSpPr>
        <p:spPr>
          <a:xfrm>
            <a:off x="1508760" y="4389120"/>
            <a:ext cx="9966960" cy="822960"/>
          </a:xfrm>
          <a:prstGeom prst="rect">
            <a:avLst/>
          </a:prstGeom>
          <a:noFill/>
          <a:ln/>
        </p:spPr>
        <p:txBody>
          <a:bodyPr wrap="square" lIns="0" tIns="0" rIns="0" bIns="0" rtlCol="0" anchor="ctr"/>
          <a:lstStyle/>
          <a:p>
            <a:pPr marL="0" indent="0">
              <a:buNone/>
            </a:pPr>
            <a:r>
              <a:rPr lang="en-US" sz="1600" dirty="0">
                <a:solidFill>
                  <a:srgbClr val="1F2937"/>
                </a:solidFill>
                <a:latin typeface="Calibri" pitchFamily="34" charset="0"/>
                <a:ea typeface="Calibri" pitchFamily="34" charset="-122"/>
                <a:cs typeface="Calibri" pitchFamily="34" charset="-120"/>
              </a:rPr>
              <a:t>A real process for before, during and after the ballot — whichever launch you end up looking at.</a:t>
            </a:r>
            <a:endParaRPr lang="en-US" sz="1600" dirty="0"/>
          </a:p>
        </p:txBody>
      </p:sp>
      <p:sp>
        <p:nvSpPr>
          <p:cNvPr id="13" name="Text 11"/>
          <p:cNvSpPr txBox="1"/>
          <p:nvPr/>
        </p:nvSpPr>
        <p:spPr>
          <a:xfrm>
            <a:off x="640080" y="5806440"/>
            <a:ext cx="10881360" cy="548640"/>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You won't leave with a final decision made for you tonight — nobody does that in an hour.</a:t>
            </a:r>
            <a:endParaRPr lang="en-US" sz="1400" dirty="0"/>
          </a:p>
        </p:txBody>
      </p:sp>
      <p:sp>
        <p:nvSpPr>
          <p:cNvPr id="14" name="Text 12"/>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5400" dirty="0">
                <a:solidFill>
                  <a:srgbClr val="1B2A4A"/>
                </a:solidFill>
                <a:latin typeface="Impact" panose="020B0806030902050204" pitchFamily="34" charset="0"/>
                <a:ea typeface="Cambria" pitchFamily="34" charset="-122"/>
                <a:cs typeface="Cambria" pitchFamily="34" charset="-120"/>
              </a:rPr>
              <a:t>MY BACKGROUND</a:t>
            </a:r>
            <a:endParaRPr lang="en-US" sz="5400" dirty="0">
              <a:latin typeface="Impact" panose="020B0806030902050204" pitchFamily="34" charset="0"/>
            </a:endParaRPr>
          </a:p>
        </p:txBody>
      </p:sp>
      <p:sp>
        <p:nvSpPr>
          <p:cNvPr id="4" name="Shape 2"/>
          <p:cNvSpPr/>
          <p:nvPr/>
        </p:nvSpPr>
        <p:spPr>
          <a:xfrm>
            <a:off x="640080" y="1920240"/>
            <a:ext cx="3200400" cy="1965960"/>
          </a:xfrm>
          <a:prstGeom prst="roundRect">
            <a:avLst>
              <a:gd name="adj" fmla="val 3721"/>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5" name="Text 3"/>
          <p:cNvSpPr txBox="1"/>
          <p:nvPr/>
        </p:nvSpPr>
        <p:spPr>
          <a:xfrm>
            <a:off x="822960" y="2103120"/>
            <a:ext cx="2834640" cy="54864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$600K → $6.6–9M</a:t>
            </a:r>
            <a:endParaRPr lang="en-US" sz="2000" dirty="0"/>
          </a:p>
        </p:txBody>
      </p:sp>
      <p:sp>
        <p:nvSpPr>
          <p:cNvPr id="6" name="Text 4"/>
          <p:cNvSpPr txBox="1"/>
          <p:nvPr/>
        </p:nvSpPr>
        <p:spPr>
          <a:xfrm>
            <a:off x="822960" y="2697480"/>
            <a:ext cx="2834640" cy="1097280"/>
          </a:xfrm>
          <a:prstGeom prst="rect">
            <a:avLst/>
          </a:prstGeom>
          <a:noFill/>
          <a:ln/>
        </p:spPr>
        <p:txBody>
          <a:bodyPr wrap="square" lIns="0" tIns="0" rIns="0" bIns="0" rtlCol="0" anchor="ctr"/>
          <a:lstStyle/>
          <a:p>
            <a:pPr marL="0" indent="0">
              <a:buNone/>
            </a:pPr>
            <a:r>
              <a:rPr lang="en-US" sz="1250" dirty="0">
                <a:solidFill>
                  <a:srgbClr val="1F2937"/>
                </a:solidFill>
                <a:latin typeface="Calibri" pitchFamily="34" charset="0"/>
                <a:ea typeface="Calibri" pitchFamily="34" charset="-122"/>
                <a:cs typeface="Calibri" pitchFamily="34" charset="-120"/>
              </a:rPr>
              <a:t>Started under $600K as an HDB. Portfolio today realistically sits at $6.6M to $9M in net asset value.</a:t>
            </a:r>
            <a:endParaRPr lang="en-US" sz="1250" dirty="0"/>
          </a:p>
        </p:txBody>
      </p:sp>
      <p:sp>
        <p:nvSpPr>
          <p:cNvPr id="7" name="Shape 5"/>
          <p:cNvSpPr/>
          <p:nvPr/>
        </p:nvSpPr>
        <p:spPr>
          <a:xfrm>
            <a:off x="4160520" y="1920240"/>
            <a:ext cx="3566160" cy="1965960"/>
          </a:xfrm>
          <a:prstGeom prst="roundRect">
            <a:avLst>
              <a:gd name="adj" fmla="val 3721"/>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8" name="Text 6"/>
          <p:cNvSpPr txBox="1"/>
          <p:nvPr/>
        </p:nvSpPr>
        <p:spPr>
          <a:xfrm>
            <a:off x="4343400" y="2103120"/>
            <a:ext cx="3200400"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The Tre Ver</a:t>
            </a:r>
            <a:endParaRPr lang="en-US" sz="1600" dirty="0"/>
          </a:p>
        </p:txBody>
      </p:sp>
      <p:sp>
        <p:nvSpPr>
          <p:cNvPr id="9" name="Text 7"/>
          <p:cNvSpPr txBox="1"/>
          <p:nvPr/>
        </p:nvSpPr>
        <p:spPr>
          <a:xfrm>
            <a:off x="4343400" y="2487168"/>
            <a:ext cx="3200400" cy="36576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Bought $1.05M  →  Exited $1.28M</a:t>
            </a:r>
            <a:endParaRPr lang="en-US" sz="1300" dirty="0"/>
          </a:p>
        </p:txBody>
      </p:sp>
      <p:sp>
        <p:nvSpPr>
          <p:cNvPr id="10" name="Shape 8"/>
          <p:cNvSpPr/>
          <p:nvPr/>
        </p:nvSpPr>
        <p:spPr>
          <a:xfrm>
            <a:off x="4343400" y="2926080"/>
            <a:ext cx="3200400" cy="0"/>
          </a:xfrm>
          <a:prstGeom prst="line">
            <a:avLst/>
          </a:prstGeom>
          <a:noFill/>
          <a:ln w="12700">
            <a:solidFill>
              <a:srgbClr val="D9DCE3"/>
            </a:solidFill>
            <a:prstDash val="solid"/>
          </a:ln>
        </p:spPr>
        <p:txBody>
          <a:bodyPr/>
          <a:lstStyle/>
          <a:p>
            <a:endParaRPr lang="en-SG"/>
          </a:p>
        </p:txBody>
      </p:sp>
      <p:sp>
        <p:nvSpPr>
          <p:cNvPr id="11" name="Text 9"/>
          <p:cNvSpPr txBox="1"/>
          <p:nvPr/>
        </p:nvSpPr>
        <p:spPr>
          <a:xfrm>
            <a:off x="4343400" y="3063240"/>
            <a:ext cx="3200400"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Parc Clematis</a:t>
            </a:r>
            <a:endParaRPr lang="en-US" sz="1600" dirty="0"/>
          </a:p>
        </p:txBody>
      </p:sp>
      <p:sp>
        <p:nvSpPr>
          <p:cNvPr id="12" name="Text 10"/>
          <p:cNvSpPr txBox="1"/>
          <p:nvPr/>
        </p:nvSpPr>
        <p:spPr>
          <a:xfrm>
            <a:off x="4343400" y="3447288"/>
            <a:ext cx="3200400" cy="36576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Bought $1.15M  →  Exited $1.525M</a:t>
            </a:r>
            <a:endParaRPr lang="en-US" sz="1300" dirty="0"/>
          </a:p>
        </p:txBody>
      </p:sp>
      <p:sp>
        <p:nvSpPr>
          <p:cNvPr id="13" name="Shape 11"/>
          <p:cNvSpPr/>
          <p:nvPr/>
        </p:nvSpPr>
        <p:spPr>
          <a:xfrm>
            <a:off x="8092440" y="1920240"/>
            <a:ext cx="3456432" cy="1965960"/>
          </a:xfrm>
          <a:prstGeom prst="roundRect">
            <a:avLst>
              <a:gd name="adj" fmla="val 3721"/>
            </a:avLst>
          </a:prstGeom>
          <a:solidFill>
            <a:srgbClr val="1B2A4A"/>
          </a:solidFill>
          <a:ln/>
          <a:effectLst>
            <a:outerShdw blurRad="101600" dist="38100" dir="5400000" algn="bl" rotWithShape="0">
              <a:srgbClr val="000000">
                <a:alpha val="18000"/>
              </a:srgbClr>
            </a:outerShdw>
          </a:effectLst>
        </p:spPr>
        <p:txBody>
          <a:bodyPr/>
          <a:lstStyle/>
          <a:p>
            <a:endParaRPr lang="en-SG"/>
          </a:p>
        </p:txBody>
      </p:sp>
      <p:sp>
        <p:nvSpPr>
          <p:cNvPr id="14" name="Text 12"/>
          <p:cNvSpPr txBox="1"/>
          <p:nvPr/>
        </p:nvSpPr>
        <p:spPr>
          <a:xfrm>
            <a:off x="8275320" y="2103120"/>
            <a:ext cx="3108960" cy="1645920"/>
          </a:xfrm>
          <a:prstGeom prst="rect">
            <a:avLst/>
          </a:prstGeom>
          <a:noFill/>
          <a:ln/>
        </p:spPr>
        <p:txBody>
          <a:bodyPr wrap="square" lIns="0" tIns="0" rIns="0" bIns="0" rtlCol="0" anchor="ctr"/>
          <a:lstStyle/>
          <a:p>
            <a:pPr marL="0" indent="0">
              <a:lnSpc>
                <a:spcPct val="125000"/>
              </a:lnSpc>
              <a:buNone/>
            </a:pPr>
            <a:r>
              <a:rPr lang="en-US" sz="1800" b="1" dirty="0">
                <a:solidFill>
                  <a:srgbClr val="FFFFFF"/>
                </a:solidFill>
                <a:latin typeface="Cambria" pitchFamily="34" charset="0"/>
                <a:ea typeface="Cambria" pitchFamily="34" charset="-122"/>
                <a:cs typeface="Cambria" pitchFamily="34" charset="-120"/>
              </a:rPr>
              <a:t>Real deals.</a:t>
            </a:r>
            <a:endParaRPr lang="en-US" sz="1800" dirty="0"/>
          </a:p>
          <a:p>
            <a:pPr marL="0" indent="0">
              <a:lnSpc>
                <a:spcPct val="125000"/>
              </a:lnSpc>
              <a:buNone/>
            </a:pPr>
            <a:r>
              <a:rPr lang="en-US" sz="1800" b="1" dirty="0">
                <a:solidFill>
                  <a:srgbClr val="FFFFFF"/>
                </a:solidFill>
                <a:latin typeface="Cambria" pitchFamily="34" charset="0"/>
                <a:ea typeface="Cambria" pitchFamily="34" charset="-122"/>
                <a:cs typeface="Cambria" pitchFamily="34" charset="-120"/>
              </a:rPr>
              <a:t>Real capital.</a:t>
            </a:r>
            <a:endParaRPr lang="en-US" sz="1800" dirty="0"/>
          </a:p>
          <a:p>
            <a:pPr marL="0" indent="0">
              <a:lnSpc>
                <a:spcPct val="125000"/>
              </a:lnSpc>
              <a:buNone/>
            </a:pPr>
            <a:r>
              <a:rPr lang="en-US" sz="1800" b="1" dirty="0">
                <a:solidFill>
                  <a:srgbClr val="FFFFFF"/>
                </a:solidFill>
                <a:latin typeface="Cambria" pitchFamily="34" charset="0"/>
                <a:ea typeface="Cambria" pitchFamily="34" charset="-122"/>
                <a:cs typeface="Cambria" pitchFamily="34" charset="-120"/>
              </a:rPr>
              <a:t>Same bar tonight.</a:t>
            </a:r>
            <a:endParaRPr lang="en-US" sz="1800" dirty="0"/>
          </a:p>
        </p:txBody>
      </p:sp>
      <p:sp>
        <p:nvSpPr>
          <p:cNvPr id="15" name="Text 13"/>
          <p:cNvSpPr txBox="1"/>
          <p:nvPr/>
        </p:nvSpPr>
        <p:spPr>
          <a:xfrm>
            <a:off x="640080" y="4343400"/>
            <a:ext cx="10881360" cy="54864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Every launch tonight — including my own money — gets held to the same benchmark you're about to see.</a:t>
            </a:r>
            <a:endParaRPr lang="en-US" sz="1500" dirty="0"/>
          </a:p>
        </p:txBody>
      </p:sp>
      <p:sp>
        <p:nvSpPr>
          <p:cNvPr id="16" name="Text 14"/>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3600" dirty="0">
                <a:solidFill>
                  <a:srgbClr val="1B2A4A"/>
                </a:solidFill>
                <a:latin typeface="Impact" panose="020B0806030902050204" pitchFamily="34" charset="0"/>
                <a:ea typeface="Cambria" pitchFamily="34" charset="-122"/>
                <a:cs typeface="Cambria" pitchFamily="34" charset="-120"/>
              </a:rPr>
              <a:t>THE BENCHMARK I HOLD EVERY LAUNCH TO (5 YEARS BOOM)</a:t>
            </a:r>
            <a:endParaRPr lang="en-US" sz="3600" dirty="0">
              <a:latin typeface="Impact" panose="020B0806030902050204" pitchFamily="34" charset="0"/>
            </a:endParaRPr>
          </a:p>
        </p:txBody>
      </p:sp>
      <p:graphicFrame>
        <p:nvGraphicFramePr>
          <p:cNvPr id="4" name="Chart 0"/>
          <p:cNvGraphicFramePr/>
          <p:nvPr>
            <p:extLst>
              <p:ext uri="{D42A27DB-BD31-4B8C-83A1-F6EECF244321}">
                <p14:modId xmlns:p14="http://schemas.microsoft.com/office/powerpoint/2010/main" val="1320547197"/>
              </p:ext>
            </p:extLst>
          </p:nvPr>
        </p:nvGraphicFramePr>
        <p:xfrm>
          <a:off x="640080" y="1783080"/>
          <a:ext cx="60350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949440" y="1783080"/>
            <a:ext cx="4572000" cy="3291840"/>
          </a:xfrm>
          <a:prstGeom prst="roundRect">
            <a:avLst>
              <a:gd name="adj" fmla="val 2222"/>
            </a:avLst>
          </a:prstGeom>
          <a:solidFill>
            <a:srgbClr val="1B2A4A"/>
          </a:solidFill>
          <a:ln/>
          <a:effectLst>
            <a:outerShdw blurRad="101600" dist="38100" dir="5400000" algn="bl" rotWithShape="0">
              <a:srgbClr val="000000">
                <a:alpha val="18000"/>
              </a:srgbClr>
            </a:outerShdw>
          </a:effectLst>
        </p:spPr>
        <p:txBody>
          <a:bodyPr/>
          <a:lstStyle/>
          <a:p>
            <a:endParaRPr lang="en-SG"/>
          </a:p>
        </p:txBody>
      </p:sp>
      <p:sp>
        <p:nvSpPr>
          <p:cNvPr id="6" name="Text 3"/>
          <p:cNvSpPr txBox="1"/>
          <p:nvPr/>
        </p:nvSpPr>
        <p:spPr>
          <a:xfrm>
            <a:off x="7178040" y="1965960"/>
            <a:ext cx="4114800" cy="365760"/>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LEVERAGE</a:t>
            </a:r>
            <a:endParaRPr lang="en-US" sz="1300" dirty="0"/>
          </a:p>
        </p:txBody>
      </p:sp>
      <p:sp>
        <p:nvSpPr>
          <p:cNvPr id="7" name="Text 4"/>
          <p:cNvSpPr txBox="1"/>
          <p:nvPr/>
        </p:nvSpPr>
        <p:spPr>
          <a:xfrm>
            <a:off x="7178040" y="2377440"/>
            <a:ext cx="4114800" cy="8229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 mortgage means you put up a fraction — the growth applies to the whole asset.</a:t>
            </a:r>
            <a:endParaRPr lang="en-US" sz="1400" dirty="0"/>
          </a:p>
        </p:txBody>
      </p:sp>
      <p:sp>
        <p:nvSpPr>
          <p:cNvPr id="8" name="Text 5"/>
          <p:cNvSpPr txBox="1"/>
          <p:nvPr/>
        </p:nvSpPr>
        <p:spPr>
          <a:xfrm>
            <a:off x="7178040" y="3246120"/>
            <a:ext cx="2011680" cy="502920"/>
          </a:xfrm>
          <a:prstGeom prst="rect">
            <a:avLst/>
          </a:prstGeom>
          <a:noFill/>
          <a:ln/>
        </p:spPr>
        <p:txBody>
          <a:bodyPr wrap="square" lIns="0" tIns="0" rIns="0" bIns="0" rtlCol="0" anchor="ctr"/>
          <a:lstStyle/>
          <a:p>
            <a:pPr marL="0" indent="0">
              <a:buNone/>
            </a:pPr>
            <a:r>
              <a:rPr lang="en-US" sz="2600" b="1" dirty="0">
                <a:solidFill>
                  <a:srgbClr val="C9A227"/>
                </a:solidFill>
                <a:latin typeface="Cambria" pitchFamily="34" charset="0"/>
                <a:ea typeface="Cambria" pitchFamily="34" charset="-122"/>
                <a:cs typeface="Cambria" pitchFamily="34" charset="-120"/>
              </a:rPr>
              <a:t>22.9%/yr</a:t>
            </a:r>
            <a:endParaRPr lang="en-US" sz="2600" dirty="0"/>
          </a:p>
        </p:txBody>
      </p:sp>
      <p:sp>
        <p:nvSpPr>
          <p:cNvPr id="9" name="Text 6"/>
          <p:cNvSpPr txBox="1"/>
          <p:nvPr/>
        </p:nvSpPr>
        <p:spPr>
          <a:xfrm>
            <a:off x="7178040" y="3749040"/>
            <a:ext cx="2011680" cy="548640"/>
          </a:xfrm>
          <a:prstGeom prst="rect">
            <a:avLst/>
          </a:prstGeom>
          <a:noFill/>
          <a:ln/>
        </p:spPr>
        <p:txBody>
          <a:bodyPr wrap="square" lIns="0" tIns="0" rIns="0" bIns="0" rtlCol="0" anchor="ctr"/>
          <a:lstStyle/>
          <a:p>
            <a:pPr marL="0" indent="0">
              <a:buNone/>
            </a:pPr>
            <a:r>
              <a:rPr lang="en-US" sz="1050" dirty="0">
                <a:solidFill>
                  <a:srgbClr val="CBD2E0"/>
                </a:solidFill>
                <a:latin typeface="Calibri" pitchFamily="34" charset="0"/>
                <a:ea typeface="Calibri" pitchFamily="34" charset="-122"/>
                <a:cs typeface="Calibri" pitchFamily="34" charset="-120"/>
              </a:rPr>
              <a:t>Parc Clematis, on capital committed</a:t>
            </a:r>
            <a:endParaRPr lang="en-US" sz="1050" dirty="0"/>
          </a:p>
        </p:txBody>
      </p:sp>
      <p:sp>
        <p:nvSpPr>
          <p:cNvPr id="10" name="Text 7"/>
          <p:cNvSpPr txBox="1"/>
          <p:nvPr/>
        </p:nvSpPr>
        <p:spPr>
          <a:xfrm>
            <a:off x="9326880" y="3246120"/>
            <a:ext cx="1920240" cy="502920"/>
          </a:xfrm>
          <a:prstGeom prst="rect">
            <a:avLst/>
          </a:prstGeom>
          <a:noFill/>
          <a:ln/>
        </p:spPr>
        <p:txBody>
          <a:bodyPr wrap="square" lIns="0" tIns="0" rIns="0" bIns="0" rtlCol="0" anchor="ctr"/>
          <a:lstStyle/>
          <a:p>
            <a:pPr marL="0" indent="0">
              <a:buNone/>
            </a:pPr>
            <a:r>
              <a:rPr lang="en-US" sz="2600" b="1" dirty="0">
                <a:solidFill>
                  <a:srgbClr val="C9A227"/>
                </a:solidFill>
                <a:latin typeface="Cambria" pitchFamily="34" charset="0"/>
                <a:ea typeface="Cambria" pitchFamily="34" charset="-122"/>
                <a:cs typeface="Cambria" pitchFamily="34" charset="-120"/>
              </a:rPr>
              <a:t>12.9%/yr</a:t>
            </a:r>
            <a:endParaRPr lang="en-US" sz="2600" dirty="0"/>
          </a:p>
        </p:txBody>
      </p:sp>
      <p:sp>
        <p:nvSpPr>
          <p:cNvPr id="11" name="Text 8"/>
          <p:cNvSpPr txBox="1"/>
          <p:nvPr/>
        </p:nvSpPr>
        <p:spPr>
          <a:xfrm>
            <a:off x="9326880" y="3749040"/>
            <a:ext cx="1920240" cy="548640"/>
          </a:xfrm>
          <a:prstGeom prst="rect">
            <a:avLst/>
          </a:prstGeom>
          <a:noFill/>
          <a:ln/>
        </p:spPr>
        <p:txBody>
          <a:bodyPr wrap="square" lIns="0" tIns="0" rIns="0" bIns="0" rtlCol="0" anchor="ctr"/>
          <a:lstStyle/>
          <a:p>
            <a:pPr marL="0" indent="0">
              <a:buNone/>
            </a:pPr>
            <a:r>
              <a:rPr lang="en-US" sz="1050" dirty="0">
                <a:solidFill>
                  <a:srgbClr val="CBD2E0"/>
                </a:solidFill>
                <a:latin typeface="Calibri" pitchFamily="34" charset="0"/>
                <a:ea typeface="Calibri" pitchFamily="34" charset="-122"/>
                <a:cs typeface="Calibri" pitchFamily="34" charset="-120"/>
              </a:rPr>
              <a:t>The Tre Ver, on capital committed</a:t>
            </a:r>
            <a:endParaRPr lang="en-US" sz="1050" dirty="0"/>
          </a:p>
        </p:txBody>
      </p:sp>
      <p:sp>
        <p:nvSpPr>
          <p:cNvPr id="12" name="Text 9"/>
          <p:cNvSpPr txBox="1"/>
          <p:nvPr/>
        </p:nvSpPr>
        <p:spPr>
          <a:xfrm>
            <a:off x="640080" y="5349240"/>
            <a:ext cx="10881360" cy="54864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Not "will Thomson Reserve go up." Will it clear this bar, on the capital you'd actually commit.</a:t>
            </a:r>
            <a:endParaRPr lang="en-US" sz="1500" dirty="0"/>
          </a:p>
        </p:txBody>
      </p:sp>
      <p:sp>
        <p:nvSpPr>
          <p:cNvPr id="13" name="Text 10"/>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45E51F6-1919-06CB-3FEE-B6264F0E1FAE}"/>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3B266D3-1541-2DCD-701F-4CD8D288469B}"/>
              </a:ext>
            </a:extLst>
          </p:cNvPr>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3200" dirty="0">
                <a:solidFill>
                  <a:srgbClr val="1B2A4A"/>
                </a:solidFill>
                <a:latin typeface="Impact" panose="020B0806030902050204" pitchFamily="34" charset="0"/>
                <a:ea typeface="Cambria" pitchFamily="34" charset="-122"/>
                <a:cs typeface="Cambria" pitchFamily="34" charset="-120"/>
              </a:rPr>
              <a:t>THE BENCHMARK I HOLD EVERY LAUNCH TO (10 YEARS AVERAGE)</a:t>
            </a:r>
            <a:endParaRPr lang="en-US" sz="3200" dirty="0">
              <a:latin typeface="Impact" panose="020B0806030902050204" pitchFamily="34" charset="0"/>
            </a:endParaRPr>
          </a:p>
        </p:txBody>
      </p:sp>
      <p:graphicFrame>
        <p:nvGraphicFramePr>
          <p:cNvPr id="4" name="Chart 0">
            <a:extLst>
              <a:ext uri="{FF2B5EF4-FFF2-40B4-BE49-F238E27FC236}">
                <a16:creationId xmlns:a16="http://schemas.microsoft.com/office/drawing/2014/main" id="{AFBF5BC2-B43D-9096-8215-148ADA3B1787}"/>
              </a:ext>
            </a:extLst>
          </p:cNvPr>
          <p:cNvGraphicFramePr/>
          <p:nvPr>
            <p:extLst>
              <p:ext uri="{D42A27DB-BD31-4B8C-83A1-F6EECF244321}">
                <p14:modId xmlns:p14="http://schemas.microsoft.com/office/powerpoint/2010/main" val="1175259427"/>
              </p:ext>
            </p:extLst>
          </p:nvPr>
        </p:nvGraphicFramePr>
        <p:xfrm>
          <a:off x="640080" y="1783080"/>
          <a:ext cx="60350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a:extLst>
              <a:ext uri="{FF2B5EF4-FFF2-40B4-BE49-F238E27FC236}">
                <a16:creationId xmlns:a16="http://schemas.microsoft.com/office/drawing/2014/main" id="{08305B29-CB31-AB2B-0838-7B130A1147FC}"/>
              </a:ext>
            </a:extLst>
          </p:cNvPr>
          <p:cNvSpPr/>
          <p:nvPr/>
        </p:nvSpPr>
        <p:spPr>
          <a:xfrm>
            <a:off x="6949440" y="1783080"/>
            <a:ext cx="4572000" cy="3291840"/>
          </a:xfrm>
          <a:prstGeom prst="roundRect">
            <a:avLst>
              <a:gd name="adj" fmla="val 2222"/>
            </a:avLst>
          </a:prstGeom>
          <a:solidFill>
            <a:srgbClr val="1B2A4A"/>
          </a:solidFill>
          <a:ln/>
          <a:effectLst>
            <a:outerShdw blurRad="101600" dist="38100" dir="5400000" algn="bl" rotWithShape="0">
              <a:srgbClr val="000000">
                <a:alpha val="18000"/>
              </a:srgbClr>
            </a:outerShdw>
          </a:effectLst>
        </p:spPr>
        <p:txBody>
          <a:bodyPr/>
          <a:lstStyle/>
          <a:p>
            <a:endParaRPr lang="en-SG"/>
          </a:p>
        </p:txBody>
      </p:sp>
      <p:sp>
        <p:nvSpPr>
          <p:cNvPr id="6" name="Text 3">
            <a:extLst>
              <a:ext uri="{FF2B5EF4-FFF2-40B4-BE49-F238E27FC236}">
                <a16:creationId xmlns:a16="http://schemas.microsoft.com/office/drawing/2014/main" id="{C4992D1B-E95E-84A7-94D7-EE520D15D8AB}"/>
              </a:ext>
            </a:extLst>
          </p:cNvPr>
          <p:cNvSpPr txBox="1"/>
          <p:nvPr/>
        </p:nvSpPr>
        <p:spPr>
          <a:xfrm>
            <a:off x="7178040" y="1965960"/>
            <a:ext cx="4114800" cy="365760"/>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LEVERAGE</a:t>
            </a:r>
            <a:endParaRPr lang="en-US" sz="1300" dirty="0"/>
          </a:p>
        </p:txBody>
      </p:sp>
      <p:sp>
        <p:nvSpPr>
          <p:cNvPr id="7" name="Text 4">
            <a:extLst>
              <a:ext uri="{FF2B5EF4-FFF2-40B4-BE49-F238E27FC236}">
                <a16:creationId xmlns:a16="http://schemas.microsoft.com/office/drawing/2014/main" id="{D08BD980-5FB6-E1DF-742A-540BED303EEC}"/>
              </a:ext>
            </a:extLst>
          </p:cNvPr>
          <p:cNvSpPr txBox="1"/>
          <p:nvPr/>
        </p:nvSpPr>
        <p:spPr>
          <a:xfrm>
            <a:off x="7178040" y="2377440"/>
            <a:ext cx="4114800" cy="8229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 mortgage means you put up a fraction — the growth applies to the whole asset.</a:t>
            </a:r>
            <a:endParaRPr lang="en-US" sz="1400" dirty="0"/>
          </a:p>
        </p:txBody>
      </p:sp>
      <p:sp>
        <p:nvSpPr>
          <p:cNvPr id="8" name="Text 5">
            <a:extLst>
              <a:ext uri="{FF2B5EF4-FFF2-40B4-BE49-F238E27FC236}">
                <a16:creationId xmlns:a16="http://schemas.microsoft.com/office/drawing/2014/main" id="{C6360422-1AA9-16E4-8DBE-5D92AA69616E}"/>
              </a:ext>
            </a:extLst>
          </p:cNvPr>
          <p:cNvSpPr txBox="1"/>
          <p:nvPr/>
        </p:nvSpPr>
        <p:spPr>
          <a:xfrm>
            <a:off x="7178040" y="3246120"/>
            <a:ext cx="2011680" cy="502920"/>
          </a:xfrm>
          <a:prstGeom prst="rect">
            <a:avLst/>
          </a:prstGeom>
          <a:noFill/>
          <a:ln/>
        </p:spPr>
        <p:txBody>
          <a:bodyPr wrap="square" lIns="0" tIns="0" rIns="0" bIns="0" rtlCol="0" anchor="ctr"/>
          <a:lstStyle/>
          <a:p>
            <a:pPr marL="0" indent="0">
              <a:buNone/>
            </a:pPr>
            <a:r>
              <a:rPr lang="en-US" sz="2600" b="1" dirty="0">
                <a:solidFill>
                  <a:srgbClr val="C9A227"/>
                </a:solidFill>
                <a:latin typeface="Cambria" pitchFamily="34" charset="0"/>
                <a:ea typeface="Cambria" pitchFamily="34" charset="-122"/>
                <a:cs typeface="Cambria" pitchFamily="34" charset="-120"/>
              </a:rPr>
              <a:t>22.9%/yr</a:t>
            </a:r>
            <a:endParaRPr lang="en-US" sz="2600" dirty="0"/>
          </a:p>
        </p:txBody>
      </p:sp>
      <p:sp>
        <p:nvSpPr>
          <p:cNvPr id="9" name="Text 6">
            <a:extLst>
              <a:ext uri="{FF2B5EF4-FFF2-40B4-BE49-F238E27FC236}">
                <a16:creationId xmlns:a16="http://schemas.microsoft.com/office/drawing/2014/main" id="{C256D5F8-36D8-6C1B-4C73-54B0D933B1D1}"/>
              </a:ext>
            </a:extLst>
          </p:cNvPr>
          <p:cNvSpPr txBox="1"/>
          <p:nvPr/>
        </p:nvSpPr>
        <p:spPr>
          <a:xfrm>
            <a:off x="7178040" y="3749040"/>
            <a:ext cx="2011680" cy="548640"/>
          </a:xfrm>
          <a:prstGeom prst="rect">
            <a:avLst/>
          </a:prstGeom>
          <a:noFill/>
          <a:ln/>
        </p:spPr>
        <p:txBody>
          <a:bodyPr wrap="square" lIns="0" tIns="0" rIns="0" bIns="0" rtlCol="0" anchor="ctr"/>
          <a:lstStyle/>
          <a:p>
            <a:pPr marL="0" indent="0">
              <a:buNone/>
            </a:pPr>
            <a:r>
              <a:rPr lang="en-US" sz="1050" dirty="0">
                <a:solidFill>
                  <a:srgbClr val="CBD2E0"/>
                </a:solidFill>
                <a:latin typeface="Calibri" pitchFamily="34" charset="0"/>
                <a:ea typeface="Calibri" pitchFamily="34" charset="-122"/>
                <a:cs typeface="Calibri" pitchFamily="34" charset="-120"/>
              </a:rPr>
              <a:t>Parc Clematis, on capital committed</a:t>
            </a:r>
            <a:endParaRPr lang="en-US" sz="1050" dirty="0"/>
          </a:p>
        </p:txBody>
      </p:sp>
      <p:sp>
        <p:nvSpPr>
          <p:cNvPr id="10" name="Text 7">
            <a:extLst>
              <a:ext uri="{FF2B5EF4-FFF2-40B4-BE49-F238E27FC236}">
                <a16:creationId xmlns:a16="http://schemas.microsoft.com/office/drawing/2014/main" id="{CF1F076B-4B2F-1781-CFE2-FC17A46E7EDE}"/>
              </a:ext>
            </a:extLst>
          </p:cNvPr>
          <p:cNvSpPr txBox="1"/>
          <p:nvPr/>
        </p:nvSpPr>
        <p:spPr>
          <a:xfrm>
            <a:off x="9326880" y="3246120"/>
            <a:ext cx="1920240" cy="502920"/>
          </a:xfrm>
          <a:prstGeom prst="rect">
            <a:avLst/>
          </a:prstGeom>
          <a:noFill/>
          <a:ln/>
        </p:spPr>
        <p:txBody>
          <a:bodyPr wrap="square" lIns="0" tIns="0" rIns="0" bIns="0" rtlCol="0" anchor="ctr"/>
          <a:lstStyle/>
          <a:p>
            <a:pPr marL="0" indent="0">
              <a:buNone/>
            </a:pPr>
            <a:r>
              <a:rPr lang="en-US" sz="2600" b="1" dirty="0">
                <a:solidFill>
                  <a:srgbClr val="C9A227"/>
                </a:solidFill>
                <a:latin typeface="Cambria" pitchFamily="34" charset="0"/>
                <a:ea typeface="Cambria" pitchFamily="34" charset="-122"/>
                <a:cs typeface="Cambria" pitchFamily="34" charset="-120"/>
              </a:rPr>
              <a:t>12.9%/yr</a:t>
            </a:r>
            <a:endParaRPr lang="en-US" sz="2600" dirty="0"/>
          </a:p>
        </p:txBody>
      </p:sp>
      <p:sp>
        <p:nvSpPr>
          <p:cNvPr id="11" name="Text 8">
            <a:extLst>
              <a:ext uri="{FF2B5EF4-FFF2-40B4-BE49-F238E27FC236}">
                <a16:creationId xmlns:a16="http://schemas.microsoft.com/office/drawing/2014/main" id="{244F4554-BEB4-03E4-AA7E-1720D0B542F8}"/>
              </a:ext>
            </a:extLst>
          </p:cNvPr>
          <p:cNvSpPr txBox="1"/>
          <p:nvPr/>
        </p:nvSpPr>
        <p:spPr>
          <a:xfrm>
            <a:off x="9326880" y="3749040"/>
            <a:ext cx="1920240" cy="548640"/>
          </a:xfrm>
          <a:prstGeom prst="rect">
            <a:avLst/>
          </a:prstGeom>
          <a:noFill/>
          <a:ln/>
        </p:spPr>
        <p:txBody>
          <a:bodyPr wrap="square" lIns="0" tIns="0" rIns="0" bIns="0" rtlCol="0" anchor="ctr"/>
          <a:lstStyle/>
          <a:p>
            <a:pPr marL="0" indent="0">
              <a:buNone/>
            </a:pPr>
            <a:r>
              <a:rPr lang="en-US" sz="1050" dirty="0">
                <a:solidFill>
                  <a:srgbClr val="CBD2E0"/>
                </a:solidFill>
                <a:latin typeface="Calibri" pitchFamily="34" charset="0"/>
                <a:ea typeface="Calibri" pitchFamily="34" charset="-122"/>
                <a:cs typeface="Calibri" pitchFamily="34" charset="-120"/>
              </a:rPr>
              <a:t>The Tre Ver, on capital committed</a:t>
            </a:r>
            <a:endParaRPr lang="en-US" sz="1050" dirty="0"/>
          </a:p>
        </p:txBody>
      </p:sp>
      <p:sp>
        <p:nvSpPr>
          <p:cNvPr id="12" name="Text 9">
            <a:extLst>
              <a:ext uri="{FF2B5EF4-FFF2-40B4-BE49-F238E27FC236}">
                <a16:creationId xmlns:a16="http://schemas.microsoft.com/office/drawing/2014/main" id="{A101F9BB-276F-95CC-CFCB-F0491E276E21}"/>
              </a:ext>
            </a:extLst>
          </p:cNvPr>
          <p:cNvSpPr txBox="1"/>
          <p:nvPr/>
        </p:nvSpPr>
        <p:spPr>
          <a:xfrm>
            <a:off x="640080" y="5349240"/>
            <a:ext cx="10881360" cy="54864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Not "will Thomson Reserve go up." Will it clear this bar, on the capital you'd actually commit.</a:t>
            </a:r>
            <a:endParaRPr lang="en-US" sz="1500" dirty="0"/>
          </a:p>
        </p:txBody>
      </p:sp>
      <p:sp>
        <p:nvSpPr>
          <p:cNvPr id="13" name="Text 10">
            <a:extLst>
              <a:ext uri="{FF2B5EF4-FFF2-40B4-BE49-F238E27FC236}">
                <a16:creationId xmlns:a16="http://schemas.microsoft.com/office/drawing/2014/main" id="{382B9B66-DF56-3386-DE8D-3F4801256620}"/>
              </a:ext>
            </a:extLst>
          </p:cNvPr>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4</a:t>
            </a:r>
            <a:endParaRPr lang="en-US" sz="900" dirty="0"/>
          </a:p>
        </p:txBody>
      </p:sp>
    </p:spTree>
    <p:extLst>
      <p:ext uri="{BB962C8B-B14F-4D97-AF65-F5344CB8AC3E}">
        <p14:creationId xmlns:p14="http://schemas.microsoft.com/office/powerpoint/2010/main" val="3306988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4972F3D-7F34-1D41-07A1-FA6AF9F36609}"/>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03DF3CD9-8CF9-0F6C-1BD3-473198E3059A}"/>
              </a:ext>
            </a:extLst>
          </p:cNvPr>
          <p:cNvSpPr txBox="1"/>
          <p:nvPr/>
        </p:nvSpPr>
        <p:spPr>
          <a:xfrm>
            <a:off x="271848" y="2257333"/>
            <a:ext cx="2862649" cy="914400"/>
          </a:xfrm>
          <a:prstGeom prst="rect">
            <a:avLst/>
          </a:prstGeom>
          <a:noFill/>
          <a:ln/>
        </p:spPr>
        <p:txBody>
          <a:bodyPr wrap="square" lIns="0" tIns="0" rIns="0" bIns="0" rtlCol="0" anchor="ctr"/>
          <a:lstStyle/>
          <a:p>
            <a:pPr marL="0" indent="0">
              <a:buNone/>
            </a:pPr>
            <a:r>
              <a:rPr lang="en-US" sz="5400" dirty="0">
                <a:solidFill>
                  <a:srgbClr val="1B2A4A"/>
                </a:solidFill>
                <a:latin typeface="Impact" panose="020B0806030902050204" pitchFamily="34" charset="0"/>
                <a:ea typeface="Cambria" pitchFamily="34" charset="-122"/>
                <a:cs typeface="Cambria" pitchFamily="34" charset="-120"/>
              </a:rPr>
              <a:t>MY PROPERTY JOURNEY</a:t>
            </a:r>
            <a:endParaRPr lang="en-US" sz="5400" dirty="0">
              <a:latin typeface="Impact" panose="020B0806030902050204" pitchFamily="34" charset="0"/>
            </a:endParaRPr>
          </a:p>
        </p:txBody>
      </p:sp>
      <p:sp>
        <p:nvSpPr>
          <p:cNvPr id="15" name="Text 13">
            <a:extLst>
              <a:ext uri="{FF2B5EF4-FFF2-40B4-BE49-F238E27FC236}">
                <a16:creationId xmlns:a16="http://schemas.microsoft.com/office/drawing/2014/main" id="{E55AC018-EE3A-7BC9-FAB6-AADF767EDCA0}"/>
              </a:ext>
            </a:extLst>
          </p:cNvPr>
          <p:cNvSpPr txBox="1"/>
          <p:nvPr/>
        </p:nvSpPr>
        <p:spPr>
          <a:xfrm>
            <a:off x="271848" y="5304632"/>
            <a:ext cx="2776152" cy="54864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Every launch tonight — including my own money — gets held to the same benchmark you're about to see.</a:t>
            </a:r>
            <a:endParaRPr lang="en-US" sz="1500" dirty="0"/>
          </a:p>
        </p:txBody>
      </p:sp>
      <p:sp>
        <p:nvSpPr>
          <p:cNvPr id="16" name="Text 14">
            <a:extLst>
              <a:ext uri="{FF2B5EF4-FFF2-40B4-BE49-F238E27FC236}">
                <a16:creationId xmlns:a16="http://schemas.microsoft.com/office/drawing/2014/main" id="{BEE4C4F3-0669-8308-E267-3E79FF26AB74}"/>
              </a:ext>
            </a:extLst>
          </p:cNvPr>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3</a:t>
            </a:r>
            <a:endParaRPr lang="en-US" sz="900" dirty="0"/>
          </a:p>
        </p:txBody>
      </p:sp>
      <p:pic>
        <p:nvPicPr>
          <p:cNvPr id="17" name="Picture 16">
            <a:extLst>
              <a:ext uri="{FF2B5EF4-FFF2-40B4-BE49-F238E27FC236}">
                <a16:creationId xmlns:a16="http://schemas.microsoft.com/office/drawing/2014/main" id="{4D62AE8C-514C-3946-5CE0-5D8B7E4D7CE8}"/>
              </a:ext>
            </a:extLst>
          </p:cNvPr>
          <p:cNvPicPr>
            <a:picLocks noChangeAspect="1"/>
          </p:cNvPicPr>
          <p:nvPr/>
        </p:nvPicPr>
        <p:blipFill>
          <a:blip r:embed="rId3"/>
          <a:stretch>
            <a:fillRect/>
          </a:stretch>
        </p:blipFill>
        <p:spPr>
          <a:xfrm>
            <a:off x="3048000" y="0"/>
            <a:ext cx="9144000" cy="6858000"/>
          </a:xfrm>
          <a:prstGeom prst="rect">
            <a:avLst/>
          </a:prstGeom>
        </p:spPr>
      </p:pic>
    </p:spTree>
    <p:extLst>
      <p:ext uri="{BB962C8B-B14F-4D97-AF65-F5344CB8AC3E}">
        <p14:creationId xmlns:p14="http://schemas.microsoft.com/office/powerpoint/2010/main" val="1704848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5400" dirty="0">
                <a:solidFill>
                  <a:srgbClr val="1B2A4A"/>
                </a:solidFill>
                <a:latin typeface="Impact" panose="020B0806030902050204" pitchFamily="34" charset="0"/>
                <a:ea typeface="Cambria" pitchFamily="34" charset="-122"/>
                <a:cs typeface="Cambria" pitchFamily="34" charset="-120"/>
              </a:rPr>
              <a:t>3 FORCES MOVING PRICES RIGHT NOW</a:t>
            </a:r>
            <a:endParaRPr lang="en-US" sz="5400" dirty="0">
              <a:latin typeface="Impact" panose="020B0806030902050204" pitchFamily="34" charset="0"/>
            </a:endParaRPr>
          </a:p>
        </p:txBody>
      </p:sp>
      <p:sp>
        <p:nvSpPr>
          <p:cNvPr id="4" name="Shape 2"/>
          <p:cNvSpPr/>
          <p:nvPr/>
        </p:nvSpPr>
        <p:spPr>
          <a:xfrm>
            <a:off x="640080" y="1965960"/>
            <a:ext cx="3520440" cy="3657600"/>
          </a:xfrm>
          <a:prstGeom prst="roundRect">
            <a:avLst>
              <a:gd name="adj" fmla="val 2078"/>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5" name="Text 3"/>
          <p:cNvSpPr txBox="1"/>
          <p:nvPr/>
        </p:nvSpPr>
        <p:spPr>
          <a:xfrm>
            <a:off x="868680" y="2148840"/>
            <a:ext cx="1371600" cy="731520"/>
          </a:xfrm>
          <a:prstGeom prst="rect">
            <a:avLst/>
          </a:prstGeom>
          <a:noFill/>
          <a:ln/>
        </p:spPr>
        <p:txBody>
          <a:bodyPr wrap="square" lIns="0" tIns="0" rIns="0" bIns="0" rtlCol="0" anchor="ctr"/>
          <a:lstStyle/>
          <a:p>
            <a:pPr marL="0" indent="0">
              <a:buNone/>
            </a:pPr>
            <a:r>
              <a:rPr lang="en-US" sz="3000" b="1" dirty="0">
                <a:solidFill>
                  <a:srgbClr val="C7CCD6"/>
                </a:solidFill>
                <a:latin typeface="Cambria" pitchFamily="34" charset="0"/>
                <a:ea typeface="Cambria" pitchFamily="34" charset="-122"/>
                <a:cs typeface="Cambria" pitchFamily="34" charset="-120"/>
              </a:rPr>
              <a:t>01</a:t>
            </a:r>
            <a:endParaRPr lang="en-US" sz="3000" dirty="0"/>
          </a:p>
        </p:txBody>
      </p:sp>
      <p:sp>
        <p:nvSpPr>
          <p:cNvPr id="6" name="Text 4"/>
          <p:cNvSpPr txBox="1"/>
          <p:nvPr/>
        </p:nvSpPr>
        <p:spPr>
          <a:xfrm>
            <a:off x="868680" y="2880360"/>
            <a:ext cx="3063240" cy="45720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Capital Flow</a:t>
            </a:r>
            <a:endParaRPr lang="en-US" sz="1800" dirty="0"/>
          </a:p>
        </p:txBody>
      </p:sp>
      <p:sp>
        <p:nvSpPr>
          <p:cNvPr id="7" name="Text 5"/>
          <p:cNvSpPr txBox="1"/>
          <p:nvPr/>
        </p:nvSpPr>
        <p:spPr>
          <a:xfrm>
            <a:off x="868680" y="3337560"/>
            <a:ext cx="3063240" cy="2011680"/>
          </a:xfrm>
          <a:prstGeom prst="rect">
            <a:avLst/>
          </a:prstGeom>
          <a:noFill/>
          <a:ln/>
        </p:spPr>
        <p:txBody>
          <a:bodyPr wrap="square" lIns="0" tIns="0" rIns="0" bIns="0" rtlCol="0" anchor="ctr"/>
          <a:lstStyle/>
          <a:p>
            <a:pPr marL="0" indent="0">
              <a:buNone/>
            </a:pPr>
            <a:r>
              <a:rPr lang="en-US" sz="1350" dirty="0">
                <a:solidFill>
                  <a:srgbClr val="1F2937"/>
                </a:solidFill>
                <a:latin typeface="Calibri" pitchFamily="34" charset="0"/>
                <a:ea typeface="Calibri" pitchFamily="34" charset="-122"/>
                <a:cs typeface="Calibri" pitchFamily="34" charset="-120"/>
              </a:rPr>
              <a:t>Strong stock-market gains looking for a home in hard assets.</a:t>
            </a:r>
            <a:endParaRPr lang="en-US" sz="1350" dirty="0"/>
          </a:p>
        </p:txBody>
      </p:sp>
      <p:sp>
        <p:nvSpPr>
          <p:cNvPr id="8" name="Shape 6"/>
          <p:cNvSpPr/>
          <p:nvPr/>
        </p:nvSpPr>
        <p:spPr>
          <a:xfrm>
            <a:off x="4379976" y="1965960"/>
            <a:ext cx="3520440" cy="3657600"/>
          </a:xfrm>
          <a:prstGeom prst="roundRect">
            <a:avLst>
              <a:gd name="adj" fmla="val 2078"/>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9" name="Text 7"/>
          <p:cNvSpPr txBox="1"/>
          <p:nvPr/>
        </p:nvSpPr>
        <p:spPr>
          <a:xfrm>
            <a:off x="4608576" y="2148840"/>
            <a:ext cx="1371600" cy="731520"/>
          </a:xfrm>
          <a:prstGeom prst="rect">
            <a:avLst/>
          </a:prstGeom>
          <a:noFill/>
          <a:ln/>
        </p:spPr>
        <p:txBody>
          <a:bodyPr wrap="square" lIns="0" tIns="0" rIns="0" bIns="0" rtlCol="0" anchor="ctr"/>
          <a:lstStyle/>
          <a:p>
            <a:pPr marL="0" indent="0">
              <a:buNone/>
            </a:pPr>
            <a:r>
              <a:rPr lang="en-US" sz="3000" b="1" dirty="0">
                <a:solidFill>
                  <a:srgbClr val="C7CCD6"/>
                </a:solidFill>
                <a:latin typeface="Cambria" pitchFamily="34" charset="0"/>
                <a:ea typeface="Cambria" pitchFamily="34" charset="-122"/>
                <a:cs typeface="Cambria" pitchFamily="34" charset="-120"/>
              </a:rPr>
              <a:t>02</a:t>
            </a:r>
            <a:endParaRPr lang="en-US" sz="3000" dirty="0"/>
          </a:p>
        </p:txBody>
      </p:sp>
      <p:sp>
        <p:nvSpPr>
          <p:cNvPr id="10" name="Text 8"/>
          <p:cNvSpPr txBox="1"/>
          <p:nvPr/>
        </p:nvSpPr>
        <p:spPr>
          <a:xfrm>
            <a:off x="4608576" y="2880360"/>
            <a:ext cx="3063240" cy="45720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Interest Rates</a:t>
            </a:r>
            <a:endParaRPr lang="en-US" sz="1800" dirty="0"/>
          </a:p>
        </p:txBody>
      </p:sp>
      <p:sp>
        <p:nvSpPr>
          <p:cNvPr id="11" name="Text 9"/>
          <p:cNvSpPr txBox="1"/>
          <p:nvPr/>
        </p:nvSpPr>
        <p:spPr>
          <a:xfrm>
            <a:off x="4608576" y="3337560"/>
            <a:ext cx="3063240" cy="2011680"/>
          </a:xfrm>
          <a:prstGeom prst="rect">
            <a:avLst/>
          </a:prstGeom>
          <a:noFill/>
          <a:ln/>
        </p:spPr>
        <p:txBody>
          <a:bodyPr wrap="square" lIns="0" tIns="0" rIns="0" bIns="0" rtlCol="0" anchor="ctr"/>
          <a:lstStyle/>
          <a:p>
            <a:pPr marL="0" indent="0">
              <a:buNone/>
            </a:pPr>
            <a:r>
              <a:rPr lang="en-US" sz="1350" dirty="0">
                <a:solidFill>
                  <a:srgbClr val="1F2937"/>
                </a:solidFill>
                <a:latin typeface="Calibri" pitchFamily="34" charset="0"/>
                <a:ea typeface="Calibri" pitchFamily="34" charset="-122"/>
                <a:cs typeface="Calibri" pitchFamily="34" charset="-120"/>
              </a:rPr>
              <a:t>Where rates go next changes what every buyer can afford to commit.</a:t>
            </a:r>
            <a:endParaRPr lang="en-US" sz="1350" dirty="0"/>
          </a:p>
        </p:txBody>
      </p:sp>
      <p:sp>
        <p:nvSpPr>
          <p:cNvPr id="12" name="Shape 10"/>
          <p:cNvSpPr/>
          <p:nvPr/>
        </p:nvSpPr>
        <p:spPr>
          <a:xfrm>
            <a:off x="8119872" y="1965960"/>
            <a:ext cx="3520440" cy="3657600"/>
          </a:xfrm>
          <a:prstGeom prst="roundRect">
            <a:avLst>
              <a:gd name="adj" fmla="val 2078"/>
            </a:avLst>
          </a:prstGeom>
          <a:solidFill>
            <a:srgbClr val="1B2A4A"/>
          </a:solidFill>
          <a:ln/>
          <a:effectLst>
            <a:outerShdw blurRad="101600" dist="38100" dir="5400000" algn="bl" rotWithShape="0">
              <a:srgbClr val="000000">
                <a:alpha val="18000"/>
              </a:srgbClr>
            </a:outerShdw>
          </a:effectLst>
        </p:spPr>
        <p:txBody>
          <a:bodyPr/>
          <a:lstStyle/>
          <a:p>
            <a:endParaRPr lang="en-SG"/>
          </a:p>
        </p:txBody>
      </p:sp>
      <p:sp>
        <p:nvSpPr>
          <p:cNvPr id="13" name="Text 11"/>
          <p:cNvSpPr txBox="1"/>
          <p:nvPr/>
        </p:nvSpPr>
        <p:spPr>
          <a:xfrm>
            <a:off x="8348472" y="2148840"/>
            <a:ext cx="1371600" cy="731520"/>
          </a:xfrm>
          <a:prstGeom prst="rect">
            <a:avLst/>
          </a:prstGeom>
          <a:noFill/>
          <a:ln/>
        </p:spPr>
        <p:txBody>
          <a:bodyPr wrap="square" lIns="0" tIns="0" rIns="0" bIns="0" rtlCol="0" anchor="ctr"/>
          <a:lstStyle/>
          <a:p>
            <a:pPr marL="0" indent="0">
              <a:buNone/>
            </a:pPr>
            <a:r>
              <a:rPr lang="en-US" sz="3000" b="1" dirty="0">
                <a:solidFill>
                  <a:srgbClr val="C9A227"/>
                </a:solidFill>
                <a:latin typeface="Cambria" pitchFamily="34" charset="0"/>
                <a:ea typeface="Cambria" pitchFamily="34" charset="-122"/>
                <a:cs typeface="Cambria" pitchFamily="34" charset="-120"/>
              </a:rPr>
              <a:t>03</a:t>
            </a:r>
            <a:endParaRPr lang="en-US" sz="3000" dirty="0"/>
          </a:p>
        </p:txBody>
      </p:sp>
      <p:sp>
        <p:nvSpPr>
          <p:cNvPr id="14" name="Text 12"/>
          <p:cNvSpPr txBox="1"/>
          <p:nvPr/>
        </p:nvSpPr>
        <p:spPr>
          <a:xfrm>
            <a:off x="8348472" y="2880360"/>
            <a:ext cx="306324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Land Cost</a:t>
            </a:r>
            <a:endParaRPr lang="en-US" sz="1800" dirty="0"/>
          </a:p>
        </p:txBody>
      </p:sp>
      <p:sp>
        <p:nvSpPr>
          <p:cNvPr id="15" name="Text 13"/>
          <p:cNvSpPr txBox="1"/>
          <p:nvPr/>
        </p:nvSpPr>
        <p:spPr>
          <a:xfrm>
            <a:off x="8348472" y="3337560"/>
            <a:ext cx="3063240" cy="2011680"/>
          </a:xfrm>
          <a:prstGeom prst="rect">
            <a:avLst/>
          </a:prstGeom>
          <a:noFill/>
          <a:ln/>
        </p:spPr>
        <p:txBody>
          <a:bodyPr wrap="square" lIns="0" tIns="0" rIns="0" bIns="0" rtlCol="0" anchor="ctr"/>
          <a:lstStyle/>
          <a:p>
            <a:pPr marL="0" indent="0">
              <a:buNone/>
            </a:pPr>
            <a:r>
              <a:rPr lang="en-US" sz="1350" dirty="0">
                <a:solidFill>
                  <a:srgbClr val="D7DCE8"/>
                </a:solidFill>
                <a:latin typeface="Calibri" pitchFamily="34" charset="0"/>
                <a:ea typeface="Calibri" pitchFamily="34" charset="-122"/>
                <a:cs typeface="Calibri" pitchFamily="34" charset="-120"/>
              </a:rPr>
              <a:t>The one that projects prices best. Every developer who pays more than the last guy sets next year's price floor.</a:t>
            </a:r>
            <a:endParaRPr lang="en-US" sz="1350" dirty="0"/>
          </a:p>
        </p:txBody>
      </p:sp>
      <p:sp>
        <p:nvSpPr>
          <p:cNvPr id="16" name="Text 14"/>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2286000" y="4389120"/>
            <a:ext cx="5486400" cy="5486400"/>
          </a:xfrm>
          <a:prstGeom prst="ellipse">
            <a:avLst/>
          </a:prstGeom>
          <a:solidFill>
            <a:srgbClr val="121D33"/>
          </a:solidFill>
          <a:ln/>
        </p:spPr>
        <p:txBody>
          <a:bodyPr/>
          <a:lstStyle/>
          <a:p>
            <a:endParaRPr lang="en-SG"/>
          </a:p>
        </p:txBody>
      </p:sp>
      <p:sp>
        <p:nvSpPr>
          <p:cNvPr id="4" name="Text 2"/>
          <p:cNvSpPr txBox="1"/>
          <p:nvPr/>
        </p:nvSpPr>
        <p:spPr>
          <a:xfrm>
            <a:off x="929640" y="2266723"/>
            <a:ext cx="10332720" cy="1737360"/>
          </a:xfrm>
          <a:prstGeom prst="rect">
            <a:avLst/>
          </a:prstGeom>
          <a:noFill/>
          <a:ln/>
        </p:spPr>
        <p:txBody>
          <a:bodyPr wrap="square" lIns="0" tIns="0" rIns="0" bIns="0" rtlCol="0" anchor="ctr"/>
          <a:lstStyle/>
          <a:p>
            <a:pPr marL="0" indent="0">
              <a:lnSpc>
                <a:spcPct val="105000"/>
              </a:lnSpc>
              <a:buNone/>
            </a:pPr>
            <a:r>
              <a:rPr lang="en-US" sz="5400" dirty="0">
                <a:solidFill>
                  <a:srgbClr val="FFFFFF"/>
                </a:solidFill>
                <a:latin typeface="Impact" panose="020B0806030902050204" pitchFamily="34" charset="0"/>
                <a:ea typeface="Cambria" pitchFamily="34" charset="-122"/>
                <a:cs typeface="Cambria" pitchFamily="34" charset="-120"/>
              </a:rPr>
              <a:t>MOST PEOPLE ONLY ASK ONE QUESTION.</a:t>
            </a:r>
            <a:endParaRPr lang="en-US" sz="5400" dirty="0">
              <a:latin typeface="Impact" panose="020B0806030902050204" pitchFamily="34" charset="0"/>
            </a:endParaRPr>
          </a:p>
          <a:p>
            <a:pPr marL="0" indent="0">
              <a:lnSpc>
                <a:spcPct val="105000"/>
              </a:lnSpc>
              <a:buNone/>
            </a:pPr>
            <a:r>
              <a:rPr lang="en-US" sz="5400" dirty="0">
                <a:solidFill>
                  <a:srgbClr val="FFFFFF"/>
                </a:solidFill>
                <a:latin typeface="Impact" panose="020B0806030902050204" pitchFamily="34" charset="0"/>
                <a:ea typeface="Cambria" pitchFamily="34" charset="-122"/>
                <a:cs typeface="Cambria" pitchFamily="34" charset="-120"/>
              </a:rPr>
              <a:t>TONIGHT WE'RE ASKING TWO.</a:t>
            </a:r>
            <a:endParaRPr lang="en-US" sz="5400" dirty="0">
              <a:latin typeface="Impact" panose="020B0806030902050204" pitchFamily="34" charset="0"/>
            </a:endParaRPr>
          </a:p>
        </p:txBody>
      </p:sp>
      <p:sp>
        <p:nvSpPr>
          <p:cNvPr id="5" name="Shape 3"/>
          <p:cNvSpPr/>
          <p:nvPr/>
        </p:nvSpPr>
        <p:spPr>
          <a:xfrm>
            <a:off x="914400" y="4160520"/>
            <a:ext cx="4892040" cy="1737360"/>
          </a:xfrm>
          <a:prstGeom prst="roundRect">
            <a:avLst>
              <a:gd name="adj" fmla="val 4211"/>
            </a:avLst>
          </a:prstGeom>
          <a:solidFill>
            <a:srgbClr val="24365C"/>
          </a:solidFill>
          <a:ln/>
        </p:spPr>
        <p:txBody>
          <a:bodyPr/>
          <a:lstStyle/>
          <a:p>
            <a:endParaRPr lang="en-SG"/>
          </a:p>
        </p:txBody>
      </p:sp>
      <p:sp>
        <p:nvSpPr>
          <p:cNvPr id="6" name="Text 4"/>
          <p:cNvSpPr txBox="1"/>
          <p:nvPr/>
        </p:nvSpPr>
        <p:spPr>
          <a:xfrm>
            <a:off x="1188720" y="4343400"/>
            <a:ext cx="4297680" cy="365760"/>
          </a:xfrm>
          <a:prstGeom prst="rect">
            <a:avLst/>
          </a:prstGeom>
          <a:noFill/>
          <a:ln/>
        </p:spPr>
        <p:txBody>
          <a:bodyPr wrap="square" lIns="0" tIns="0" rIns="0" bIns="0"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QUESTION 1</a:t>
            </a:r>
            <a:endParaRPr lang="en-US" sz="1200" dirty="0"/>
          </a:p>
        </p:txBody>
      </p:sp>
      <p:sp>
        <p:nvSpPr>
          <p:cNvPr id="7" name="Text 5"/>
          <p:cNvSpPr txBox="1"/>
          <p:nvPr/>
        </p:nvSpPr>
        <p:spPr>
          <a:xfrm>
            <a:off x="1188720" y="4645152"/>
            <a:ext cx="429768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FIT</a:t>
            </a:r>
            <a:endParaRPr lang="en-US" sz="2600" dirty="0"/>
          </a:p>
        </p:txBody>
      </p:sp>
      <p:sp>
        <p:nvSpPr>
          <p:cNvPr id="8" name="Text 6"/>
          <p:cNvSpPr txBox="1"/>
          <p:nvPr/>
        </p:nvSpPr>
        <p:spPr>
          <a:xfrm>
            <a:off x="1188720" y="5166360"/>
            <a:ext cx="4297680" cy="640080"/>
          </a:xfrm>
          <a:prstGeom prst="rect">
            <a:avLst/>
          </a:prstGeom>
          <a:noFill/>
          <a:ln/>
        </p:spPr>
        <p:txBody>
          <a:bodyPr wrap="square" lIns="0" tIns="0" rIns="0" bIns="0" rtlCol="0" anchor="ctr"/>
          <a:lstStyle/>
          <a:p>
            <a:pPr marL="0" indent="0">
              <a:buNone/>
            </a:pPr>
            <a:r>
              <a:rPr lang="en-US" sz="1300" dirty="0">
                <a:solidFill>
                  <a:srgbClr val="D7DCE8"/>
                </a:solidFill>
                <a:latin typeface="Calibri" pitchFamily="34" charset="0"/>
                <a:ea typeface="Calibri" pitchFamily="34" charset="-122"/>
                <a:cs typeface="Calibri" pitchFamily="34" charset="-120"/>
              </a:rPr>
              <a:t>Is it right for YOU — your objective, your numbers, your timeline?</a:t>
            </a:r>
            <a:endParaRPr lang="en-US" sz="1300" dirty="0"/>
          </a:p>
        </p:txBody>
      </p:sp>
      <p:sp>
        <p:nvSpPr>
          <p:cNvPr id="9" name="Shape 7"/>
          <p:cNvSpPr/>
          <p:nvPr/>
        </p:nvSpPr>
        <p:spPr>
          <a:xfrm>
            <a:off x="6355080" y="4160520"/>
            <a:ext cx="4892040" cy="1737360"/>
          </a:xfrm>
          <a:prstGeom prst="roundRect">
            <a:avLst>
              <a:gd name="adj" fmla="val 4211"/>
            </a:avLst>
          </a:prstGeom>
          <a:solidFill>
            <a:srgbClr val="C9A227"/>
          </a:solidFill>
          <a:ln/>
        </p:spPr>
        <p:txBody>
          <a:bodyPr/>
          <a:lstStyle/>
          <a:p>
            <a:endParaRPr lang="en-SG"/>
          </a:p>
        </p:txBody>
      </p:sp>
      <p:sp>
        <p:nvSpPr>
          <p:cNvPr id="10" name="Text 8"/>
          <p:cNvSpPr txBox="1"/>
          <p:nvPr/>
        </p:nvSpPr>
        <p:spPr>
          <a:xfrm>
            <a:off x="6629400" y="4343400"/>
            <a:ext cx="4297680" cy="365760"/>
          </a:xfrm>
          <a:prstGeom prst="rect">
            <a:avLst/>
          </a:prstGeom>
          <a:noFill/>
          <a:ln/>
        </p:spPr>
        <p:txBody>
          <a:bodyPr wrap="square" lIns="0" tIns="0" rIns="0" bIns="0" rtlCol="0" anchor="ctr"/>
          <a:lstStyle/>
          <a:p>
            <a:pPr marL="0" indent="0">
              <a:buNone/>
            </a:pPr>
            <a:r>
              <a:rPr lang="en-US" sz="1200" b="1" kern="0" spc="200" dirty="0">
                <a:solidFill>
                  <a:srgbClr val="121D33"/>
                </a:solidFill>
                <a:latin typeface="Calibri" pitchFamily="34" charset="0"/>
                <a:ea typeface="Calibri" pitchFamily="34" charset="-122"/>
                <a:cs typeface="Calibri" pitchFamily="34" charset="-120"/>
              </a:rPr>
              <a:t>QUESTION 2</a:t>
            </a:r>
            <a:endParaRPr lang="en-US" sz="1200" dirty="0"/>
          </a:p>
        </p:txBody>
      </p:sp>
      <p:sp>
        <p:nvSpPr>
          <p:cNvPr id="11" name="Text 9"/>
          <p:cNvSpPr txBox="1"/>
          <p:nvPr/>
        </p:nvSpPr>
        <p:spPr>
          <a:xfrm>
            <a:off x="6629400" y="4645152"/>
            <a:ext cx="4297680" cy="548640"/>
          </a:xfrm>
          <a:prstGeom prst="rect">
            <a:avLst/>
          </a:prstGeom>
          <a:noFill/>
          <a:ln/>
        </p:spPr>
        <p:txBody>
          <a:bodyPr wrap="square" lIns="0" tIns="0" rIns="0" bIns="0" rtlCol="0" anchor="ctr"/>
          <a:lstStyle/>
          <a:p>
            <a:pPr marL="0" indent="0">
              <a:buNone/>
            </a:pPr>
            <a:r>
              <a:rPr lang="en-US" sz="2600" b="1" dirty="0">
                <a:solidFill>
                  <a:srgbClr val="121D33"/>
                </a:solidFill>
                <a:latin typeface="Cambria" pitchFamily="34" charset="0"/>
                <a:ea typeface="Cambria" pitchFamily="34" charset="-122"/>
                <a:cs typeface="Cambria" pitchFamily="34" charset="-120"/>
              </a:rPr>
              <a:t>PROBABILITY</a:t>
            </a:r>
            <a:endParaRPr lang="en-US" sz="2600" dirty="0"/>
          </a:p>
        </p:txBody>
      </p:sp>
      <p:sp>
        <p:nvSpPr>
          <p:cNvPr id="12" name="Text 10"/>
          <p:cNvSpPr txBox="1"/>
          <p:nvPr/>
        </p:nvSpPr>
        <p:spPr>
          <a:xfrm>
            <a:off x="6629400" y="5166360"/>
            <a:ext cx="4297680" cy="640080"/>
          </a:xfrm>
          <a:prstGeom prst="rect">
            <a:avLst/>
          </a:prstGeom>
          <a:noFill/>
          <a:ln/>
        </p:spPr>
        <p:txBody>
          <a:bodyPr wrap="square" lIns="0" tIns="0" rIns="0" bIns="0" rtlCol="0" anchor="ctr"/>
          <a:lstStyle/>
          <a:p>
            <a:pPr marL="0" indent="0">
              <a:buNone/>
            </a:pPr>
            <a:r>
              <a:rPr lang="en-US" sz="1300" dirty="0">
                <a:solidFill>
                  <a:srgbClr val="121D33"/>
                </a:solidFill>
                <a:latin typeface="Calibri" pitchFamily="34" charset="0"/>
                <a:ea typeface="Calibri" pitchFamily="34" charset="-122"/>
                <a:cs typeface="Calibri" pitchFamily="34" charset="-120"/>
              </a:rPr>
              <a:t>If it's a fit — what are your real odds of getting it?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4800">
                <a:solidFill>
                  <a:srgbClr val="1B2A4A"/>
                </a:solidFill>
                <a:latin typeface="Impact" panose="020B0806030902050204" pitchFamily="34" charset="0"/>
                <a:ea typeface="Cambria" pitchFamily="34" charset="-122"/>
                <a:cs typeface="Cambria" pitchFamily="34" charset="-120"/>
              </a:rPr>
              <a:t>FOUR OBJECTIVE</a:t>
            </a:r>
            <a:endParaRPr lang="en-US" sz="4800" dirty="0">
              <a:latin typeface="Impact" panose="020B0806030902050204" pitchFamily="34" charset="0"/>
            </a:endParaRPr>
          </a:p>
        </p:txBody>
      </p:sp>
      <p:sp>
        <p:nvSpPr>
          <p:cNvPr id="4" name="Shape 2"/>
          <p:cNvSpPr/>
          <p:nvPr/>
        </p:nvSpPr>
        <p:spPr>
          <a:xfrm>
            <a:off x="640080" y="1920240"/>
            <a:ext cx="5257800" cy="1737360"/>
          </a:xfrm>
          <a:prstGeom prst="roundRect">
            <a:avLst>
              <a:gd name="adj" fmla="val 4211"/>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5" name="Shape 3"/>
          <p:cNvSpPr/>
          <p:nvPr/>
        </p:nvSpPr>
        <p:spPr>
          <a:xfrm>
            <a:off x="640080" y="1920240"/>
            <a:ext cx="109728" cy="1737360"/>
          </a:xfrm>
          <a:prstGeom prst="rect">
            <a:avLst/>
          </a:prstGeom>
          <a:solidFill>
            <a:srgbClr val="1B2A4A"/>
          </a:solidFill>
          <a:ln/>
        </p:spPr>
        <p:txBody>
          <a:bodyPr/>
          <a:lstStyle/>
          <a:p>
            <a:endParaRPr lang="en-SG"/>
          </a:p>
        </p:txBody>
      </p:sp>
      <p:sp>
        <p:nvSpPr>
          <p:cNvPr id="6" name="Text 4"/>
          <p:cNvSpPr txBox="1"/>
          <p:nvPr/>
        </p:nvSpPr>
        <p:spPr>
          <a:xfrm>
            <a:off x="1005840" y="2148840"/>
            <a:ext cx="4663440" cy="45720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Stay-For-Free</a:t>
            </a:r>
            <a:endParaRPr lang="en-US" sz="1800" dirty="0"/>
          </a:p>
        </p:txBody>
      </p:sp>
      <p:sp>
        <p:nvSpPr>
          <p:cNvPr id="7" name="Text 5"/>
          <p:cNvSpPr txBox="1"/>
          <p:nvPr/>
        </p:nvSpPr>
        <p:spPr>
          <a:xfrm>
            <a:off x="1005840" y="2697480"/>
            <a:ext cx="4663440" cy="731520"/>
          </a:xfrm>
          <a:prstGeom prst="rect">
            <a:avLst/>
          </a:prstGeom>
          <a:noFill/>
          <a:ln/>
        </p:spPr>
        <p:txBody>
          <a:bodyPr wrap="square" lIns="0" tIns="0" rIns="0" bIns="0" rtlCol="0" anchor="ctr"/>
          <a:lstStyle/>
          <a:p>
            <a:pPr marL="0" indent="0">
              <a:buNone/>
            </a:pPr>
            <a:r>
              <a:rPr lang="en-US" sz="1350" dirty="0">
                <a:solidFill>
                  <a:srgbClr val="1F2937"/>
                </a:solidFill>
                <a:latin typeface="Calibri" pitchFamily="34" charset="0"/>
                <a:ea typeface="Calibri" pitchFamily="34" charset="-122"/>
                <a:cs typeface="Calibri" pitchFamily="34" charset="-120"/>
              </a:rPr>
              <a:t>Live better, at zero net cost over time.</a:t>
            </a:r>
            <a:endParaRPr lang="en-US" sz="1350" dirty="0"/>
          </a:p>
        </p:txBody>
      </p:sp>
      <p:sp>
        <p:nvSpPr>
          <p:cNvPr id="8" name="Shape 6"/>
          <p:cNvSpPr/>
          <p:nvPr/>
        </p:nvSpPr>
        <p:spPr>
          <a:xfrm>
            <a:off x="6172200" y="1920240"/>
            <a:ext cx="5257800" cy="1737360"/>
          </a:xfrm>
          <a:prstGeom prst="roundRect">
            <a:avLst>
              <a:gd name="adj" fmla="val 4211"/>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9" name="Shape 7"/>
          <p:cNvSpPr/>
          <p:nvPr/>
        </p:nvSpPr>
        <p:spPr>
          <a:xfrm>
            <a:off x="6172200" y="1920240"/>
            <a:ext cx="109728" cy="1737360"/>
          </a:xfrm>
          <a:prstGeom prst="rect">
            <a:avLst/>
          </a:prstGeom>
          <a:solidFill>
            <a:srgbClr val="9E1B32"/>
          </a:solidFill>
          <a:ln/>
        </p:spPr>
        <p:txBody>
          <a:bodyPr/>
          <a:lstStyle/>
          <a:p>
            <a:endParaRPr lang="en-SG"/>
          </a:p>
        </p:txBody>
      </p:sp>
      <p:sp>
        <p:nvSpPr>
          <p:cNvPr id="10" name="Text 8"/>
          <p:cNvSpPr txBox="1"/>
          <p:nvPr/>
        </p:nvSpPr>
        <p:spPr>
          <a:xfrm>
            <a:off x="6537960" y="2148840"/>
            <a:ext cx="4663440" cy="45720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Pure Investment</a:t>
            </a:r>
            <a:endParaRPr lang="en-US" sz="1800" dirty="0"/>
          </a:p>
        </p:txBody>
      </p:sp>
      <p:sp>
        <p:nvSpPr>
          <p:cNvPr id="11" name="Text 9"/>
          <p:cNvSpPr txBox="1"/>
          <p:nvPr/>
        </p:nvSpPr>
        <p:spPr>
          <a:xfrm>
            <a:off x="6537960" y="2697480"/>
            <a:ext cx="4663440" cy="731520"/>
          </a:xfrm>
          <a:prstGeom prst="rect">
            <a:avLst/>
          </a:prstGeom>
          <a:noFill/>
          <a:ln/>
        </p:spPr>
        <p:txBody>
          <a:bodyPr wrap="square" lIns="0" tIns="0" rIns="0" bIns="0" rtlCol="0" anchor="ctr"/>
          <a:lstStyle/>
          <a:p>
            <a:pPr marL="0" indent="0">
              <a:buNone/>
            </a:pPr>
            <a:r>
              <a:rPr lang="en-US" sz="1350" dirty="0">
                <a:solidFill>
                  <a:srgbClr val="1F2937"/>
                </a:solidFill>
                <a:latin typeface="Calibri" pitchFamily="34" charset="0"/>
                <a:ea typeface="Calibri" pitchFamily="34" charset="-122"/>
                <a:cs typeface="Calibri" pitchFamily="34" charset="-120"/>
              </a:rPr>
              <a:t>Held to the S&amp;P bar you just saw.</a:t>
            </a:r>
            <a:endParaRPr lang="en-US" sz="1350" dirty="0"/>
          </a:p>
        </p:txBody>
      </p:sp>
      <p:sp>
        <p:nvSpPr>
          <p:cNvPr id="12" name="Shape 10"/>
          <p:cNvSpPr/>
          <p:nvPr/>
        </p:nvSpPr>
        <p:spPr>
          <a:xfrm>
            <a:off x="640080" y="3886200"/>
            <a:ext cx="5257800" cy="1737360"/>
          </a:xfrm>
          <a:prstGeom prst="roundRect">
            <a:avLst>
              <a:gd name="adj" fmla="val 4211"/>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13" name="Shape 11"/>
          <p:cNvSpPr/>
          <p:nvPr/>
        </p:nvSpPr>
        <p:spPr>
          <a:xfrm>
            <a:off x="640080" y="3886200"/>
            <a:ext cx="109728" cy="1737360"/>
          </a:xfrm>
          <a:prstGeom prst="rect">
            <a:avLst/>
          </a:prstGeom>
          <a:solidFill>
            <a:srgbClr val="C9A227"/>
          </a:solidFill>
          <a:ln/>
        </p:spPr>
        <p:txBody>
          <a:bodyPr/>
          <a:lstStyle/>
          <a:p>
            <a:endParaRPr lang="en-SG"/>
          </a:p>
        </p:txBody>
      </p:sp>
      <p:sp>
        <p:nvSpPr>
          <p:cNvPr id="14" name="Text 12"/>
          <p:cNvSpPr txBox="1"/>
          <p:nvPr/>
        </p:nvSpPr>
        <p:spPr>
          <a:xfrm>
            <a:off x="1005840" y="4114800"/>
            <a:ext cx="4663440" cy="45720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Buying For The Kids</a:t>
            </a:r>
            <a:endParaRPr lang="en-US" sz="1800" dirty="0"/>
          </a:p>
        </p:txBody>
      </p:sp>
      <p:sp>
        <p:nvSpPr>
          <p:cNvPr id="15" name="Text 13"/>
          <p:cNvSpPr txBox="1"/>
          <p:nvPr/>
        </p:nvSpPr>
        <p:spPr>
          <a:xfrm>
            <a:off x="1005840" y="4663440"/>
            <a:ext cx="4663440" cy="731520"/>
          </a:xfrm>
          <a:prstGeom prst="rect">
            <a:avLst/>
          </a:prstGeom>
          <a:noFill/>
          <a:ln/>
        </p:spPr>
        <p:txBody>
          <a:bodyPr wrap="square" lIns="0" tIns="0" rIns="0" bIns="0" rtlCol="0" anchor="ctr"/>
          <a:lstStyle/>
          <a:p>
            <a:pPr marL="0" indent="0">
              <a:buNone/>
            </a:pPr>
            <a:r>
              <a:rPr lang="en-US" sz="1350" dirty="0">
                <a:solidFill>
                  <a:srgbClr val="1F2937"/>
                </a:solidFill>
                <a:latin typeface="Calibri" pitchFamily="34" charset="0"/>
                <a:ea typeface="Calibri" pitchFamily="34" charset="-122"/>
                <a:cs typeface="Calibri" pitchFamily="34" charset="-120"/>
              </a:rPr>
              <a:t>School-priority driven.</a:t>
            </a:r>
            <a:endParaRPr lang="en-US" sz="1350" dirty="0"/>
          </a:p>
        </p:txBody>
      </p:sp>
      <p:sp>
        <p:nvSpPr>
          <p:cNvPr id="16" name="Shape 14"/>
          <p:cNvSpPr/>
          <p:nvPr/>
        </p:nvSpPr>
        <p:spPr>
          <a:xfrm>
            <a:off x="6172200" y="3886200"/>
            <a:ext cx="5257800" cy="1737360"/>
          </a:xfrm>
          <a:prstGeom prst="roundRect">
            <a:avLst>
              <a:gd name="adj" fmla="val 4211"/>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17" name="Shape 15"/>
          <p:cNvSpPr/>
          <p:nvPr/>
        </p:nvSpPr>
        <p:spPr>
          <a:xfrm>
            <a:off x="6172200" y="3886200"/>
            <a:ext cx="109728" cy="1737360"/>
          </a:xfrm>
          <a:prstGeom prst="rect">
            <a:avLst/>
          </a:prstGeom>
          <a:solidFill>
            <a:srgbClr val="4B5E86"/>
          </a:solidFill>
          <a:ln/>
        </p:spPr>
        <p:txBody>
          <a:bodyPr/>
          <a:lstStyle/>
          <a:p>
            <a:endParaRPr lang="en-SG"/>
          </a:p>
        </p:txBody>
      </p:sp>
      <p:sp>
        <p:nvSpPr>
          <p:cNvPr id="18" name="Text 16"/>
          <p:cNvSpPr txBox="1"/>
          <p:nvPr/>
        </p:nvSpPr>
        <p:spPr>
          <a:xfrm>
            <a:off x="6537960" y="4114800"/>
            <a:ext cx="4663440" cy="45720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Legacy</a:t>
            </a:r>
            <a:endParaRPr lang="en-US" sz="1800" dirty="0"/>
          </a:p>
        </p:txBody>
      </p:sp>
      <p:sp>
        <p:nvSpPr>
          <p:cNvPr id="19" name="Text 17"/>
          <p:cNvSpPr txBox="1"/>
          <p:nvPr/>
        </p:nvSpPr>
        <p:spPr>
          <a:xfrm>
            <a:off x="6537960" y="4663440"/>
            <a:ext cx="4663440" cy="731520"/>
          </a:xfrm>
          <a:prstGeom prst="rect">
            <a:avLst/>
          </a:prstGeom>
          <a:noFill/>
          <a:ln/>
        </p:spPr>
        <p:txBody>
          <a:bodyPr wrap="square" lIns="0" tIns="0" rIns="0" bIns="0" rtlCol="0" anchor="ctr"/>
          <a:lstStyle/>
          <a:p>
            <a:pPr marL="0" indent="0">
              <a:buNone/>
            </a:pPr>
            <a:r>
              <a:rPr lang="en-US" sz="1350" dirty="0">
                <a:solidFill>
                  <a:srgbClr val="1F2937"/>
                </a:solidFill>
                <a:latin typeface="Calibri" pitchFamily="34" charset="0"/>
                <a:ea typeface="Calibri" pitchFamily="34" charset="-122"/>
                <a:cs typeface="Calibri" pitchFamily="34" charset="-120"/>
              </a:rPr>
              <a:t>The next 20 to 30 years, not 5.</a:t>
            </a:r>
            <a:endParaRPr lang="en-US" sz="1350" dirty="0"/>
          </a:p>
        </p:txBody>
      </p:sp>
      <p:sp>
        <p:nvSpPr>
          <p:cNvPr id="20" name="Text 18"/>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2286000" y="4389120"/>
            <a:ext cx="5486400" cy="5486400"/>
          </a:xfrm>
          <a:prstGeom prst="ellipse">
            <a:avLst/>
          </a:prstGeom>
          <a:solidFill>
            <a:srgbClr val="121D33"/>
          </a:solidFill>
          <a:ln/>
        </p:spPr>
        <p:txBody>
          <a:bodyPr/>
          <a:lstStyle/>
          <a:p>
            <a:endParaRPr lang="en-SG"/>
          </a:p>
        </p:txBody>
      </p:sp>
      <p:sp>
        <p:nvSpPr>
          <p:cNvPr id="3" name="Text 1"/>
          <p:cNvSpPr txBox="1"/>
          <p:nvPr/>
        </p:nvSpPr>
        <p:spPr>
          <a:xfrm>
            <a:off x="914400" y="2331720"/>
            <a:ext cx="10332720" cy="457200"/>
          </a:xfrm>
          <a:prstGeom prst="rect">
            <a:avLst/>
          </a:prstGeom>
          <a:noFill/>
          <a:ln/>
        </p:spPr>
        <p:txBody>
          <a:bodyPr wrap="square" lIns="0" tIns="0" rIns="0" bIns="0" rtlCol="0" anchor="ctr"/>
          <a:lstStyle/>
          <a:p>
            <a:pPr marL="0" indent="0" algn="l">
              <a:buNone/>
            </a:pPr>
            <a:r>
              <a:rPr lang="en-US" sz="1400" b="1" kern="0" spc="300" dirty="0">
                <a:solidFill>
                  <a:srgbClr val="C9A227"/>
                </a:solidFill>
                <a:latin typeface="Calibri" pitchFamily="34" charset="0"/>
                <a:ea typeface="Calibri" pitchFamily="34" charset="-122"/>
                <a:cs typeface="Calibri" pitchFamily="34" charset="-120"/>
              </a:rPr>
              <a:t>QUICK POLL</a:t>
            </a:r>
            <a:endParaRPr lang="en-US" sz="1400" dirty="0"/>
          </a:p>
        </p:txBody>
      </p:sp>
      <p:sp>
        <p:nvSpPr>
          <p:cNvPr id="4" name="Text 2"/>
          <p:cNvSpPr txBox="1"/>
          <p:nvPr/>
        </p:nvSpPr>
        <p:spPr>
          <a:xfrm>
            <a:off x="914400" y="2788920"/>
            <a:ext cx="10332720" cy="1737360"/>
          </a:xfrm>
          <a:prstGeom prst="rect">
            <a:avLst/>
          </a:prstGeom>
          <a:noFill/>
          <a:ln/>
        </p:spPr>
        <p:txBody>
          <a:bodyPr wrap="square" lIns="0" tIns="0" rIns="0" bIns="0" rtlCol="0" anchor="ctr"/>
          <a:lstStyle/>
          <a:p>
            <a:pPr marL="0" indent="0">
              <a:lnSpc>
                <a:spcPct val="105000"/>
              </a:lnSpc>
              <a:buNone/>
            </a:pPr>
            <a:r>
              <a:rPr lang="en-US" sz="3400" b="1" dirty="0">
                <a:solidFill>
                  <a:srgbClr val="FFFFFF"/>
                </a:solidFill>
                <a:latin typeface="Cambria" pitchFamily="34" charset="0"/>
                <a:ea typeface="Cambria" pitchFamily="34" charset="-122"/>
                <a:cs typeface="Cambria" pitchFamily="34" charset="-120"/>
              </a:rPr>
              <a:t>Which One's Closest To You?</a:t>
            </a:r>
            <a:endParaRPr lang="en-US" sz="3400" dirty="0"/>
          </a:p>
        </p:txBody>
      </p:sp>
      <p:sp>
        <p:nvSpPr>
          <p:cNvPr id="5" name="Text 3"/>
          <p:cNvSpPr txBox="1"/>
          <p:nvPr/>
        </p:nvSpPr>
        <p:spPr>
          <a:xfrm>
            <a:off x="914400" y="4480560"/>
            <a:ext cx="9692640" cy="731520"/>
          </a:xfrm>
          <a:prstGeom prst="rect">
            <a:avLst/>
          </a:prstGeom>
          <a:noFill/>
          <a:ln/>
        </p:spPr>
        <p:txBody>
          <a:bodyPr wrap="square" lIns="0" tIns="0" rIns="0" bIns="0" rtlCol="0" anchor="ctr"/>
          <a:lstStyle/>
          <a:p>
            <a:pPr marL="0" indent="0">
              <a:buNone/>
            </a:pPr>
            <a:r>
              <a:rPr lang="en-US" sz="1600" dirty="0">
                <a:solidFill>
                  <a:srgbClr val="D7DCE8"/>
                </a:solidFill>
                <a:latin typeface="Calibri" pitchFamily="34" charset="0"/>
                <a:ea typeface="Calibri" pitchFamily="34" charset="-122"/>
                <a:cs typeface="Calibri" pitchFamily="34" charset="-120"/>
              </a:rPr>
              <a:t>Drop 1, 2, 3 or 4 in the chat — we're using this again in a few minutes, and at the end.</a:t>
            </a:r>
            <a:endParaRPr lang="en-US" sz="1600" dirty="0"/>
          </a:p>
        </p:txBody>
      </p:sp>
      <p:sp>
        <p:nvSpPr>
          <p:cNvPr id="6" name="Shape 4"/>
          <p:cNvSpPr/>
          <p:nvPr/>
        </p:nvSpPr>
        <p:spPr>
          <a:xfrm>
            <a:off x="914400" y="4892040"/>
            <a:ext cx="2514600" cy="685800"/>
          </a:xfrm>
          <a:prstGeom prst="roundRect">
            <a:avLst>
              <a:gd name="adj" fmla="val 46667"/>
            </a:avLst>
          </a:prstGeom>
          <a:solidFill>
            <a:srgbClr val="24365C"/>
          </a:solidFill>
          <a:ln w="12700">
            <a:solidFill>
              <a:srgbClr val="C9A227"/>
            </a:solidFill>
            <a:prstDash val="solid"/>
          </a:ln>
        </p:spPr>
        <p:txBody>
          <a:bodyPr/>
          <a:lstStyle/>
          <a:p>
            <a:endParaRPr lang="en-SG"/>
          </a:p>
        </p:txBody>
      </p:sp>
      <p:sp>
        <p:nvSpPr>
          <p:cNvPr id="7" name="Text 5"/>
          <p:cNvSpPr txBox="1"/>
          <p:nvPr/>
        </p:nvSpPr>
        <p:spPr>
          <a:xfrm>
            <a:off x="914400" y="4892040"/>
            <a:ext cx="251460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  Stay-For-Free</a:t>
            </a:r>
            <a:endParaRPr lang="en-US" sz="1300" dirty="0"/>
          </a:p>
        </p:txBody>
      </p:sp>
      <p:sp>
        <p:nvSpPr>
          <p:cNvPr id="8" name="Shape 6"/>
          <p:cNvSpPr/>
          <p:nvPr/>
        </p:nvSpPr>
        <p:spPr>
          <a:xfrm>
            <a:off x="3566160" y="4892040"/>
            <a:ext cx="2514600" cy="685800"/>
          </a:xfrm>
          <a:prstGeom prst="roundRect">
            <a:avLst>
              <a:gd name="adj" fmla="val 46667"/>
            </a:avLst>
          </a:prstGeom>
          <a:solidFill>
            <a:srgbClr val="24365C"/>
          </a:solidFill>
          <a:ln w="12700">
            <a:solidFill>
              <a:srgbClr val="C9A227"/>
            </a:solidFill>
            <a:prstDash val="solid"/>
          </a:ln>
        </p:spPr>
        <p:txBody>
          <a:bodyPr/>
          <a:lstStyle/>
          <a:p>
            <a:endParaRPr lang="en-SG"/>
          </a:p>
        </p:txBody>
      </p:sp>
      <p:sp>
        <p:nvSpPr>
          <p:cNvPr id="9" name="Text 7"/>
          <p:cNvSpPr txBox="1"/>
          <p:nvPr/>
        </p:nvSpPr>
        <p:spPr>
          <a:xfrm>
            <a:off x="3566160" y="4892040"/>
            <a:ext cx="251460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  Pure Investment</a:t>
            </a:r>
            <a:endParaRPr lang="en-US" sz="1300" dirty="0"/>
          </a:p>
        </p:txBody>
      </p:sp>
      <p:sp>
        <p:nvSpPr>
          <p:cNvPr id="10" name="Shape 8"/>
          <p:cNvSpPr/>
          <p:nvPr/>
        </p:nvSpPr>
        <p:spPr>
          <a:xfrm>
            <a:off x="6217920" y="4892040"/>
            <a:ext cx="2514600" cy="685800"/>
          </a:xfrm>
          <a:prstGeom prst="roundRect">
            <a:avLst>
              <a:gd name="adj" fmla="val 46667"/>
            </a:avLst>
          </a:prstGeom>
          <a:solidFill>
            <a:srgbClr val="24365C"/>
          </a:solidFill>
          <a:ln w="12700">
            <a:solidFill>
              <a:srgbClr val="C9A227"/>
            </a:solidFill>
            <a:prstDash val="solid"/>
          </a:ln>
        </p:spPr>
        <p:txBody>
          <a:bodyPr/>
          <a:lstStyle/>
          <a:p>
            <a:endParaRPr lang="en-SG"/>
          </a:p>
        </p:txBody>
      </p:sp>
      <p:sp>
        <p:nvSpPr>
          <p:cNvPr id="11" name="Text 9"/>
          <p:cNvSpPr txBox="1"/>
          <p:nvPr/>
        </p:nvSpPr>
        <p:spPr>
          <a:xfrm>
            <a:off x="6217920" y="4892040"/>
            <a:ext cx="251460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  Kids / School</a:t>
            </a:r>
            <a:endParaRPr lang="en-US" sz="1300" dirty="0"/>
          </a:p>
        </p:txBody>
      </p:sp>
      <p:sp>
        <p:nvSpPr>
          <p:cNvPr id="12" name="Shape 10"/>
          <p:cNvSpPr/>
          <p:nvPr/>
        </p:nvSpPr>
        <p:spPr>
          <a:xfrm>
            <a:off x="8869680" y="4892040"/>
            <a:ext cx="2514600" cy="685800"/>
          </a:xfrm>
          <a:prstGeom prst="roundRect">
            <a:avLst>
              <a:gd name="adj" fmla="val 46667"/>
            </a:avLst>
          </a:prstGeom>
          <a:solidFill>
            <a:srgbClr val="24365C"/>
          </a:solidFill>
          <a:ln w="12700">
            <a:solidFill>
              <a:srgbClr val="C9A227"/>
            </a:solidFill>
            <a:prstDash val="solid"/>
          </a:ln>
        </p:spPr>
        <p:txBody>
          <a:bodyPr/>
          <a:lstStyle/>
          <a:p>
            <a:endParaRPr lang="en-SG"/>
          </a:p>
        </p:txBody>
      </p:sp>
      <p:sp>
        <p:nvSpPr>
          <p:cNvPr id="13" name="Text 11"/>
          <p:cNvSpPr txBox="1"/>
          <p:nvPr/>
        </p:nvSpPr>
        <p:spPr>
          <a:xfrm>
            <a:off x="8869680" y="4892040"/>
            <a:ext cx="251460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  Legacy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058400" cy="365760"/>
          </a:xfrm>
          <a:prstGeom prst="rect">
            <a:avLst/>
          </a:prstGeom>
          <a:noFill/>
          <a:ln/>
        </p:spPr>
        <p:txBody>
          <a:bodyPr wrap="square" lIns="0" tIns="0" rIns="0" bIns="0" rtlCol="0" anchor="ctr"/>
          <a:lstStyle/>
          <a:p>
            <a:pPr marL="0" indent="0">
              <a:buNone/>
            </a:pPr>
            <a:r>
              <a:rPr lang="en-US" sz="1200" b="1" kern="0" spc="200" dirty="0">
                <a:solidFill>
                  <a:srgbClr val="9E1B32"/>
                </a:solidFill>
                <a:latin typeface="Calibri" pitchFamily="34" charset="0"/>
                <a:ea typeface="Calibri" pitchFamily="34" charset="-122"/>
                <a:cs typeface="Calibri" pitchFamily="34" charset="-120"/>
              </a:rPr>
              <a:t>MODULE 5 · FIT</a:t>
            </a:r>
            <a:endParaRPr lang="en-US" sz="1200" dirty="0"/>
          </a:p>
        </p:txBody>
      </p:sp>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Thomson Reserve — Fast Facts</a:t>
            </a:r>
            <a:endParaRPr lang="en-US" sz="3000" dirty="0"/>
          </a:p>
        </p:txBody>
      </p:sp>
      <p:sp>
        <p:nvSpPr>
          <p:cNvPr id="4" name="Shape 2"/>
          <p:cNvSpPr/>
          <p:nvPr/>
        </p:nvSpPr>
        <p:spPr>
          <a:xfrm>
            <a:off x="640080" y="1920240"/>
            <a:ext cx="2542032" cy="1737360"/>
          </a:xfrm>
          <a:prstGeom prst="roundRect">
            <a:avLst>
              <a:gd name="adj" fmla="val 4211"/>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5" name="Text 3"/>
          <p:cNvSpPr txBox="1"/>
          <p:nvPr/>
        </p:nvSpPr>
        <p:spPr>
          <a:xfrm>
            <a:off x="822960" y="2121408"/>
            <a:ext cx="2194560" cy="365760"/>
          </a:xfrm>
          <a:prstGeom prst="rect">
            <a:avLst/>
          </a:prstGeom>
          <a:noFill/>
          <a:ln/>
        </p:spPr>
        <p:txBody>
          <a:bodyPr wrap="square" lIns="0" tIns="0" rIns="0" bIns="0" rtlCol="0" anchor="ctr"/>
          <a:lstStyle/>
          <a:p>
            <a:pPr marL="0" indent="0">
              <a:buNone/>
            </a:pPr>
            <a:r>
              <a:rPr lang="en-US" sz="1050" b="1" kern="0" spc="100" dirty="0">
                <a:solidFill>
                  <a:srgbClr val="9E1B32"/>
                </a:solidFill>
                <a:latin typeface="Calibri" pitchFamily="34" charset="0"/>
                <a:ea typeface="Calibri" pitchFamily="34" charset="-122"/>
                <a:cs typeface="Calibri" pitchFamily="34" charset="-120"/>
              </a:rPr>
              <a:t>DISTRICT</a:t>
            </a:r>
            <a:endParaRPr lang="en-US" sz="1050" dirty="0"/>
          </a:p>
        </p:txBody>
      </p:sp>
      <p:sp>
        <p:nvSpPr>
          <p:cNvPr id="6" name="Text 4"/>
          <p:cNvSpPr txBox="1"/>
          <p:nvPr/>
        </p:nvSpPr>
        <p:spPr>
          <a:xfrm>
            <a:off x="822960" y="2487168"/>
            <a:ext cx="2194560" cy="105156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20, Bright Hill Drive</a:t>
            </a:r>
            <a:endParaRPr lang="en-US" sz="1450" dirty="0"/>
          </a:p>
        </p:txBody>
      </p:sp>
      <p:sp>
        <p:nvSpPr>
          <p:cNvPr id="7" name="Shape 5"/>
          <p:cNvSpPr/>
          <p:nvPr/>
        </p:nvSpPr>
        <p:spPr>
          <a:xfrm>
            <a:off x="3364992" y="1920240"/>
            <a:ext cx="2542032" cy="1737360"/>
          </a:xfrm>
          <a:prstGeom prst="roundRect">
            <a:avLst>
              <a:gd name="adj" fmla="val 4211"/>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8" name="Text 6"/>
          <p:cNvSpPr txBox="1"/>
          <p:nvPr/>
        </p:nvSpPr>
        <p:spPr>
          <a:xfrm>
            <a:off x="3547872" y="2121408"/>
            <a:ext cx="2194560" cy="365760"/>
          </a:xfrm>
          <a:prstGeom prst="rect">
            <a:avLst/>
          </a:prstGeom>
          <a:noFill/>
          <a:ln/>
        </p:spPr>
        <p:txBody>
          <a:bodyPr wrap="square" lIns="0" tIns="0" rIns="0" bIns="0" rtlCol="0" anchor="ctr"/>
          <a:lstStyle/>
          <a:p>
            <a:pPr marL="0" indent="0">
              <a:buNone/>
            </a:pPr>
            <a:r>
              <a:rPr lang="en-US" sz="1050" b="1" kern="0" spc="100" dirty="0">
                <a:solidFill>
                  <a:srgbClr val="9E1B32"/>
                </a:solidFill>
                <a:latin typeface="Calibri" pitchFamily="34" charset="0"/>
                <a:ea typeface="Calibri" pitchFamily="34" charset="-122"/>
                <a:cs typeface="Calibri" pitchFamily="34" charset="-120"/>
              </a:rPr>
              <a:t>TENURE</a:t>
            </a:r>
            <a:endParaRPr lang="en-US" sz="1050" dirty="0"/>
          </a:p>
        </p:txBody>
      </p:sp>
      <p:sp>
        <p:nvSpPr>
          <p:cNvPr id="9" name="Text 7"/>
          <p:cNvSpPr txBox="1"/>
          <p:nvPr/>
        </p:nvSpPr>
        <p:spPr>
          <a:xfrm>
            <a:off x="3547872" y="2487168"/>
            <a:ext cx="2194560" cy="105156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99-year lease</a:t>
            </a:r>
            <a:endParaRPr lang="en-US" sz="1450" dirty="0"/>
          </a:p>
        </p:txBody>
      </p:sp>
      <p:sp>
        <p:nvSpPr>
          <p:cNvPr id="10" name="Shape 8"/>
          <p:cNvSpPr/>
          <p:nvPr/>
        </p:nvSpPr>
        <p:spPr>
          <a:xfrm>
            <a:off x="6089904" y="1920240"/>
            <a:ext cx="2542032" cy="1737360"/>
          </a:xfrm>
          <a:prstGeom prst="roundRect">
            <a:avLst>
              <a:gd name="adj" fmla="val 4211"/>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11" name="Text 9"/>
          <p:cNvSpPr txBox="1"/>
          <p:nvPr/>
        </p:nvSpPr>
        <p:spPr>
          <a:xfrm>
            <a:off x="6272784" y="2121408"/>
            <a:ext cx="2194560" cy="365760"/>
          </a:xfrm>
          <a:prstGeom prst="rect">
            <a:avLst/>
          </a:prstGeom>
          <a:noFill/>
          <a:ln/>
        </p:spPr>
        <p:txBody>
          <a:bodyPr wrap="square" lIns="0" tIns="0" rIns="0" bIns="0" rtlCol="0" anchor="ctr"/>
          <a:lstStyle/>
          <a:p>
            <a:pPr marL="0" indent="0">
              <a:buNone/>
            </a:pPr>
            <a:r>
              <a:rPr lang="en-US" sz="1050" b="1" kern="0" spc="100" dirty="0">
                <a:solidFill>
                  <a:srgbClr val="9E1B32"/>
                </a:solidFill>
                <a:latin typeface="Calibri" pitchFamily="34" charset="0"/>
                <a:ea typeface="Calibri" pitchFamily="34" charset="-122"/>
                <a:cs typeface="Calibri" pitchFamily="34" charset="-120"/>
              </a:rPr>
              <a:t>SCALE</a:t>
            </a:r>
            <a:endParaRPr lang="en-US" sz="1050" dirty="0"/>
          </a:p>
        </p:txBody>
      </p:sp>
      <p:sp>
        <p:nvSpPr>
          <p:cNvPr id="12" name="Text 10"/>
          <p:cNvSpPr txBox="1"/>
          <p:nvPr/>
        </p:nvSpPr>
        <p:spPr>
          <a:xfrm>
            <a:off x="6272784" y="2487168"/>
            <a:ext cx="2194560" cy="105156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1,268 units · 6 towers</a:t>
            </a:r>
            <a:endParaRPr lang="en-US" sz="1450" dirty="0"/>
          </a:p>
        </p:txBody>
      </p:sp>
      <p:sp>
        <p:nvSpPr>
          <p:cNvPr id="13" name="Shape 11"/>
          <p:cNvSpPr/>
          <p:nvPr/>
        </p:nvSpPr>
        <p:spPr>
          <a:xfrm>
            <a:off x="8814816" y="1920240"/>
            <a:ext cx="2542032" cy="1737360"/>
          </a:xfrm>
          <a:prstGeom prst="roundRect">
            <a:avLst>
              <a:gd name="adj" fmla="val 4211"/>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14" name="Text 12"/>
          <p:cNvSpPr txBox="1"/>
          <p:nvPr/>
        </p:nvSpPr>
        <p:spPr>
          <a:xfrm>
            <a:off x="8997696" y="2121408"/>
            <a:ext cx="2194560" cy="365760"/>
          </a:xfrm>
          <a:prstGeom prst="rect">
            <a:avLst/>
          </a:prstGeom>
          <a:noFill/>
          <a:ln/>
        </p:spPr>
        <p:txBody>
          <a:bodyPr wrap="square" lIns="0" tIns="0" rIns="0" bIns="0" rtlCol="0" anchor="ctr"/>
          <a:lstStyle/>
          <a:p>
            <a:pPr marL="0" indent="0">
              <a:buNone/>
            </a:pPr>
            <a:r>
              <a:rPr lang="en-US" sz="1050" b="1" kern="0" spc="100" dirty="0">
                <a:solidFill>
                  <a:srgbClr val="9E1B32"/>
                </a:solidFill>
                <a:latin typeface="Calibri" pitchFamily="34" charset="0"/>
                <a:ea typeface="Calibri" pitchFamily="34" charset="-122"/>
                <a:cs typeface="Calibri" pitchFamily="34" charset="-120"/>
              </a:rPr>
              <a:t>DEVELOPER</a:t>
            </a:r>
            <a:endParaRPr lang="en-US" sz="1050" dirty="0"/>
          </a:p>
        </p:txBody>
      </p:sp>
      <p:sp>
        <p:nvSpPr>
          <p:cNvPr id="15" name="Text 13"/>
          <p:cNvSpPr txBox="1"/>
          <p:nvPr/>
        </p:nvSpPr>
        <p:spPr>
          <a:xfrm>
            <a:off x="8997696" y="2487168"/>
            <a:ext cx="2194560" cy="105156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JV of 3 established developers</a:t>
            </a:r>
            <a:endParaRPr lang="en-US" sz="1450" dirty="0"/>
          </a:p>
        </p:txBody>
      </p:sp>
      <p:sp>
        <p:nvSpPr>
          <p:cNvPr id="16" name="Shape 14"/>
          <p:cNvSpPr/>
          <p:nvPr/>
        </p:nvSpPr>
        <p:spPr>
          <a:xfrm>
            <a:off x="640080" y="3886200"/>
            <a:ext cx="2542032" cy="1737360"/>
          </a:xfrm>
          <a:prstGeom prst="roundRect">
            <a:avLst>
              <a:gd name="adj" fmla="val 4211"/>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17" name="Text 15"/>
          <p:cNvSpPr txBox="1"/>
          <p:nvPr/>
        </p:nvSpPr>
        <p:spPr>
          <a:xfrm>
            <a:off x="822960" y="4087368"/>
            <a:ext cx="2194560" cy="365760"/>
          </a:xfrm>
          <a:prstGeom prst="rect">
            <a:avLst/>
          </a:prstGeom>
          <a:noFill/>
          <a:ln/>
        </p:spPr>
        <p:txBody>
          <a:bodyPr wrap="square" lIns="0" tIns="0" rIns="0" bIns="0" rtlCol="0" anchor="ctr"/>
          <a:lstStyle/>
          <a:p>
            <a:pPr marL="0" indent="0">
              <a:buNone/>
            </a:pPr>
            <a:r>
              <a:rPr lang="en-US" sz="1050" b="1" kern="0" spc="100" dirty="0">
                <a:solidFill>
                  <a:srgbClr val="9E1B32"/>
                </a:solidFill>
                <a:latin typeface="Calibri" pitchFamily="34" charset="0"/>
                <a:ea typeface="Calibri" pitchFamily="34" charset="-122"/>
                <a:cs typeface="Calibri" pitchFamily="34" charset="-120"/>
              </a:rPr>
              <a:t>MRT</a:t>
            </a:r>
            <a:endParaRPr lang="en-US" sz="1050" dirty="0"/>
          </a:p>
        </p:txBody>
      </p:sp>
      <p:sp>
        <p:nvSpPr>
          <p:cNvPr id="18" name="Text 16"/>
          <p:cNvSpPr txBox="1"/>
          <p:nvPr/>
        </p:nvSpPr>
        <p:spPr>
          <a:xfrm>
            <a:off x="822960" y="4453128"/>
            <a:ext cx="2194560" cy="105156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Direct link, Upper Thomson</a:t>
            </a:r>
            <a:endParaRPr lang="en-US" sz="1450" dirty="0"/>
          </a:p>
        </p:txBody>
      </p:sp>
      <p:sp>
        <p:nvSpPr>
          <p:cNvPr id="19" name="Shape 17"/>
          <p:cNvSpPr/>
          <p:nvPr/>
        </p:nvSpPr>
        <p:spPr>
          <a:xfrm>
            <a:off x="3364992" y="3886200"/>
            <a:ext cx="2542032" cy="1737360"/>
          </a:xfrm>
          <a:prstGeom prst="roundRect">
            <a:avLst>
              <a:gd name="adj" fmla="val 4211"/>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20" name="Text 18"/>
          <p:cNvSpPr txBox="1"/>
          <p:nvPr/>
        </p:nvSpPr>
        <p:spPr>
          <a:xfrm>
            <a:off x="3547872" y="4087368"/>
            <a:ext cx="2194560" cy="365760"/>
          </a:xfrm>
          <a:prstGeom prst="rect">
            <a:avLst/>
          </a:prstGeom>
          <a:noFill/>
          <a:ln/>
        </p:spPr>
        <p:txBody>
          <a:bodyPr wrap="square" lIns="0" tIns="0" rIns="0" bIns="0" rtlCol="0" anchor="ctr"/>
          <a:lstStyle/>
          <a:p>
            <a:pPr marL="0" indent="0">
              <a:buNone/>
            </a:pPr>
            <a:r>
              <a:rPr lang="en-US" sz="1050" b="1" kern="0" spc="100" dirty="0">
                <a:solidFill>
                  <a:srgbClr val="9E1B32"/>
                </a:solidFill>
                <a:latin typeface="Calibri" pitchFamily="34" charset="0"/>
                <a:ea typeface="Calibri" pitchFamily="34" charset="-122"/>
                <a:cs typeface="Calibri" pitchFamily="34" charset="-120"/>
              </a:rPr>
              <a:t>SCHOOL</a:t>
            </a:r>
            <a:endParaRPr lang="en-US" sz="1050" dirty="0"/>
          </a:p>
        </p:txBody>
      </p:sp>
      <p:sp>
        <p:nvSpPr>
          <p:cNvPr id="21" name="Text 19"/>
          <p:cNvSpPr txBox="1"/>
          <p:nvPr/>
        </p:nvSpPr>
        <p:spPr>
          <a:xfrm>
            <a:off x="3547872" y="4453128"/>
            <a:ext cx="2194560" cy="105156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Inside priority radius</a:t>
            </a:r>
            <a:endParaRPr lang="en-US" sz="1450" dirty="0"/>
          </a:p>
        </p:txBody>
      </p:sp>
      <p:sp>
        <p:nvSpPr>
          <p:cNvPr id="22" name="Shape 20"/>
          <p:cNvSpPr/>
          <p:nvPr/>
        </p:nvSpPr>
        <p:spPr>
          <a:xfrm>
            <a:off x="6089904" y="3886200"/>
            <a:ext cx="2542032" cy="1737360"/>
          </a:xfrm>
          <a:prstGeom prst="roundRect">
            <a:avLst>
              <a:gd name="adj" fmla="val 4211"/>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23" name="Text 21"/>
          <p:cNvSpPr txBox="1"/>
          <p:nvPr/>
        </p:nvSpPr>
        <p:spPr>
          <a:xfrm>
            <a:off x="6272784" y="4087368"/>
            <a:ext cx="2194560" cy="365760"/>
          </a:xfrm>
          <a:prstGeom prst="rect">
            <a:avLst/>
          </a:prstGeom>
          <a:noFill/>
          <a:ln/>
        </p:spPr>
        <p:txBody>
          <a:bodyPr wrap="square" lIns="0" tIns="0" rIns="0" bIns="0" rtlCol="0" anchor="ctr"/>
          <a:lstStyle/>
          <a:p>
            <a:pPr marL="0" indent="0">
              <a:buNone/>
            </a:pPr>
            <a:r>
              <a:rPr lang="en-US" sz="1050" b="1" kern="0" spc="100" dirty="0">
                <a:solidFill>
                  <a:srgbClr val="9E1B32"/>
                </a:solidFill>
                <a:latin typeface="Calibri" pitchFamily="34" charset="0"/>
                <a:ea typeface="Calibri" pitchFamily="34" charset="-122"/>
                <a:cs typeface="Calibri" pitchFamily="34" charset="-120"/>
              </a:rPr>
              <a:t>LAND COST</a:t>
            </a:r>
            <a:endParaRPr lang="en-US" sz="1050" dirty="0"/>
          </a:p>
        </p:txBody>
      </p:sp>
      <p:sp>
        <p:nvSpPr>
          <p:cNvPr id="24" name="Text 22"/>
          <p:cNvSpPr txBox="1"/>
          <p:nvPr/>
        </p:nvSpPr>
        <p:spPr>
          <a:xfrm>
            <a:off x="6272784" y="4453128"/>
            <a:ext cx="2194560" cy="105156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$1,178 psf ppr (disclosed)</a:t>
            </a:r>
            <a:endParaRPr lang="en-US" sz="1450" dirty="0"/>
          </a:p>
        </p:txBody>
      </p:sp>
      <p:sp>
        <p:nvSpPr>
          <p:cNvPr id="25" name="Shape 23"/>
          <p:cNvSpPr/>
          <p:nvPr/>
        </p:nvSpPr>
        <p:spPr>
          <a:xfrm>
            <a:off x="8814816" y="3886200"/>
            <a:ext cx="2542032" cy="1737360"/>
          </a:xfrm>
          <a:prstGeom prst="roundRect">
            <a:avLst>
              <a:gd name="adj" fmla="val 4211"/>
            </a:avLst>
          </a:prstGeom>
          <a:solidFill>
            <a:srgbClr val="9E1B32"/>
          </a:solidFill>
          <a:ln/>
          <a:effectLst>
            <a:outerShdw blurRad="101600" dist="38100" dir="5400000" algn="bl" rotWithShape="0">
              <a:srgbClr val="000000">
                <a:alpha val="18000"/>
              </a:srgbClr>
            </a:outerShdw>
          </a:effectLst>
        </p:spPr>
        <p:txBody>
          <a:bodyPr/>
          <a:lstStyle/>
          <a:p>
            <a:endParaRPr lang="en-SG"/>
          </a:p>
        </p:txBody>
      </p:sp>
      <p:sp>
        <p:nvSpPr>
          <p:cNvPr id="26" name="Text 24"/>
          <p:cNvSpPr txBox="1"/>
          <p:nvPr/>
        </p:nvSpPr>
        <p:spPr>
          <a:xfrm>
            <a:off x="8997696" y="4087368"/>
            <a:ext cx="2194560" cy="365760"/>
          </a:xfrm>
          <a:prstGeom prst="rect">
            <a:avLst/>
          </a:prstGeom>
          <a:noFill/>
          <a:ln/>
        </p:spPr>
        <p:txBody>
          <a:bodyPr wrap="square" lIns="0" tIns="0" rIns="0" bIns="0" rtlCol="0" anchor="ctr"/>
          <a:lstStyle/>
          <a:p>
            <a:pPr marL="0" indent="0">
              <a:buNone/>
            </a:pPr>
            <a:r>
              <a:rPr lang="en-US" sz="1050" b="1" kern="0" spc="100" dirty="0">
                <a:solidFill>
                  <a:srgbClr val="F6D9DD"/>
                </a:solidFill>
                <a:latin typeface="Calibri" pitchFamily="34" charset="0"/>
                <a:ea typeface="Calibri" pitchFamily="34" charset="-122"/>
                <a:cs typeface="Calibri" pitchFamily="34" charset="-120"/>
              </a:rPr>
              <a:t>PRICE LIST</a:t>
            </a:r>
            <a:endParaRPr lang="en-US" sz="1050" dirty="0"/>
          </a:p>
        </p:txBody>
      </p:sp>
      <p:sp>
        <p:nvSpPr>
          <p:cNvPr id="27" name="Text 25"/>
          <p:cNvSpPr txBox="1"/>
          <p:nvPr/>
        </p:nvSpPr>
        <p:spPr>
          <a:xfrm>
            <a:off x="8997696" y="4453128"/>
            <a:ext cx="2194560" cy="105156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Not yet released</a:t>
            </a:r>
            <a:endParaRPr lang="en-US" sz="1450" dirty="0"/>
          </a:p>
        </p:txBody>
      </p:sp>
      <p:sp>
        <p:nvSpPr>
          <p:cNvPr id="28" name="Text 26"/>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2286000" y="4389120"/>
            <a:ext cx="5486400" cy="5486400"/>
          </a:xfrm>
          <a:prstGeom prst="ellipse">
            <a:avLst/>
          </a:prstGeom>
          <a:solidFill>
            <a:srgbClr val="121D33"/>
          </a:solidFill>
          <a:ln/>
        </p:spPr>
        <p:txBody>
          <a:bodyPr/>
          <a:lstStyle/>
          <a:p>
            <a:endParaRPr lang="en-SG"/>
          </a:p>
        </p:txBody>
      </p:sp>
      <p:sp>
        <p:nvSpPr>
          <p:cNvPr id="3" name="Text 1"/>
          <p:cNvSpPr txBox="1"/>
          <p:nvPr/>
        </p:nvSpPr>
        <p:spPr>
          <a:xfrm>
            <a:off x="914400" y="2331720"/>
            <a:ext cx="10332720" cy="457200"/>
          </a:xfrm>
          <a:prstGeom prst="rect">
            <a:avLst/>
          </a:prstGeom>
          <a:noFill/>
          <a:ln/>
        </p:spPr>
        <p:txBody>
          <a:bodyPr wrap="square" lIns="0" tIns="0" rIns="0" bIns="0" rtlCol="0" anchor="ctr"/>
          <a:lstStyle/>
          <a:p>
            <a:pPr marL="0" indent="0" algn="l">
              <a:buNone/>
            </a:pPr>
            <a:r>
              <a:rPr lang="en-US" sz="1400" b="1" kern="0" spc="300" dirty="0">
                <a:solidFill>
                  <a:srgbClr val="C9A227"/>
                </a:solidFill>
                <a:latin typeface="Calibri" pitchFamily="34" charset="0"/>
                <a:ea typeface="Calibri" pitchFamily="34" charset="-122"/>
                <a:cs typeface="Calibri" pitchFamily="34" charset="-120"/>
              </a:rPr>
              <a:t>LIVE BUILD</a:t>
            </a:r>
            <a:endParaRPr lang="en-US" sz="1400" dirty="0"/>
          </a:p>
        </p:txBody>
      </p:sp>
      <p:sp>
        <p:nvSpPr>
          <p:cNvPr id="4" name="Text 2"/>
          <p:cNvSpPr txBox="1"/>
          <p:nvPr/>
        </p:nvSpPr>
        <p:spPr>
          <a:xfrm>
            <a:off x="914400" y="2788920"/>
            <a:ext cx="10332720" cy="1737360"/>
          </a:xfrm>
          <a:prstGeom prst="rect">
            <a:avLst/>
          </a:prstGeom>
          <a:noFill/>
          <a:ln/>
        </p:spPr>
        <p:txBody>
          <a:bodyPr wrap="square" lIns="0" tIns="0" rIns="0" bIns="0" rtlCol="0" anchor="ctr"/>
          <a:lstStyle/>
          <a:p>
            <a:pPr marL="0" indent="0">
              <a:lnSpc>
                <a:spcPct val="105000"/>
              </a:lnSpc>
              <a:buNone/>
            </a:pPr>
            <a:r>
              <a:rPr lang="en-US" sz="3400" b="1" dirty="0">
                <a:solidFill>
                  <a:srgbClr val="FFFFFF"/>
                </a:solidFill>
                <a:latin typeface="Cambria" pitchFamily="34" charset="0"/>
                <a:ea typeface="Cambria" pitchFamily="34" charset="-122"/>
                <a:cs typeface="Cambria" pitchFamily="34" charset="-120"/>
              </a:rPr>
              <a:t>Let's Build The Actual Number.</a:t>
            </a:r>
            <a:endParaRPr lang="en-US" sz="3400" dirty="0"/>
          </a:p>
          <a:p>
            <a:pPr marL="0" indent="0">
              <a:lnSpc>
                <a:spcPct val="105000"/>
              </a:lnSpc>
              <a:buNone/>
            </a:pPr>
            <a:r>
              <a:rPr lang="en-US" sz="3400" b="1" dirty="0">
                <a:solidFill>
                  <a:srgbClr val="FFFFFF"/>
                </a:solidFill>
                <a:latin typeface="Cambria" pitchFamily="34" charset="0"/>
                <a:ea typeface="Cambria" pitchFamily="34" charset="-122"/>
                <a:cs typeface="Cambria" pitchFamily="34" charset="-120"/>
              </a:rPr>
              <a:t>Live.</a:t>
            </a:r>
            <a:endParaRPr lang="en-US" sz="3400" dirty="0"/>
          </a:p>
        </p:txBody>
      </p:sp>
      <p:sp>
        <p:nvSpPr>
          <p:cNvPr id="5" name="Text 3"/>
          <p:cNvSpPr txBox="1"/>
          <p:nvPr/>
        </p:nvSpPr>
        <p:spPr>
          <a:xfrm>
            <a:off x="914400" y="4480560"/>
            <a:ext cx="9692640" cy="731520"/>
          </a:xfrm>
          <a:prstGeom prst="rect">
            <a:avLst/>
          </a:prstGeom>
          <a:noFill/>
          <a:ln/>
        </p:spPr>
        <p:txBody>
          <a:bodyPr wrap="square" lIns="0" tIns="0" rIns="0" bIns="0" rtlCol="0" anchor="ctr"/>
          <a:lstStyle/>
          <a:p>
            <a:pPr marL="0" indent="0">
              <a:buNone/>
            </a:pPr>
            <a:r>
              <a:rPr lang="en-US" sz="1600" dirty="0">
                <a:solidFill>
                  <a:srgbClr val="D7DCE8"/>
                </a:solidFill>
                <a:latin typeface="Calibri" pitchFamily="34" charset="0"/>
                <a:ea typeface="Calibri" pitchFamily="34" charset="-122"/>
                <a:cs typeface="Calibri" pitchFamily="34" charset="-120"/>
              </a:rPr>
              <a:t>Not describe the process — run it. Land, Expenses, Profit, Benchmark.</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058400" cy="365760"/>
          </a:xfrm>
          <a:prstGeom prst="rect">
            <a:avLst/>
          </a:prstGeom>
          <a:noFill/>
          <a:ln/>
        </p:spPr>
        <p:txBody>
          <a:bodyPr wrap="square" lIns="0" tIns="0" rIns="0" bIns="0" rtlCol="0" anchor="ctr"/>
          <a:lstStyle/>
          <a:p>
            <a:pPr marL="0" indent="0">
              <a:buNone/>
            </a:pPr>
            <a:r>
              <a:rPr lang="en-US" sz="1200" b="1" kern="0" spc="200" dirty="0">
                <a:solidFill>
                  <a:srgbClr val="9E1B32"/>
                </a:solidFill>
                <a:latin typeface="Calibri" pitchFamily="34" charset="0"/>
                <a:ea typeface="Calibri" pitchFamily="34" charset="-122"/>
                <a:cs typeface="Calibri" pitchFamily="34" charset="-120"/>
              </a:rPr>
              <a:t>MODULE 5 · THE 4 FACTORS</a:t>
            </a:r>
            <a:endParaRPr lang="en-US" sz="1200" dirty="0"/>
          </a:p>
        </p:txBody>
      </p:sp>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Fair Price — Built Live</a:t>
            </a:r>
            <a:endParaRPr lang="en-US" sz="3000" dirty="0"/>
          </a:p>
        </p:txBody>
      </p:sp>
      <p:sp>
        <p:nvSpPr>
          <p:cNvPr id="4" name="Shape 2"/>
          <p:cNvSpPr/>
          <p:nvPr/>
        </p:nvSpPr>
        <p:spPr>
          <a:xfrm>
            <a:off x="640080" y="1874520"/>
            <a:ext cx="10881360" cy="960120"/>
          </a:xfrm>
          <a:prstGeom prst="roundRect">
            <a:avLst>
              <a:gd name="adj" fmla="val 7619"/>
            </a:avLst>
          </a:prstGeom>
          <a:solidFill>
            <a:srgbClr val="1B2A4A"/>
          </a:solidFill>
          <a:ln/>
          <a:effectLst>
            <a:outerShdw blurRad="101600" dist="38100" dir="5400000" algn="bl" rotWithShape="0">
              <a:srgbClr val="000000">
                <a:alpha val="18000"/>
              </a:srgbClr>
            </a:outerShdw>
          </a:effectLst>
        </p:spPr>
        <p:txBody>
          <a:bodyPr/>
          <a:lstStyle/>
          <a:p>
            <a:endParaRPr lang="en-SG"/>
          </a:p>
        </p:txBody>
      </p:sp>
      <p:sp>
        <p:nvSpPr>
          <p:cNvPr id="5" name="Text 3"/>
          <p:cNvSpPr txBox="1"/>
          <p:nvPr/>
        </p:nvSpPr>
        <p:spPr>
          <a:xfrm>
            <a:off x="868680" y="1874520"/>
            <a:ext cx="2103120" cy="960120"/>
          </a:xfrm>
          <a:prstGeom prst="rect">
            <a:avLst/>
          </a:prstGeom>
          <a:noFill/>
          <a:ln/>
        </p:spPr>
        <p:txBody>
          <a:bodyPr wrap="square" lIns="0" tIns="0" rIns="0" bIns="0" rtlCol="0" anchor="ctr"/>
          <a:lstStyle/>
          <a:p>
            <a:pPr marL="0" indent="0">
              <a:buNone/>
            </a:pPr>
            <a:r>
              <a:rPr lang="en-US" sz="1600" b="1" dirty="0">
                <a:solidFill>
                  <a:srgbClr val="C9A227"/>
                </a:solidFill>
                <a:latin typeface="Cambria" pitchFamily="34" charset="0"/>
                <a:ea typeface="Cambria" pitchFamily="34" charset="-122"/>
                <a:cs typeface="Cambria" pitchFamily="34" charset="-120"/>
              </a:rPr>
              <a:t>LAND</a:t>
            </a:r>
            <a:endParaRPr lang="en-US" sz="1600" dirty="0"/>
          </a:p>
        </p:txBody>
      </p:sp>
      <p:sp>
        <p:nvSpPr>
          <p:cNvPr id="6" name="Text 4"/>
          <p:cNvSpPr txBox="1"/>
          <p:nvPr/>
        </p:nvSpPr>
        <p:spPr>
          <a:xfrm>
            <a:off x="3017520" y="1874520"/>
            <a:ext cx="3566160" cy="96012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$1,178 psf ppr</a:t>
            </a:r>
            <a:endParaRPr lang="en-US" sz="1450" dirty="0"/>
          </a:p>
        </p:txBody>
      </p:sp>
      <p:sp>
        <p:nvSpPr>
          <p:cNvPr id="7" name="Text 5"/>
          <p:cNvSpPr txBox="1"/>
          <p:nvPr/>
        </p:nvSpPr>
        <p:spPr>
          <a:xfrm>
            <a:off x="6675120" y="1874520"/>
            <a:ext cx="4663440" cy="960120"/>
          </a:xfrm>
          <a:prstGeom prst="rect">
            <a:avLst/>
          </a:prstGeom>
          <a:noFill/>
          <a:ln/>
        </p:spPr>
        <p:txBody>
          <a:bodyPr wrap="square" lIns="0" tIns="0" rIns="0" bIns="0" rtlCol="0" anchor="ctr"/>
          <a:lstStyle/>
          <a:p>
            <a:pPr marL="0" indent="0">
              <a:buNone/>
            </a:pPr>
            <a:r>
              <a:rPr lang="en-US" sz="1200" dirty="0">
                <a:solidFill>
                  <a:srgbClr val="D7DCE8"/>
                </a:solidFill>
                <a:latin typeface="Calibri" pitchFamily="34" charset="0"/>
                <a:ea typeface="Calibri" pitchFamily="34" charset="-122"/>
                <a:cs typeface="Calibri" pitchFamily="34" charset="-120"/>
              </a:rPr>
              <a:t>Reasonable vs. recent nearby land sales.</a:t>
            </a:r>
            <a:endParaRPr lang="en-US" sz="1200" dirty="0"/>
          </a:p>
        </p:txBody>
      </p:sp>
      <p:sp>
        <p:nvSpPr>
          <p:cNvPr id="8" name="Shape 6"/>
          <p:cNvSpPr/>
          <p:nvPr/>
        </p:nvSpPr>
        <p:spPr>
          <a:xfrm>
            <a:off x="640080" y="2990088"/>
            <a:ext cx="10881360" cy="960120"/>
          </a:xfrm>
          <a:prstGeom prst="roundRect">
            <a:avLst>
              <a:gd name="adj" fmla="val 7619"/>
            </a:avLst>
          </a:prstGeom>
          <a:solidFill>
            <a:srgbClr val="FAFAFB"/>
          </a:solidFill>
          <a:ln/>
        </p:spPr>
        <p:txBody>
          <a:bodyPr/>
          <a:lstStyle/>
          <a:p>
            <a:endParaRPr lang="en-SG"/>
          </a:p>
        </p:txBody>
      </p:sp>
      <p:sp>
        <p:nvSpPr>
          <p:cNvPr id="9" name="Text 7"/>
          <p:cNvSpPr txBox="1"/>
          <p:nvPr/>
        </p:nvSpPr>
        <p:spPr>
          <a:xfrm>
            <a:off x="868680" y="2990088"/>
            <a:ext cx="2103120" cy="960120"/>
          </a:xfrm>
          <a:prstGeom prst="rect">
            <a:avLst/>
          </a:prstGeom>
          <a:noFill/>
          <a:ln/>
        </p:spPr>
        <p:txBody>
          <a:bodyPr wrap="square" lIns="0" tIns="0" rIns="0" bIns="0" rtlCol="0" anchor="ctr"/>
          <a:lstStyle/>
          <a:p>
            <a:pPr marL="0" indent="0">
              <a:buNone/>
            </a:pPr>
            <a:r>
              <a:rPr lang="en-US" sz="1600" b="1" dirty="0">
                <a:solidFill>
                  <a:srgbClr val="C7CCD6"/>
                </a:solidFill>
                <a:latin typeface="Cambria" pitchFamily="34" charset="0"/>
                <a:ea typeface="Cambria" pitchFamily="34" charset="-122"/>
                <a:cs typeface="Cambria" pitchFamily="34" charset="-120"/>
              </a:rPr>
              <a:t>EXPENSES</a:t>
            </a:r>
            <a:endParaRPr lang="en-US" sz="1600" dirty="0"/>
          </a:p>
        </p:txBody>
      </p:sp>
      <p:sp>
        <p:nvSpPr>
          <p:cNvPr id="10" name="Text 8"/>
          <p:cNvSpPr txBox="1"/>
          <p:nvPr/>
        </p:nvSpPr>
        <p:spPr>
          <a:xfrm>
            <a:off x="3017520" y="2990088"/>
            <a:ext cx="3566160" cy="960120"/>
          </a:xfrm>
          <a:prstGeom prst="rect">
            <a:avLst/>
          </a:prstGeom>
          <a:noFill/>
          <a:ln/>
        </p:spPr>
        <p:txBody>
          <a:bodyPr wrap="square" lIns="0" tIns="0" rIns="0" bIns="0" rtlCol="0" anchor="ctr"/>
          <a:lstStyle/>
          <a:p>
            <a:pPr marL="0" indent="0">
              <a:buNone/>
            </a:pPr>
            <a:r>
              <a:rPr lang="en-US" sz="1450" b="1" dirty="0">
                <a:solidFill>
                  <a:srgbClr val="D3D6DC"/>
                </a:solidFill>
                <a:latin typeface="Calibri" pitchFamily="34" charset="0"/>
                <a:ea typeface="Calibri" pitchFamily="34" charset="-122"/>
                <a:cs typeface="Calibri" pitchFamily="34" charset="-120"/>
              </a:rPr>
              <a:t>Not disclosed yet</a:t>
            </a:r>
            <a:endParaRPr lang="en-US" sz="1450" dirty="0"/>
          </a:p>
        </p:txBody>
      </p:sp>
      <p:sp>
        <p:nvSpPr>
          <p:cNvPr id="11" name="Text 9"/>
          <p:cNvSpPr txBox="1"/>
          <p:nvPr/>
        </p:nvSpPr>
        <p:spPr>
          <a:xfrm>
            <a:off x="6675120" y="2990088"/>
            <a:ext cx="4663440" cy="960120"/>
          </a:xfrm>
          <a:prstGeom prst="rect">
            <a:avLst/>
          </a:prstGeom>
          <a:noFill/>
          <a:ln/>
        </p:spPr>
        <p:txBody>
          <a:bodyPr wrap="square" lIns="0" tIns="0" rIns="0" bIns="0" rtlCol="0" anchor="ctr"/>
          <a:lstStyle/>
          <a:p>
            <a:pPr marL="0" indent="0">
              <a:buNone/>
            </a:pPr>
            <a:r>
              <a:rPr lang="en-US" sz="1200" dirty="0">
                <a:solidFill>
                  <a:srgbClr val="D3D6DC"/>
                </a:solidFill>
                <a:latin typeface="Calibri" pitchFamily="34" charset="0"/>
                <a:ea typeface="Calibri" pitchFamily="34" charset="-122"/>
                <a:cs typeface="Calibri" pitchFamily="34" charset="-120"/>
              </a:rPr>
              <a:t>Construction, financing, marketing — normal at this stage.</a:t>
            </a:r>
            <a:endParaRPr lang="en-US" sz="1200" dirty="0"/>
          </a:p>
        </p:txBody>
      </p:sp>
      <p:sp>
        <p:nvSpPr>
          <p:cNvPr id="12" name="Shape 10"/>
          <p:cNvSpPr/>
          <p:nvPr/>
        </p:nvSpPr>
        <p:spPr>
          <a:xfrm>
            <a:off x="640080" y="4105656"/>
            <a:ext cx="10881360" cy="960120"/>
          </a:xfrm>
          <a:prstGeom prst="roundRect">
            <a:avLst>
              <a:gd name="adj" fmla="val 7619"/>
            </a:avLst>
          </a:prstGeom>
          <a:solidFill>
            <a:srgbClr val="FAFAFB"/>
          </a:solidFill>
          <a:ln/>
        </p:spPr>
        <p:txBody>
          <a:bodyPr/>
          <a:lstStyle/>
          <a:p>
            <a:endParaRPr lang="en-SG"/>
          </a:p>
        </p:txBody>
      </p:sp>
      <p:sp>
        <p:nvSpPr>
          <p:cNvPr id="13" name="Text 11"/>
          <p:cNvSpPr txBox="1"/>
          <p:nvPr/>
        </p:nvSpPr>
        <p:spPr>
          <a:xfrm>
            <a:off x="868680" y="4105656"/>
            <a:ext cx="2103120" cy="960120"/>
          </a:xfrm>
          <a:prstGeom prst="rect">
            <a:avLst/>
          </a:prstGeom>
          <a:noFill/>
          <a:ln/>
        </p:spPr>
        <p:txBody>
          <a:bodyPr wrap="square" lIns="0" tIns="0" rIns="0" bIns="0" rtlCol="0" anchor="ctr"/>
          <a:lstStyle/>
          <a:p>
            <a:pPr marL="0" indent="0">
              <a:buNone/>
            </a:pPr>
            <a:r>
              <a:rPr lang="en-US" sz="1600" b="1" dirty="0">
                <a:solidFill>
                  <a:srgbClr val="C7CCD6"/>
                </a:solidFill>
                <a:latin typeface="Cambria" pitchFamily="34" charset="0"/>
                <a:ea typeface="Cambria" pitchFamily="34" charset="-122"/>
                <a:cs typeface="Cambria" pitchFamily="34" charset="-120"/>
              </a:rPr>
              <a:t>PROFIT</a:t>
            </a:r>
            <a:endParaRPr lang="en-US" sz="1600" dirty="0"/>
          </a:p>
        </p:txBody>
      </p:sp>
      <p:sp>
        <p:nvSpPr>
          <p:cNvPr id="14" name="Text 12"/>
          <p:cNvSpPr txBox="1"/>
          <p:nvPr/>
        </p:nvSpPr>
        <p:spPr>
          <a:xfrm>
            <a:off x="3017520" y="4105656"/>
            <a:ext cx="3566160" cy="960120"/>
          </a:xfrm>
          <a:prstGeom prst="rect">
            <a:avLst/>
          </a:prstGeom>
          <a:noFill/>
          <a:ln/>
        </p:spPr>
        <p:txBody>
          <a:bodyPr wrap="square" lIns="0" tIns="0" rIns="0" bIns="0" rtlCol="0" anchor="ctr"/>
          <a:lstStyle/>
          <a:p>
            <a:pPr marL="0" indent="0">
              <a:buNone/>
            </a:pPr>
            <a:r>
              <a:rPr lang="en-US" sz="1450" b="1" dirty="0">
                <a:solidFill>
                  <a:srgbClr val="D3D6DC"/>
                </a:solidFill>
                <a:latin typeface="Calibri" pitchFamily="34" charset="0"/>
                <a:ea typeface="Calibri" pitchFamily="34" charset="-122"/>
                <a:cs typeface="Calibri" pitchFamily="34" charset="-120"/>
              </a:rPr>
              <a:t>Unknown until pricing drops</a:t>
            </a:r>
            <a:endParaRPr lang="en-US" sz="1450" dirty="0"/>
          </a:p>
        </p:txBody>
      </p:sp>
      <p:sp>
        <p:nvSpPr>
          <p:cNvPr id="15" name="Text 13"/>
          <p:cNvSpPr txBox="1"/>
          <p:nvPr/>
        </p:nvSpPr>
        <p:spPr>
          <a:xfrm>
            <a:off x="6675120" y="4105656"/>
            <a:ext cx="4663440" cy="960120"/>
          </a:xfrm>
          <a:prstGeom prst="rect">
            <a:avLst/>
          </a:prstGeom>
          <a:noFill/>
          <a:ln/>
        </p:spPr>
        <p:txBody>
          <a:bodyPr wrap="square" lIns="0" tIns="0" rIns="0" bIns="0" rtlCol="0" anchor="ctr"/>
          <a:lstStyle/>
          <a:p>
            <a:pPr marL="0" indent="0">
              <a:buNone/>
            </a:pPr>
            <a:r>
              <a:rPr lang="en-US" sz="1200" dirty="0">
                <a:solidFill>
                  <a:srgbClr val="D3D6DC"/>
                </a:solidFill>
                <a:latin typeface="Calibri" pitchFamily="34" charset="0"/>
                <a:ea typeface="Calibri" pitchFamily="34" charset="-122"/>
                <a:cs typeface="Calibri" pitchFamily="34" charset="-120"/>
              </a:rPr>
              <a:t>The margin a developer needs to justify building at all.</a:t>
            </a:r>
            <a:endParaRPr lang="en-US" sz="1200" dirty="0"/>
          </a:p>
        </p:txBody>
      </p:sp>
      <p:sp>
        <p:nvSpPr>
          <p:cNvPr id="16" name="Shape 14"/>
          <p:cNvSpPr/>
          <p:nvPr/>
        </p:nvSpPr>
        <p:spPr>
          <a:xfrm>
            <a:off x="640080" y="5221224"/>
            <a:ext cx="10881360" cy="960120"/>
          </a:xfrm>
          <a:prstGeom prst="roundRect">
            <a:avLst>
              <a:gd name="adj" fmla="val 7619"/>
            </a:avLst>
          </a:prstGeom>
          <a:solidFill>
            <a:srgbClr val="FAFAFB"/>
          </a:solidFill>
          <a:ln/>
        </p:spPr>
        <p:txBody>
          <a:bodyPr/>
          <a:lstStyle/>
          <a:p>
            <a:endParaRPr lang="en-SG"/>
          </a:p>
        </p:txBody>
      </p:sp>
      <p:sp>
        <p:nvSpPr>
          <p:cNvPr id="17" name="Text 15"/>
          <p:cNvSpPr txBox="1"/>
          <p:nvPr/>
        </p:nvSpPr>
        <p:spPr>
          <a:xfrm>
            <a:off x="868680" y="5221224"/>
            <a:ext cx="2103120" cy="960120"/>
          </a:xfrm>
          <a:prstGeom prst="rect">
            <a:avLst/>
          </a:prstGeom>
          <a:noFill/>
          <a:ln/>
        </p:spPr>
        <p:txBody>
          <a:bodyPr wrap="square" lIns="0" tIns="0" rIns="0" bIns="0" rtlCol="0" anchor="ctr"/>
          <a:lstStyle/>
          <a:p>
            <a:pPr marL="0" indent="0">
              <a:buNone/>
            </a:pPr>
            <a:r>
              <a:rPr lang="en-US" sz="1600" b="1" dirty="0">
                <a:solidFill>
                  <a:srgbClr val="C7CCD6"/>
                </a:solidFill>
                <a:latin typeface="Cambria" pitchFamily="34" charset="0"/>
                <a:ea typeface="Cambria" pitchFamily="34" charset="-122"/>
                <a:cs typeface="Cambria" pitchFamily="34" charset="-120"/>
              </a:rPr>
              <a:t>BENCHMARK</a:t>
            </a:r>
            <a:endParaRPr lang="en-US" sz="1600" dirty="0"/>
          </a:p>
        </p:txBody>
      </p:sp>
      <p:sp>
        <p:nvSpPr>
          <p:cNvPr id="18" name="Text 16"/>
          <p:cNvSpPr txBox="1"/>
          <p:nvPr/>
        </p:nvSpPr>
        <p:spPr>
          <a:xfrm>
            <a:off x="3017520" y="5221224"/>
            <a:ext cx="3566160" cy="960120"/>
          </a:xfrm>
          <a:prstGeom prst="rect">
            <a:avLst/>
          </a:prstGeom>
          <a:noFill/>
          <a:ln/>
        </p:spPr>
        <p:txBody>
          <a:bodyPr wrap="square" lIns="0" tIns="0" rIns="0" bIns="0" rtlCol="0" anchor="ctr"/>
          <a:lstStyle/>
          <a:p>
            <a:pPr marL="0" indent="0">
              <a:buNone/>
            </a:pPr>
            <a:r>
              <a:rPr lang="en-US" sz="1450" b="1" dirty="0">
                <a:solidFill>
                  <a:srgbClr val="D3D6DC"/>
                </a:solidFill>
                <a:latin typeface="Calibri" pitchFamily="34" charset="0"/>
                <a:ea typeface="Calibri" pitchFamily="34" charset="-122"/>
                <a:cs typeface="Calibri" pitchFamily="34" charset="-120"/>
              </a:rPr>
              <a:t>$2,000s – $3,100 psf (public est.)</a:t>
            </a:r>
            <a:endParaRPr lang="en-US" sz="1450" dirty="0"/>
          </a:p>
        </p:txBody>
      </p:sp>
      <p:sp>
        <p:nvSpPr>
          <p:cNvPr id="19" name="Text 17"/>
          <p:cNvSpPr txBox="1"/>
          <p:nvPr/>
        </p:nvSpPr>
        <p:spPr>
          <a:xfrm>
            <a:off x="6675120" y="5221224"/>
            <a:ext cx="4663440" cy="960120"/>
          </a:xfrm>
          <a:prstGeom prst="rect">
            <a:avLst/>
          </a:prstGeom>
          <a:noFill/>
          <a:ln/>
        </p:spPr>
        <p:txBody>
          <a:bodyPr wrap="square" lIns="0" tIns="0" rIns="0" bIns="0" rtlCol="0" anchor="ctr"/>
          <a:lstStyle/>
          <a:p>
            <a:pPr marL="0" indent="0">
              <a:buNone/>
            </a:pPr>
            <a:r>
              <a:rPr lang="en-US" sz="1200" dirty="0">
                <a:solidFill>
                  <a:srgbClr val="D3D6DC"/>
                </a:solidFill>
                <a:latin typeface="Calibri" pitchFamily="34" charset="0"/>
                <a:ea typeface="Calibri" pitchFamily="34" charset="-122"/>
                <a:cs typeface="Calibri" pitchFamily="34" charset="-120"/>
              </a:rPr>
              <a:t>What's actually proven nearby — not showflat feeling.</a:t>
            </a:r>
            <a:endParaRPr lang="en-US" sz="1200" dirty="0"/>
          </a:p>
        </p:txBody>
      </p:sp>
      <p:sp>
        <p:nvSpPr>
          <p:cNvPr id="20" name="Text 18"/>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11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280160" y="1371600"/>
            <a:ext cx="9601200" cy="3931920"/>
          </a:xfrm>
          <a:prstGeom prst="roundRect">
            <a:avLst>
              <a:gd name="adj" fmla="val 2326"/>
            </a:avLst>
          </a:prstGeom>
          <a:solidFill>
            <a:srgbClr val="24365C"/>
          </a:solidFill>
          <a:ln w="15875">
            <a:solidFill>
              <a:srgbClr val="C9A227"/>
            </a:solidFill>
            <a:prstDash val="solid"/>
          </a:ln>
        </p:spPr>
        <p:txBody>
          <a:bodyPr/>
          <a:lstStyle/>
          <a:p>
            <a:endParaRPr lang="en-SG"/>
          </a:p>
        </p:txBody>
      </p:sp>
      <p:sp>
        <p:nvSpPr>
          <p:cNvPr id="3" name="Text 1"/>
          <p:cNvSpPr txBox="1"/>
          <p:nvPr/>
        </p:nvSpPr>
        <p:spPr>
          <a:xfrm>
            <a:off x="1691640" y="1691640"/>
            <a:ext cx="8778240" cy="365760"/>
          </a:xfrm>
          <a:prstGeom prst="rect">
            <a:avLst/>
          </a:prstGeom>
          <a:noFill/>
          <a:ln/>
        </p:spPr>
        <p:txBody>
          <a:bodyPr wrap="square" lIns="0" tIns="0" rIns="0" bIns="0" rtlCol="0" anchor="ctr"/>
          <a:lstStyle/>
          <a:p>
            <a:pPr marL="0" indent="0">
              <a:buNone/>
            </a:pPr>
            <a:r>
              <a:rPr lang="en-US" sz="1250" b="1" kern="0" spc="200" dirty="0">
                <a:solidFill>
                  <a:srgbClr val="C9A227"/>
                </a:solidFill>
                <a:latin typeface="Calibri" pitchFamily="34" charset="0"/>
                <a:ea typeface="Calibri" pitchFamily="34" charset="-122"/>
                <a:cs typeface="Calibri" pitchFamily="34" charset="-120"/>
              </a:rPr>
              <a:t>THE OBJECTION YOU SHOULD ALREADY BE HAVING</a:t>
            </a:r>
            <a:endParaRPr lang="en-US" sz="1250" dirty="0"/>
          </a:p>
        </p:txBody>
      </p:sp>
      <p:sp>
        <p:nvSpPr>
          <p:cNvPr id="4" name="Text 2"/>
          <p:cNvSpPr txBox="1"/>
          <p:nvPr/>
        </p:nvSpPr>
        <p:spPr>
          <a:xfrm>
            <a:off x="1691640" y="2194560"/>
            <a:ext cx="8778240" cy="1828800"/>
          </a:xfrm>
          <a:prstGeom prst="rect">
            <a:avLst/>
          </a:prstGeom>
          <a:noFill/>
          <a:ln/>
        </p:spPr>
        <p:txBody>
          <a:bodyPr wrap="square" lIns="0" tIns="0" rIns="0" bIns="0" rtlCol="0" anchor="ctr"/>
          <a:lstStyle/>
          <a:p>
            <a:pPr marL="0" indent="0">
              <a:lnSpc>
                <a:spcPct val="120000"/>
              </a:lnSpc>
              <a:buNone/>
            </a:pPr>
            <a:r>
              <a:rPr lang="en-US" sz="2200" i="1" dirty="0">
                <a:solidFill>
                  <a:srgbClr val="FFFFFF"/>
                </a:solidFill>
                <a:latin typeface="Cambria" pitchFamily="34" charset="0"/>
                <a:ea typeface="Cambria" pitchFamily="34" charset="-122"/>
                <a:cs typeface="Cambria" pitchFamily="34" charset="-120"/>
              </a:rPr>
              <a:t>“Even if the land was cheap, why would the developer pass those savings on to me? They don't price off their own cost — they price off what the market will bear.”</a:t>
            </a:r>
            <a:endParaRPr lang="en-US" sz="2200" dirty="0"/>
          </a:p>
        </p:txBody>
      </p:sp>
      <p:sp>
        <p:nvSpPr>
          <p:cNvPr id="5" name="Text 3"/>
          <p:cNvSpPr txBox="1"/>
          <p:nvPr/>
        </p:nvSpPr>
        <p:spPr>
          <a:xfrm>
            <a:off x="1691640" y="3977640"/>
            <a:ext cx="8778240" cy="365760"/>
          </a:xfrm>
          <a:prstGeom prst="rect">
            <a:avLst/>
          </a:prstGeom>
          <a:noFill/>
          <a:ln/>
        </p:spPr>
        <p:txBody>
          <a:bodyPr wrap="square" lIns="0" tIns="0" rIns="0" bIns="0" rtlCol="0" anchor="ctr"/>
          <a:lstStyle/>
          <a:p>
            <a:pPr marL="0" indent="0">
              <a:buNone/>
            </a:pPr>
            <a:r>
              <a:rPr lang="en-US" sz="1200" dirty="0">
                <a:solidFill>
                  <a:srgbClr val="9FA8C0"/>
                </a:solidFill>
                <a:latin typeface="Calibri" pitchFamily="34" charset="0"/>
                <a:ea typeface="Calibri" pitchFamily="34" charset="-122"/>
                <a:cs typeface="Calibri" pitchFamily="34" charset="-120"/>
              </a:rPr>
              <a:t>Real sentiment from property forum discussion on this exact project.</a:t>
            </a:r>
            <a:endParaRPr lang="en-US" sz="1200" dirty="0"/>
          </a:p>
        </p:txBody>
      </p:sp>
      <p:sp>
        <p:nvSpPr>
          <p:cNvPr id="6" name="Text 4"/>
          <p:cNvSpPr txBox="1"/>
          <p:nvPr/>
        </p:nvSpPr>
        <p:spPr>
          <a:xfrm>
            <a:off x="1691640" y="4480560"/>
            <a:ext cx="8778240" cy="640080"/>
          </a:xfrm>
          <a:prstGeom prst="rect">
            <a:avLst/>
          </a:prstGeom>
          <a:noFill/>
          <a:ln/>
        </p:spPr>
        <p:txBody>
          <a:bodyPr wrap="square" lIns="0" tIns="0" rIns="0" bIns="0" rtlCol="0" anchor="ctr"/>
          <a:lstStyle/>
          <a:p>
            <a:pPr marL="0" indent="0">
              <a:buNone/>
            </a:pPr>
            <a:r>
              <a:rPr lang="en-US" sz="1500" b="1" dirty="0">
                <a:solidFill>
                  <a:srgbClr val="FFD98E"/>
                </a:solidFill>
                <a:latin typeface="Calibri" pitchFamily="34" charset="0"/>
                <a:ea typeface="Calibri" pitchFamily="34" charset="-122"/>
                <a:cs typeface="Calibri" pitchFamily="34" charset="-120"/>
              </a:rPr>
              <a:t>It's correct. Cheap land is one input into a number — not the number itself.</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058400" cy="365760"/>
          </a:xfrm>
          <a:prstGeom prst="rect">
            <a:avLst/>
          </a:prstGeom>
          <a:noFill/>
          <a:ln/>
        </p:spPr>
        <p:txBody>
          <a:bodyPr wrap="square" lIns="0" tIns="0" rIns="0" bIns="0" rtlCol="0" anchor="ctr"/>
          <a:lstStyle/>
          <a:p>
            <a:pPr marL="0" indent="0">
              <a:buNone/>
            </a:pPr>
            <a:r>
              <a:rPr lang="en-US" sz="1200" b="1" kern="0" spc="200" dirty="0">
                <a:solidFill>
                  <a:srgbClr val="9E1B32"/>
                </a:solidFill>
                <a:latin typeface="Calibri" pitchFamily="34" charset="0"/>
                <a:ea typeface="Calibri" pitchFamily="34" charset="-122"/>
                <a:cs typeface="Calibri" pitchFamily="34" charset="-120"/>
              </a:rPr>
              <a:t>MODULE 5 · THE 4 FACTORS</a:t>
            </a:r>
            <a:endParaRPr lang="en-US" sz="1200" dirty="0"/>
          </a:p>
        </p:txBody>
      </p:sp>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Fair Price — Built Live</a:t>
            </a:r>
            <a:endParaRPr lang="en-US" sz="3000" dirty="0"/>
          </a:p>
        </p:txBody>
      </p:sp>
      <p:sp>
        <p:nvSpPr>
          <p:cNvPr id="4" name="Shape 2"/>
          <p:cNvSpPr/>
          <p:nvPr/>
        </p:nvSpPr>
        <p:spPr>
          <a:xfrm>
            <a:off x="640080" y="1874520"/>
            <a:ext cx="10881360" cy="960120"/>
          </a:xfrm>
          <a:prstGeom prst="roundRect">
            <a:avLst>
              <a:gd name="adj" fmla="val 7619"/>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5" name="Text 3"/>
          <p:cNvSpPr txBox="1"/>
          <p:nvPr/>
        </p:nvSpPr>
        <p:spPr>
          <a:xfrm>
            <a:off x="868680" y="1874520"/>
            <a:ext cx="2103120" cy="96012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LAND</a:t>
            </a:r>
            <a:endParaRPr lang="en-US" sz="1600" dirty="0"/>
          </a:p>
        </p:txBody>
      </p:sp>
      <p:sp>
        <p:nvSpPr>
          <p:cNvPr id="6" name="Text 4"/>
          <p:cNvSpPr txBox="1"/>
          <p:nvPr/>
        </p:nvSpPr>
        <p:spPr>
          <a:xfrm>
            <a:off x="3017520" y="1874520"/>
            <a:ext cx="3566160" cy="960120"/>
          </a:xfrm>
          <a:prstGeom prst="rect">
            <a:avLst/>
          </a:prstGeom>
          <a:noFill/>
          <a:ln/>
        </p:spPr>
        <p:txBody>
          <a:bodyPr wrap="square" lIns="0" tIns="0" rIns="0" bIns="0" rtlCol="0" anchor="ctr"/>
          <a:lstStyle/>
          <a:p>
            <a:pPr marL="0" indent="0">
              <a:buNone/>
            </a:pPr>
            <a:r>
              <a:rPr lang="en-US" sz="1450" b="1" dirty="0">
                <a:solidFill>
                  <a:srgbClr val="1F2937"/>
                </a:solidFill>
                <a:latin typeface="Calibri" pitchFamily="34" charset="0"/>
                <a:ea typeface="Calibri" pitchFamily="34" charset="-122"/>
                <a:cs typeface="Calibri" pitchFamily="34" charset="-120"/>
              </a:rPr>
              <a:t>$1,178 psf ppr</a:t>
            </a:r>
            <a:endParaRPr lang="en-US" sz="1450" dirty="0"/>
          </a:p>
        </p:txBody>
      </p:sp>
      <p:sp>
        <p:nvSpPr>
          <p:cNvPr id="7" name="Text 5"/>
          <p:cNvSpPr txBox="1"/>
          <p:nvPr/>
        </p:nvSpPr>
        <p:spPr>
          <a:xfrm>
            <a:off x="6675120" y="1874520"/>
            <a:ext cx="4663440" cy="9601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Reasonable vs. recent nearby land sales.</a:t>
            </a:r>
            <a:endParaRPr lang="en-US" sz="1200" dirty="0"/>
          </a:p>
        </p:txBody>
      </p:sp>
      <p:sp>
        <p:nvSpPr>
          <p:cNvPr id="8" name="Shape 6"/>
          <p:cNvSpPr/>
          <p:nvPr/>
        </p:nvSpPr>
        <p:spPr>
          <a:xfrm>
            <a:off x="640080" y="2990088"/>
            <a:ext cx="10881360" cy="960120"/>
          </a:xfrm>
          <a:prstGeom prst="roundRect">
            <a:avLst>
              <a:gd name="adj" fmla="val 7619"/>
            </a:avLst>
          </a:prstGeom>
          <a:solidFill>
            <a:srgbClr val="1B2A4A"/>
          </a:solidFill>
          <a:ln/>
          <a:effectLst>
            <a:outerShdw blurRad="101600" dist="38100" dir="5400000" algn="bl" rotWithShape="0">
              <a:srgbClr val="000000">
                <a:alpha val="18000"/>
              </a:srgbClr>
            </a:outerShdw>
          </a:effectLst>
        </p:spPr>
        <p:txBody>
          <a:bodyPr/>
          <a:lstStyle/>
          <a:p>
            <a:endParaRPr lang="en-SG"/>
          </a:p>
        </p:txBody>
      </p:sp>
      <p:sp>
        <p:nvSpPr>
          <p:cNvPr id="9" name="Text 7"/>
          <p:cNvSpPr txBox="1"/>
          <p:nvPr/>
        </p:nvSpPr>
        <p:spPr>
          <a:xfrm>
            <a:off x="868680" y="2990088"/>
            <a:ext cx="2103120" cy="960120"/>
          </a:xfrm>
          <a:prstGeom prst="rect">
            <a:avLst/>
          </a:prstGeom>
          <a:noFill/>
          <a:ln/>
        </p:spPr>
        <p:txBody>
          <a:bodyPr wrap="square" lIns="0" tIns="0" rIns="0" bIns="0" rtlCol="0" anchor="ctr"/>
          <a:lstStyle/>
          <a:p>
            <a:pPr marL="0" indent="0">
              <a:buNone/>
            </a:pPr>
            <a:r>
              <a:rPr lang="en-US" sz="1600" b="1" dirty="0">
                <a:solidFill>
                  <a:srgbClr val="C9A227"/>
                </a:solidFill>
                <a:latin typeface="Cambria" pitchFamily="34" charset="0"/>
                <a:ea typeface="Cambria" pitchFamily="34" charset="-122"/>
                <a:cs typeface="Cambria" pitchFamily="34" charset="-120"/>
              </a:rPr>
              <a:t>EXPENSES</a:t>
            </a:r>
            <a:endParaRPr lang="en-US" sz="1600" dirty="0"/>
          </a:p>
        </p:txBody>
      </p:sp>
      <p:sp>
        <p:nvSpPr>
          <p:cNvPr id="10" name="Text 8"/>
          <p:cNvSpPr txBox="1"/>
          <p:nvPr/>
        </p:nvSpPr>
        <p:spPr>
          <a:xfrm>
            <a:off x="3017520" y="2990088"/>
            <a:ext cx="3566160" cy="96012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Not disclosed yet</a:t>
            </a:r>
            <a:endParaRPr lang="en-US" sz="1450" dirty="0"/>
          </a:p>
        </p:txBody>
      </p:sp>
      <p:sp>
        <p:nvSpPr>
          <p:cNvPr id="11" name="Text 9"/>
          <p:cNvSpPr txBox="1"/>
          <p:nvPr/>
        </p:nvSpPr>
        <p:spPr>
          <a:xfrm>
            <a:off x="6675120" y="2990088"/>
            <a:ext cx="4663440" cy="960120"/>
          </a:xfrm>
          <a:prstGeom prst="rect">
            <a:avLst/>
          </a:prstGeom>
          <a:noFill/>
          <a:ln/>
        </p:spPr>
        <p:txBody>
          <a:bodyPr wrap="square" lIns="0" tIns="0" rIns="0" bIns="0" rtlCol="0" anchor="ctr"/>
          <a:lstStyle/>
          <a:p>
            <a:pPr marL="0" indent="0">
              <a:buNone/>
            </a:pPr>
            <a:r>
              <a:rPr lang="en-US" sz="1200" dirty="0">
                <a:solidFill>
                  <a:srgbClr val="D7DCE8"/>
                </a:solidFill>
                <a:latin typeface="Calibri" pitchFamily="34" charset="0"/>
                <a:ea typeface="Calibri" pitchFamily="34" charset="-122"/>
                <a:cs typeface="Calibri" pitchFamily="34" charset="-120"/>
              </a:rPr>
              <a:t>Construction, financing, marketing — normal at this stage.</a:t>
            </a:r>
            <a:endParaRPr lang="en-US" sz="1200" dirty="0"/>
          </a:p>
        </p:txBody>
      </p:sp>
      <p:sp>
        <p:nvSpPr>
          <p:cNvPr id="12" name="Shape 10"/>
          <p:cNvSpPr/>
          <p:nvPr/>
        </p:nvSpPr>
        <p:spPr>
          <a:xfrm>
            <a:off x="640080" y="4105656"/>
            <a:ext cx="10881360" cy="960120"/>
          </a:xfrm>
          <a:prstGeom prst="roundRect">
            <a:avLst>
              <a:gd name="adj" fmla="val 7619"/>
            </a:avLst>
          </a:prstGeom>
          <a:solidFill>
            <a:srgbClr val="FAFAFB"/>
          </a:solidFill>
          <a:ln/>
        </p:spPr>
        <p:txBody>
          <a:bodyPr/>
          <a:lstStyle/>
          <a:p>
            <a:endParaRPr lang="en-SG"/>
          </a:p>
        </p:txBody>
      </p:sp>
      <p:sp>
        <p:nvSpPr>
          <p:cNvPr id="13" name="Text 11"/>
          <p:cNvSpPr txBox="1"/>
          <p:nvPr/>
        </p:nvSpPr>
        <p:spPr>
          <a:xfrm>
            <a:off x="868680" y="4105656"/>
            <a:ext cx="2103120" cy="960120"/>
          </a:xfrm>
          <a:prstGeom prst="rect">
            <a:avLst/>
          </a:prstGeom>
          <a:noFill/>
          <a:ln/>
        </p:spPr>
        <p:txBody>
          <a:bodyPr wrap="square" lIns="0" tIns="0" rIns="0" bIns="0" rtlCol="0" anchor="ctr"/>
          <a:lstStyle/>
          <a:p>
            <a:pPr marL="0" indent="0">
              <a:buNone/>
            </a:pPr>
            <a:r>
              <a:rPr lang="en-US" sz="1600" b="1" dirty="0">
                <a:solidFill>
                  <a:srgbClr val="C7CCD6"/>
                </a:solidFill>
                <a:latin typeface="Cambria" pitchFamily="34" charset="0"/>
                <a:ea typeface="Cambria" pitchFamily="34" charset="-122"/>
                <a:cs typeface="Cambria" pitchFamily="34" charset="-120"/>
              </a:rPr>
              <a:t>PROFIT</a:t>
            </a:r>
            <a:endParaRPr lang="en-US" sz="1600" dirty="0"/>
          </a:p>
        </p:txBody>
      </p:sp>
      <p:sp>
        <p:nvSpPr>
          <p:cNvPr id="14" name="Text 12"/>
          <p:cNvSpPr txBox="1"/>
          <p:nvPr/>
        </p:nvSpPr>
        <p:spPr>
          <a:xfrm>
            <a:off x="3017520" y="4105656"/>
            <a:ext cx="3566160" cy="960120"/>
          </a:xfrm>
          <a:prstGeom prst="rect">
            <a:avLst/>
          </a:prstGeom>
          <a:noFill/>
          <a:ln/>
        </p:spPr>
        <p:txBody>
          <a:bodyPr wrap="square" lIns="0" tIns="0" rIns="0" bIns="0" rtlCol="0" anchor="ctr"/>
          <a:lstStyle/>
          <a:p>
            <a:pPr marL="0" indent="0">
              <a:buNone/>
            </a:pPr>
            <a:r>
              <a:rPr lang="en-US" sz="1450" b="1" dirty="0">
                <a:solidFill>
                  <a:srgbClr val="D3D6DC"/>
                </a:solidFill>
                <a:latin typeface="Calibri" pitchFamily="34" charset="0"/>
                <a:ea typeface="Calibri" pitchFamily="34" charset="-122"/>
                <a:cs typeface="Calibri" pitchFamily="34" charset="-120"/>
              </a:rPr>
              <a:t>Unknown until pricing drops</a:t>
            </a:r>
            <a:endParaRPr lang="en-US" sz="1450" dirty="0"/>
          </a:p>
        </p:txBody>
      </p:sp>
      <p:sp>
        <p:nvSpPr>
          <p:cNvPr id="15" name="Text 13"/>
          <p:cNvSpPr txBox="1"/>
          <p:nvPr/>
        </p:nvSpPr>
        <p:spPr>
          <a:xfrm>
            <a:off x="6675120" y="4105656"/>
            <a:ext cx="4663440" cy="960120"/>
          </a:xfrm>
          <a:prstGeom prst="rect">
            <a:avLst/>
          </a:prstGeom>
          <a:noFill/>
          <a:ln/>
        </p:spPr>
        <p:txBody>
          <a:bodyPr wrap="square" lIns="0" tIns="0" rIns="0" bIns="0" rtlCol="0" anchor="ctr"/>
          <a:lstStyle/>
          <a:p>
            <a:pPr marL="0" indent="0">
              <a:buNone/>
            </a:pPr>
            <a:r>
              <a:rPr lang="en-US" sz="1200" dirty="0">
                <a:solidFill>
                  <a:srgbClr val="D3D6DC"/>
                </a:solidFill>
                <a:latin typeface="Calibri" pitchFamily="34" charset="0"/>
                <a:ea typeface="Calibri" pitchFamily="34" charset="-122"/>
                <a:cs typeface="Calibri" pitchFamily="34" charset="-120"/>
              </a:rPr>
              <a:t>The margin a developer needs to justify building at all.</a:t>
            </a:r>
            <a:endParaRPr lang="en-US" sz="1200" dirty="0"/>
          </a:p>
        </p:txBody>
      </p:sp>
      <p:sp>
        <p:nvSpPr>
          <p:cNvPr id="16" name="Shape 14"/>
          <p:cNvSpPr/>
          <p:nvPr/>
        </p:nvSpPr>
        <p:spPr>
          <a:xfrm>
            <a:off x="640080" y="5221224"/>
            <a:ext cx="10881360" cy="960120"/>
          </a:xfrm>
          <a:prstGeom prst="roundRect">
            <a:avLst>
              <a:gd name="adj" fmla="val 7619"/>
            </a:avLst>
          </a:prstGeom>
          <a:solidFill>
            <a:srgbClr val="FAFAFB"/>
          </a:solidFill>
          <a:ln/>
        </p:spPr>
        <p:txBody>
          <a:bodyPr/>
          <a:lstStyle/>
          <a:p>
            <a:endParaRPr lang="en-SG"/>
          </a:p>
        </p:txBody>
      </p:sp>
      <p:sp>
        <p:nvSpPr>
          <p:cNvPr id="17" name="Text 15"/>
          <p:cNvSpPr txBox="1"/>
          <p:nvPr/>
        </p:nvSpPr>
        <p:spPr>
          <a:xfrm>
            <a:off x="868680" y="5221224"/>
            <a:ext cx="2103120" cy="960120"/>
          </a:xfrm>
          <a:prstGeom prst="rect">
            <a:avLst/>
          </a:prstGeom>
          <a:noFill/>
          <a:ln/>
        </p:spPr>
        <p:txBody>
          <a:bodyPr wrap="square" lIns="0" tIns="0" rIns="0" bIns="0" rtlCol="0" anchor="ctr"/>
          <a:lstStyle/>
          <a:p>
            <a:pPr marL="0" indent="0">
              <a:buNone/>
            </a:pPr>
            <a:r>
              <a:rPr lang="en-US" sz="1600" b="1" dirty="0">
                <a:solidFill>
                  <a:srgbClr val="C7CCD6"/>
                </a:solidFill>
                <a:latin typeface="Cambria" pitchFamily="34" charset="0"/>
                <a:ea typeface="Cambria" pitchFamily="34" charset="-122"/>
                <a:cs typeface="Cambria" pitchFamily="34" charset="-120"/>
              </a:rPr>
              <a:t>BENCHMARK</a:t>
            </a:r>
            <a:endParaRPr lang="en-US" sz="1600" dirty="0"/>
          </a:p>
        </p:txBody>
      </p:sp>
      <p:sp>
        <p:nvSpPr>
          <p:cNvPr id="18" name="Text 16"/>
          <p:cNvSpPr txBox="1"/>
          <p:nvPr/>
        </p:nvSpPr>
        <p:spPr>
          <a:xfrm>
            <a:off x="3017520" y="5221224"/>
            <a:ext cx="3566160" cy="960120"/>
          </a:xfrm>
          <a:prstGeom prst="rect">
            <a:avLst/>
          </a:prstGeom>
          <a:noFill/>
          <a:ln/>
        </p:spPr>
        <p:txBody>
          <a:bodyPr wrap="square" lIns="0" tIns="0" rIns="0" bIns="0" rtlCol="0" anchor="ctr"/>
          <a:lstStyle/>
          <a:p>
            <a:pPr marL="0" indent="0">
              <a:buNone/>
            </a:pPr>
            <a:r>
              <a:rPr lang="en-US" sz="1450" b="1" dirty="0">
                <a:solidFill>
                  <a:srgbClr val="D3D6DC"/>
                </a:solidFill>
                <a:latin typeface="Calibri" pitchFamily="34" charset="0"/>
                <a:ea typeface="Calibri" pitchFamily="34" charset="-122"/>
                <a:cs typeface="Calibri" pitchFamily="34" charset="-120"/>
              </a:rPr>
              <a:t>$2,000s – $3,100 psf (public est.)</a:t>
            </a:r>
            <a:endParaRPr lang="en-US" sz="1450" dirty="0"/>
          </a:p>
        </p:txBody>
      </p:sp>
      <p:sp>
        <p:nvSpPr>
          <p:cNvPr id="19" name="Text 17"/>
          <p:cNvSpPr txBox="1"/>
          <p:nvPr/>
        </p:nvSpPr>
        <p:spPr>
          <a:xfrm>
            <a:off x="6675120" y="5221224"/>
            <a:ext cx="4663440" cy="960120"/>
          </a:xfrm>
          <a:prstGeom prst="rect">
            <a:avLst/>
          </a:prstGeom>
          <a:noFill/>
          <a:ln/>
        </p:spPr>
        <p:txBody>
          <a:bodyPr wrap="square" lIns="0" tIns="0" rIns="0" bIns="0" rtlCol="0" anchor="ctr"/>
          <a:lstStyle/>
          <a:p>
            <a:pPr marL="0" indent="0">
              <a:buNone/>
            </a:pPr>
            <a:r>
              <a:rPr lang="en-US" sz="1200" dirty="0">
                <a:solidFill>
                  <a:srgbClr val="D3D6DC"/>
                </a:solidFill>
                <a:latin typeface="Calibri" pitchFamily="34" charset="0"/>
                <a:ea typeface="Calibri" pitchFamily="34" charset="-122"/>
                <a:cs typeface="Calibri" pitchFamily="34" charset="-120"/>
              </a:rPr>
              <a:t>What's actually proven nearby — not showflat feeling.</a:t>
            </a:r>
            <a:endParaRPr lang="en-US" sz="1200" dirty="0"/>
          </a:p>
        </p:txBody>
      </p:sp>
      <p:sp>
        <p:nvSpPr>
          <p:cNvPr id="20" name="Text 18"/>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13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058400" cy="365760"/>
          </a:xfrm>
          <a:prstGeom prst="rect">
            <a:avLst/>
          </a:prstGeom>
          <a:noFill/>
          <a:ln/>
        </p:spPr>
        <p:txBody>
          <a:bodyPr wrap="square" lIns="0" tIns="0" rIns="0" bIns="0" rtlCol="0" anchor="ctr"/>
          <a:lstStyle/>
          <a:p>
            <a:pPr marL="0" indent="0">
              <a:buNone/>
            </a:pPr>
            <a:r>
              <a:rPr lang="en-US" sz="1200" b="1" kern="0" spc="200" dirty="0">
                <a:solidFill>
                  <a:srgbClr val="9E1B32"/>
                </a:solidFill>
                <a:latin typeface="Calibri" pitchFamily="34" charset="0"/>
                <a:ea typeface="Calibri" pitchFamily="34" charset="-122"/>
                <a:cs typeface="Calibri" pitchFamily="34" charset="-120"/>
              </a:rPr>
              <a:t>MODULE 5 · THE 4 FACTORS</a:t>
            </a:r>
            <a:endParaRPr lang="en-US" sz="1200" dirty="0"/>
          </a:p>
        </p:txBody>
      </p:sp>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Fair Price — Built Live</a:t>
            </a:r>
            <a:endParaRPr lang="en-US" sz="3000" dirty="0"/>
          </a:p>
        </p:txBody>
      </p:sp>
      <p:sp>
        <p:nvSpPr>
          <p:cNvPr id="4" name="Shape 2"/>
          <p:cNvSpPr/>
          <p:nvPr/>
        </p:nvSpPr>
        <p:spPr>
          <a:xfrm>
            <a:off x="640080" y="1874520"/>
            <a:ext cx="10881360" cy="960120"/>
          </a:xfrm>
          <a:prstGeom prst="roundRect">
            <a:avLst>
              <a:gd name="adj" fmla="val 7619"/>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5" name="Text 3"/>
          <p:cNvSpPr txBox="1"/>
          <p:nvPr/>
        </p:nvSpPr>
        <p:spPr>
          <a:xfrm>
            <a:off x="868680" y="1874520"/>
            <a:ext cx="2103120" cy="96012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LAND</a:t>
            </a:r>
            <a:endParaRPr lang="en-US" sz="1600" dirty="0"/>
          </a:p>
        </p:txBody>
      </p:sp>
      <p:sp>
        <p:nvSpPr>
          <p:cNvPr id="6" name="Text 4"/>
          <p:cNvSpPr txBox="1"/>
          <p:nvPr/>
        </p:nvSpPr>
        <p:spPr>
          <a:xfrm>
            <a:off x="3017520" y="1874520"/>
            <a:ext cx="3566160" cy="960120"/>
          </a:xfrm>
          <a:prstGeom prst="rect">
            <a:avLst/>
          </a:prstGeom>
          <a:noFill/>
          <a:ln/>
        </p:spPr>
        <p:txBody>
          <a:bodyPr wrap="square" lIns="0" tIns="0" rIns="0" bIns="0" rtlCol="0" anchor="ctr"/>
          <a:lstStyle/>
          <a:p>
            <a:pPr marL="0" indent="0">
              <a:buNone/>
            </a:pPr>
            <a:r>
              <a:rPr lang="en-US" sz="1450" b="1" dirty="0">
                <a:solidFill>
                  <a:srgbClr val="1F2937"/>
                </a:solidFill>
                <a:latin typeface="Calibri" pitchFamily="34" charset="0"/>
                <a:ea typeface="Calibri" pitchFamily="34" charset="-122"/>
                <a:cs typeface="Calibri" pitchFamily="34" charset="-120"/>
              </a:rPr>
              <a:t>$1,178 psf ppr</a:t>
            </a:r>
            <a:endParaRPr lang="en-US" sz="1450" dirty="0"/>
          </a:p>
        </p:txBody>
      </p:sp>
      <p:sp>
        <p:nvSpPr>
          <p:cNvPr id="7" name="Text 5"/>
          <p:cNvSpPr txBox="1"/>
          <p:nvPr/>
        </p:nvSpPr>
        <p:spPr>
          <a:xfrm>
            <a:off x="6675120" y="1874520"/>
            <a:ext cx="4663440" cy="9601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Reasonable vs. recent nearby land sales.</a:t>
            </a:r>
            <a:endParaRPr lang="en-US" sz="1200" dirty="0"/>
          </a:p>
        </p:txBody>
      </p:sp>
      <p:sp>
        <p:nvSpPr>
          <p:cNvPr id="8" name="Shape 6"/>
          <p:cNvSpPr/>
          <p:nvPr/>
        </p:nvSpPr>
        <p:spPr>
          <a:xfrm>
            <a:off x="640080" y="2990088"/>
            <a:ext cx="10881360" cy="960120"/>
          </a:xfrm>
          <a:prstGeom prst="roundRect">
            <a:avLst>
              <a:gd name="adj" fmla="val 7619"/>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9" name="Text 7"/>
          <p:cNvSpPr txBox="1"/>
          <p:nvPr/>
        </p:nvSpPr>
        <p:spPr>
          <a:xfrm>
            <a:off x="868680" y="2990088"/>
            <a:ext cx="2103120" cy="96012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EXPENSES</a:t>
            </a:r>
            <a:endParaRPr lang="en-US" sz="1600" dirty="0"/>
          </a:p>
        </p:txBody>
      </p:sp>
      <p:sp>
        <p:nvSpPr>
          <p:cNvPr id="10" name="Text 8"/>
          <p:cNvSpPr txBox="1"/>
          <p:nvPr/>
        </p:nvSpPr>
        <p:spPr>
          <a:xfrm>
            <a:off x="3017520" y="2990088"/>
            <a:ext cx="3566160" cy="960120"/>
          </a:xfrm>
          <a:prstGeom prst="rect">
            <a:avLst/>
          </a:prstGeom>
          <a:noFill/>
          <a:ln/>
        </p:spPr>
        <p:txBody>
          <a:bodyPr wrap="square" lIns="0" tIns="0" rIns="0" bIns="0" rtlCol="0" anchor="ctr"/>
          <a:lstStyle/>
          <a:p>
            <a:pPr marL="0" indent="0">
              <a:buNone/>
            </a:pPr>
            <a:r>
              <a:rPr lang="en-US" sz="1450" b="1" dirty="0">
                <a:solidFill>
                  <a:srgbClr val="1F2937"/>
                </a:solidFill>
                <a:latin typeface="Calibri" pitchFamily="34" charset="0"/>
                <a:ea typeface="Calibri" pitchFamily="34" charset="-122"/>
                <a:cs typeface="Calibri" pitchFamily="34" charset="-120"/>
              </a:rPr>
              <a:t>Not disclosed yet</a:t>
            </a:r>
            <a:endParaRPr lang="en-US" sz="1450" dirty="0"/>
          </a:p>
        </p:txBody>
      </p:sp>
      <p:sp>
        <p:nvSpPr>
          <p:cNvPr id="11" name="Text 9"/>
          <p:cNvSpPr txBox="1"/>
          <p:nvPr/>
        </p:nvSpPr>
        <p:spPr>
          <a:xfrm>
            <a:off x="6675120" y="2990088"/>
            <a:ext cx="4663440" cy="9601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Construction, financing, marketing — normal at this stage.</a:t>
            </a:r>
            <a:endParaRPr lang="en-US" sz="1200" dirty="0"/>
          </a:p>
        </p:txBody>
      </p:sp>
      <p:sp>
        <p:nvSpPr>
          <p:cNvPr id="12" name="Shape 10"/>
          <p:cNvSpPr/>
          <p:nvPr/>
        </p:nvSpPr>
        <p:spPr>
          <a:xfrm>
            <a:off x="640080" y="4105656"/>
            <a:ext cx="10881360" cy="960120"/>
          </a:xfrm>
          <a:prstGeom prst="roundRect">
            <a:avLst>
              <a:gd name="adj" fmla="val 7619"/>
            </a:avLst>
          </a:prstGeom>
          <a:solidFill>
            <a:srgbClr val="1B2A4A"/>
          </a:solidFill>
          <a:ln/>
          <a:effectLst>
            <a:outerShdw blurRad="101600" dist="38100" dir="5400000" algn="bl" rotWithShape="0">
              <a:srgbClr val="000000">
                <a:alpha val="18000"/>
              </a:srgbClr>
            </a:outerShdw>
          </a:effectLst>
        </p:spPr>
        <p:txBody>
          <a:bodyPr/>
          <a:lstStyle/>
          <a:p>
            <a:endParaRPr lang="en-SG"/>
          </a:p>
        </p:txBody>
      </p:sp>
      <p:sp>
        <p:nvSpPr>
          <p:cNvPr id="13" name="Text 11"/>
          <p:cNvSpPr txBox="1"/>
          <p:nvPr/>
        </p:nvSpPr>
        <p:spPr>
          <a:xfrm>
            <a:off x="868680" y="4105656"/>
            <a:ext cx="2103120" cy="960120"/>
          </a:xfrm>
          <a:prstGeom prst="rect">
            <a:avLst/>
          </a:prstGeom>
          <a:noFill/>
          <a:ln/>
        </p:spPr>
        <p:txBody>
          <a:bodyPr wrap="square" lIns="0" tIns="0" rIns="0" bIns="0" rtlCol="0" anchor="ctr"/>
          <a:lstStyle/>
          <a:p>
            <a:pPr marL="0" indent="0">
              <a:buNone/>
            </a:pPr>
            <a:r>
              <a:rPr lang="en-US" sz="1600" b="1" dirty="0">
                <a:solidFill>
                  <a:srgbClr val="C9A227"/>
                </a:solidFill>
                <a:latin typeface="Cambria" pitchFamily="34" charset="0"/>
                <a:ea typeface="Cambria" pitchFamily="34" charset="-122"/>
                <a:cs typeface="Cambria" pitchFamily="34" charset="-120"/>
              </a:rPr>
              <a:t>PROFIT</a:t>
            </a:r>
            <a:endParaRPr lang="en-US" sz="1600" dirty="0"/>
          </a:p>
        </p:txBody>
      </p:sp>
      <p:sp>
        <p:nvSpPr>
          <p:cNvPr id="14" name="Text 12"/>
          <p:cNvSpPr txBox="1"/>
          <p:nvPr/>
        </p:nvSpPr>
        <p:spPr>
          <a:xfrm>
            <a:off x="3017520" y="4105656"/>
            <a:ext cx="3566160" cy="96012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Unknown until pricing drops</a:t>
            </a:r>
            <a:endParaRPr lang="en-US" sz="1450" dirty="0"/>
          </a:p>
        </p:txBody>
      </p:sp>
      <p:sp>
        <p:nvSpPr>
          <p:cNvPr id="15" name="Text 13"/>
          <p:cNvSpPr txBox="1"/>
          <p:nvPr/>
        </p:nvSpPr>
        <p:spPr>
          <a:xfrm>
            <a:off x="6675120" y="4105656"/>
            <a:ext cx="4663440" cy="960120"/>
          </a:xfrm>
          <a:prstGeom prst="rect">
            <a:avLst/>
          </a:prstGeom>
          <a:noFill/>
          <a:ln/>
        </p:spPr>
        <p:txBody>
          <a:bodyPr wrap="square" lIns="0" tIns="0" rIns="0" bIns="0" rtlCol="0" anchor="ctr"/>
          <a:lstStyle/>
          <a:p>
            <a:pPr marL="0" indent="0">
              <a:buNone/>
            </a:pPr>
            <a:r>
              <a:rPr lang="en-US" sz="1200" dirty="0">
                <a:solidFill>
                  <a:srgbClr val="D7DCE8"/>
                </a:solidFill>
                <a:latin typeface="Calibri" pitchFamily="34" charset="0"/>
                <a:ea typeface="Calibri" pitchFamily="34" charset="-122"/>
                <a:cs typeface="Calibri" pitchFamily="34" charset="-120"/>
              </a:rPr>
              <a:t>The margin a developer needs to justify building at all.</a:t>
            </a:r>
            <a:endParaRPr lang="en-US" sz="1200" dirty="0"/>
          </a:p>
        </p:txBody>
      </p:sp>
      <p:sp>
        <p:nvSpPr>
          <p:cNvPr id="16" name="Shape 14"/>
          <p:cNvSpPr/>
          <p:nvPr/>
        </p:nvSpPr>
        <p:spPr>
          <a:xfrm>
            <a:off x="640080" y="5221224"/>
            <a:ext cx="10881360" cy="960120"/>
          </a:xfrm>
          <a:prstGeom prst="roundRect">
            <a:avLst>
              <a:gd name="adj" fmla="val 7619"/>
            </a:avLst>
          </a:prstGeom>
          <a:solidFill>
            <a:srgbClr val="FAFAFB"/>
          </a:solidFill>
          <a:ln/>
        </p:spPr>
        <p:txBody>
          <a:bodyPr/>
          <a:lstStyle/>
          <a:p>
            <a:endParaRPr lang="en-SG"/>
          </a:p>
        </p:txBody>
      </p:sp>
      <p:sp>
        <p:nvSpPr>
          <p:cNvPr id="17" name="Text 15"/>
          <p:cNvSpPr txBox="1"/>
          <p:nvPr/>
        </p:nvSpPr>
        <p:spPr>
          <a:xfrm>
            <a:off x="868680" y="5221224"/>
            <a:ext cx="2103120" cy="960120"/>
          </a:xfrm>
          <a:prstGeom prst="rect">
            <a:avLst/>
          </a:prstGeom>
          <a:noFill/>
          <a:ln/>
        </p:spPr>
        <p:txBody>
          <a:bodyPr wrap="square" lIns="0" tIns="0" rIns="0" bIns="0" rtlCol="0" anchor="ctr"/>
          <a:lstStyle/>
          <a:p>
            <a:pPr marL="0" indent="0">
              <a:buNone/>
            </a:pPr>
            <a:r>
              <a:rPr lang="en-US" sz="1600" b="1" dirty="0">
                <a:solidFill>
                  <a:srgbClr val="C7CCD6"/>
                </a:solidFill>
                <a:latin typeface="Cambria" pitchFamily="34" charset="0"/>
                <a:ea typeface="Cambria" pitchFamily="34" charset="-122"/>
                <a:cs typeface="Cambria" pitchFamily="34" charset="-120"/>
              </a:rPr>
              <a:t>BENCHMARK</a:t>
            </a:r>
            <a:endParaRPr lang="en-US" sz="1600" dirty="0"/>
          </a:p>
        </p:txBody>
      </p:sp>
      <p:sp>
        <p:nvSpPr>
          <p:cNvPr id="18" name="Text 16"/>
          <p:cNvSpPr txBox="1"/>
          <p:nvPr/>
        </p:nvSpPr>
        <p:spPr>
          <a:xfrm>
            <a:off x="3017520" y="5221224"/>
            <a:ext cx="3566160" cy="960120"/>
          </a:xfrm>
          <a:prstGeom prst="rect">
            <a:avLst/>
          </a:prstGeom>
          <a:noFill/>
          <a:ln/>
        </p:spPr>
        <p:txBody>
          <a:bodyPr wrap="square" lIns="0" tIns="0" rIns="0" bIns="0" rtlCol="0" anchor="ctr"/>
          <a:lstStyle/>
          <a:p>
            <a:pPr marL="0" indent="0">
              <a:buNone/>
            </a:pPr>
            <a:r>
              <a:rPr lang="en-US" sz="1450" b="1" dirty="0">
                <a:solidFill>
                  <a:srgbClr val="D3D6DC"/>
                </a:solidFill>
                <a:latin typeface="Calibri" pitchFamily="34" charset="0"/>
                <a:ea typeface="Calibri" pitchFamily="34" charset="-122"/>
                <a:cs typeface="Calibri" pitchFamily="34" charset="-120"/>
              </a:rPr>
              <a:t>$2,000s – $3,100 psf (public est.)</a:t>
            </a:r>
            <a:endParaRPr lang="en-US" sz="1450" dirty="0"/>
          </a:p>
        </p:txBody>
      </p:sp>
      <p:sp>
        <p:nvSpPr>
          <p:cNvPr id="19" name="Text 17"/>
          <p:cNvSpPr txBox="1"/>
          <p:nvPr/>
        </p:nvSpPr>
        <p:spPr>
          <a:xfrm>
            <a:off x="6675120" y="5221224"/>
            <a:ext cx="4663440" cy="960120"/>
          </a:xfrm>
          <a:prstGeom prst="rect">
            <a:avLst/>
          </a:prstGeom>
          <a:noFill/>
          <a:ln/>
        </p:spPr>
        <p:txBody>
          <a:bodyPr wrap="square" lIns="0" tIns="0" rIns="0" bIns="0" rtlCol="0" anchor="ctr"/>
          <a:lstStyle/>
          <a:p>
            <a:pPr marL="0" indent="0">
              <a:buNone/>
            </a:pPr>
            <a:r>
              <a:rPr lang="en-US" sz="1200" dirty="0">
                <a:solidFill>
                  <a:srgbClr val="D3D6DC"/>
                </a:solidFill>
                <a:latin typeface="Calibri" pitchFamily="34" charset="0"/>
                <a:ea typeface="Calibri" pitchFamily="34" charset="-122"/>
                <a:cs typeface="Calibri" pitchFamily="34" charset="-120"/>
              </a:rPr>
              <a:t>What's actually proven nearby — not showflat feeling.</a:t>
            </a:r>
            <a:endParaRPr lang="en-US" sz="1200" dirty="0"/>
          </a:p>
        </p:txBody>
      </p:sp>
      <p:sp>
        <p:nvSpPr>
          <p:cNvPr id="20" name="Text 18"/>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14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058400" cy="365760"/>
          </a:xfrm>
          <a:prstGeom prst="rect">
            <a:avLst/>
          </a:prstGeom>
          <a:noFill/>
          <a:ln/>
        </p:spPr>
        <p:txBody>
          <a:bodyPr wrap="square" lIns="0" tIns="0" rIns="0" bIns="0" rtlCol="0" anchor="ctr"/>
          <a:lstStyle/>
          <a:p>
            <a:pPr marL="0" indent="0">
              <a:buNone/>
            </a:pPr>
            <a:r>
              <a:rPr lang="en-US" sz="1200" b="1" kern="0" spc="200" dirty="0">
                <a:solidFill>
                  <a:srgbClr val="9E1B32"/>
                </a:solidFill>
                <a:latin typeface="Calibri" pitchFamily="34" charset="0"/>
                <a:ea typeface="Calibri" pitchFamily="34" charset="-122"/>
                <a:cs typeface="Calibri" pitchFamily="34" charset="-120"/>
              </a:rPr>
              <a:t>MODULE 5 · THE 4 FACTORS</a:t>
            </a:r>
            <a:endParaRPr lang="en-US" sz="1200" dirty="0"/>
          </a:p>
        </p:txBody>
      </p:sp>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Fair Price — Built Live</a:t>
            </a:r>
            <a:endParaRPr lang="en-US" sz="3000" dirty="0"/>
          </a:p>
        </p:txBody>
      </p:sp>
      <p:sp>
        <p:nvSpPr>
          <p:cNvPr id="4" name="Shape 2"/>
          <p:cNvSpPr/>
          <p:nvPr/>
        </p:nvSpPr>
        <p:spPr>
          <a:xfrm>
            <a:off x="640080" y="1874520"/>
            <a:ext cx="10881360" cy="960120"/>
          </a:xfrm>
          <a:prstGeom prst="roundRect">
            <a:avLst>
              <a:gd name="adj" fmla="val 7619"/>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5" name="Text 3"/>
          <p:cNvSpPr txBox="1"/>
          <p:nvPr/>
        </p:nvSpPr>
        <p:spPr>
          <a:xfrm>
            <a:off x="868680" y="1874520"/>
            <a:ext cx="2103120" cy="96012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LAND</a:t>
            </a:r>
            <a:endParaRPr lang="en-US" sz="1600" dirty="0"/>
          </a:p>
        </p:txBody>
      </p:sp>
      <p:sp>
        <p:nvSpPr>
          <p:cNvPr id="6" name="Text 4"/>
          <p:cNvSpPr txBox="1"/>
          <p:nvPr/>
        </p:nvSpPr>
        <p:spPr>
          <a:xfrm>
            <a:off x="3017520" y="1874520"/>
            <a:ext cx="3566160" cy="960120"/>
          </a:xfrm>
          <a:prstGeom prst="rect">
            <a:avLst/>
          </a:prstGeom>
          <a:noFill/>
          <a:ln/>
        </p:spPr>
        <p:txBody>
          <a:bodyPr wrap="square" lIns="0" tIns="0" rIns="0" bIns="0" rtlCol="0" anchor="ctr"/>
          <a:lstStyle/>
          <a:p>
            <a:pPr marL="0" indent="0">
              <a:buNone/>
            </a:pPr>
            <a:r>
              <a:rPr lang="en-US" sz="1450" b="1" dirty="0">
                <a:solidFill>
                  <a:srgbClr val="1F2937"/>
                </a:solidFill>
                <a:latin typeface="Calibri" pitchFamily="34" charset="0"/>
                <a:ea typeface="Calibri" pitchFamily="34" charset="-122"/>
                <a:cs typeface="Calibri" pitchFamily="34" charset="-120"/>
              </a:rPr>
              <a:t>$1,178 psf ppr</a:t>
            </a:r>
            <a:endParaRPr lang="en-US" sz="1450" dirty="0"/>
          </a:p>
        </p:txBody>
      </p:sp>
      <p:sp>
        <p:nvSpPr>
          <p:cNvPr id="7" name="Text 5"/>
          <p:cNvSpPr txBox="1"/>
          <p:nvPr/>
        </p:nvSpPr>
        <p:spPr>
          <a:xfrm>
            <a:off x="6675120" y="1874520"/>
            <a:ext cx="4663440" cy="9601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Reasonable vs. recent nearby land sales.</a:t>
            </a:r>
            <a:endParaRPr lang="en-US" sz="1200" dirty="0"/>
          </a:p>
        </p:txBody>
      </p:sp>
      <p:sp>
        <p:nvSpPr>
          <p:cNvPr id="8" name="Shape 6"/>
          <p:cNvSpPr/>
          <p:nvPr/>
        </p:nvSpPr>
        <p:spPr>
          <a:xfrm>
            <a:off x="640080" y="2990088"/>
            <a:ext cx="10881360" cy="960120"/>
          </a:xfrm>
          <a:prstGeom prst="roundRect">
            <a:avLst>
              <a:gd name="adj" fmla="val 7619"/>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9" name="Text 7"/>
          <p:cNvSpPr txBox="1"/>
          <p:nvPr/>
        </p:nvSpPr>
        <p:spPr>
          <a:xfrm>
            <a:off x="868680" y="2990088"/>
            <a:ext cx="2103120" cy="96012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EXPENSES</a:t>
            </a:r>
            <a:endParaRPr lang="en-US" sz="1600" dirty="0"/>
          </a:p>
        </p:txBody>
      </p:sp>
      <p:sp>
        <p:nvSpPr>
          <p:cNvPr id="10" name="Text 8"/>
          <p:cNvSpPr txBox="1"/>
          <p:nvPr/>
        </p:nvSpPr>
        <p:spPr>
          <a:xfrm>
            <a:off x="3017520" y="2990088"/>
            <a:ext cx="3566160" cy="960120"/>
          </a:xfrm>
          <a:prstGeom prst="rect">
            <a:avLst/>
          </a:prstGeom>
          <a:noFill/>
          <a:ln/>
        </p:spPr>
        <p:txBody>
          <a:bodyPr wrap="square" lIns="0" tIns="0" rIns="0" bIns="0" rtlCol="0" anchor="ctr"/>
          <a:lstStyle/>
          <a:p>
            <a:pPr marL="0" indent="0">
              <a:buNone/>
            </a:pPr>
            <a:r>
              <a:rPr lang="en-US" sz="1450" b="1" dirty="0">
                <a:solidFill>
                  <a:srgbClr val="1F2937"/>
                </a:solidFill>
                <a:latin typeface="Calibri" pitchFamily="34" charset="0"/>
                <a:ea typeface="Calibri" pitchFamily="34" charset="-122"/>
                <a:cs typeface="Calibri" pitchFamily="34" charset="-120"/>
              </a:rPr>
              <a:t>Not disclosed yet</a:t>
            </a:r>
            <a:endParaRPr lang="en-US" sz="1450" dirty="0"/>
          </a:p>
        </p:txBody>
      </p:sp>
      <p:sp>
        <p:nvSpPr>
          <p:cNvPr id="11" name="Text 9"/>
          <p:cNvSpPr txBox="1"/>
          <p:nvPr/>
        </p:nvSpPr>
        <p:spPr>
          <a:xfrm>
            <a:off x="6675120" y="2990088"/>
            <a:ext cx="4663440" cy="9601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Construction, financing, marketing — normal at this stage.</a:t>
            </a:r>
            <a:endParaRPr lang="en-US" sz="1200" dirty="0"/>
          </a:p>
        </p:txBody>
      </p:sp>
      <p:sp>
        <p:nvSpPr>
          <p:cNvPr id="12" name="Shape 10"/>
          <p:cNvSpPr/>
          <p:nvPr/>
        </p:nvSpPr>
        <p:spPr>
          <a:xfrm>
            <a:off x="640080" y="4105656"/>
            <a:ext cx="10881360" cy="960120"/>
          </a:xfrm>
          <a:prstGeom prst="roundRect">
            <a:avLst>
              <a:gd name="adj" fmla="val 7619"/>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13" name="Text 11"/>
          <p:cNvSpPr txBox="1"/>
          <p:nvPr/>
        </p:nvSpPr>
        <p:spPr>
          <a:xfrm>
            <a:off x="868680" y="4105656"/>
            <a:ext cx="2103120" cy="96012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PROFIT</a:t>
            </a:r>
            <a:endParaRPr lang="en-US" sz="1600" dirty="0"/>
          </a:p>
        </p:txBody>
      </p:sp>
      <p:sp>
        <p:nvSpPr>
          <p:cNvPr id="14" name="Text 12"/>
          <p:cNvSpPr txBox="1"/>
          <p:nvPr/>
        </p:nvSpPr>
        <p:spPr>
          <a:xfrm>
            <a:off x="3017520" y="4105656"/>
            <a:ext cx="3566160" cy="960120"/>
          </a:xfrm>
          <a:prstGeom prst="rect">
            <a:avLst/>
          </a:prstGeom>
          <a:noFill/>
          <a:ln/>
        </p:spPr>
        <p:txBody>
          <a:bodyPr wrap="square" lIns="0" tIns="0" rIns="0" bIns="0" rtlCol="0" anchor="ctr"/>
          <a:lstStyle/>
          <a:p>
            <a:pPr marL="0" indent="0">
              <a:buNone/>
            </a:pPr>
            <a:r>
              <a:rPr lang="en-US" sz="1450" b="1" dirty="0">
                <a:solidFill>
                  <a:srgbClr val="1F2937"/>
                </a:solidFill>
                <a:latin typeface="Calibri" pitchFamily="34" charset="0"/>
                <a:ea typeface="Calibri" pitchFamily="34" charset="-122"/>
                <a:cs typeface="Calibri" pitchFamily="34" charset="-120"/>
              </a:rPr>
              <a:t>Unknown until pricing drops</a:t>
            </a:r>
            <a:endParaRPr lang="en-US" sz="1450" dirty="0"/>
          </a:p>
        </p:txBody>
      </p:sp>
      <p:sp>
        <p:nvSpPr>
          <p:cNvPr id="15" name="Text 13"/>
          <p:cNvSpPr txBox="1"/>
          <p:nvPr/>
        </p:nvSpPr>
        <p:spPr>
          <a:xfrm>
            <a:off x="6675120" y="4105656"/>
            <a:ext cx="4663440" cy="9601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The margin a developer needs to justify building at all.</a:t>
            </a:r>
            <a:endParaRPr lang="en-US" sz="1200" dirty="0"/>
          </a:p>
        </p:txBody>
      </p:sp>
      <p:sp>
        <p:nvSpPr>
          <p:cNvPr id="16" name="Shape 14"/>
          <p:cNvSpPr/>
          <p:nvPr/>
        </p:nvSpPr>
        <p:spPr>
          <a:xfrm>
            <a:off x="640080" y="5221224"/>
            <a:ext cx="10881360" cy="960120"/>
          </a:xfrm>
          <a:prstGeom prst="roundRect">
            <a:avLst>
              <a:gd name="adj" fmla="val 7619"/>
            </a:avLst>
          </a:prstGeom>
          <a:solidFill>
            <a:srgbClr val="1B2A4A"/>
          </a:solidFill>
          <a:ln/>
          <a:effectLst>
            <a:outerShdw blurRad="101600" dist="38100" dir="5400000" algn="bl" rotWithShape="0">
              <a:srgbClr val="000000">
                <a:alpha val="18000"/>
              </a:srgbClr>
            </a:outerShdw>
          </a:effectLst>
        </p:spPr>
        <p:txBody>
          <a:bodyPr/>
          <a:lstStyle/>
          <a:p>
            <a:endParaRPr lang="en-SG"/>
          </a:p>
        </p:txBody>
      </p:sp>
      <p:sp>
        <p:nvSpPr>
          <p:cNvPr id="17" name="Text 15"/>
          <p:cNvSpPr txBox="1"/>
          <p:nvPr/>
        </p:nvSpPr>
        <p:spPr>
          <a:xfrm>
            <a:off x="868680" y="5221224"/>
            <a:ext cx="2103120" cy="960120"/>
          </a:xfrm>
          <a:prstGeom prst="rect">
            <a:avLst/>
          </a:prstGeom>
          <a:noFill/>
          <a:ln/>
        </p:spPr>
        <p:txBody>
          <a:bodyPr wrap="square" lIns="0" tIns="0" rIns="0" bIns="0" rtlCol="0" anchor="ctr"/>
          <a:lstStyle/>
          <a:p>
            <a:pPr marL="0" indent="0">
              <a:buNone/>
            </a:pPr>
            <a:r>
              <a:rPr lang="en-US" sz="1600" b="1" dirty="0">
                <a:solidFill>
                  <a:srgbClr val="C9A227"/>
                </a:solidFill>
                <a:latin typeface="Cambria" pitchFamily="34" charset="0"/>
                <a:ea typeface="Cambria" pitchFamily="34" charset="-122"/>
                <a:cs typeface="Cambria" pitchFamily="34" charset="-120"/>
              </a:rPr>
              <a:t>BENCHMARK</a:t>
            </a:r>
            <a:endParaRPr lang="en-US" sz="1600" dirty="0"/>
          </a:p>
        </p:txBody>
      </p:sp>
      <p:sp>
        <p:nvSpPr>
          <p:cNvPr id="18" name="Text 16"/>
          <p:cNvSpPr txBox="1"/>
          <p:nvPr/>
        </p:nvSpPr>
        <p:spPr>
          <a:xfrm>
            <a:off x="3017520" y="5221224"/>
            <a:ext cx="3566160" cy="96012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$2,000s – $3,100 psf (public est.)</a:t>
            </a:r>
            <a:endParaRPr lang="en-US" sz="1450" dirty="0"/>
          </a:p>
        </p:txBody>
      </p:sp>
      <p:sp>
        <p:nvSpPr>
          <p:cNvPr id="19" name="Text 17"/>
          <p:cNvSpPr txBox="1"/>
          <p:nvPr/>
        </p:nvSpPr>
        <p:spPr>
          <a:xfrm>
            <a:off x="6675120" y="5221224"/>
            <a:ext cx="4663440" cy="960120"/>
          </a:xfrm>
          <a:prstGeom prst="rect">
            <a:avLst/>
          </a:prstGeom>
          <a:noFill/>
          <a:ln/>
        </p:spPr>
        <p:txBody>
          <a:bodyPr wrap="square" lIns="0" tIns="0" rIns="0" bIns="0" rtlCol="0" anchor="ctr"/>
          <a:lstStyle/>
          <a:p>
            <a:pPr marL="0" indent="0">
              <a:buNone/>
            </a:pPr>
            <a:r>
              <a:rPr lang="en-US" sz="1200" dirty="0">
                <a:solidFill>
                  <a:srgbClr val="D7DCE8"/>
                </a:solidFill>
                <a:latin typeface="Calibri" pitchFamily="34" charset="0"/>
                <a:ea typeface="Calibri" pitchFamily="34" charset="-122"/>
                <a:cs typeface="Calibri" pitchFamily="34" charset="-120"/>
              </a:rPr>
              <a:t>What's actually proven nearby — not showflat feeling.</a:t>
            </a:r>
            <a:endParaRPr lang="en-US" sz="1200" dirty="0"/>
          </a:p>
        </p:txBody>
      </p:sp>
      <p:sp>
        <p:nvSpPr>
          <p:cNvPr id="20" name="Text 18"/>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15</a:t>
            </a:r>
            <a:endParaRPr lang="en-US" sz="900" dirty="0"/>
          </a:p>
        </p:txBody>
      </p:sp>
      <p:sp>
        <p:nvSpPr>
          <p:cNvPr id="21" name="Text 19"/>
          <p:cNvSpPr txBox="1"/>
          <p:nvPr/>
        </p:nvSpPr>
        <p:spPr>
          <a:xfrm>
            <a:off x="640080" y="6080760"/>
            <a:ext cx="10881360" cy="45720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That's the honest answer, not a dodge — nobody actually knows yet.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058400" cy="365760"/>
          </a:xfrm>
          <a:prstGeom prst="rect">
            <a:avLst/>
          </a:prstGeom>
          <a:noFill/>
          <a:ln/>
        </p:spPr>
        <p:txBody>
          <a:bodyPr wrap="square" lIns="0" tIns="0" rIns="0" bIns="0" rtlCol="0" anchor="ctr"/>
          <a:lstStyle/>
          <a:p>
            <a:pPr marL="0" indent="0">
              <a:buNone/>
            </a:pPr>
            <a:r>
              <a:rPr lang="en-US" sz="1200" b="1" kern="0" spc="200" dirty="0">
                <a:solidFill>
                  <a:srgbClr val="9E1B32"/>
                </a:solidFill>
                <a:latin typeface="Calibri" pitchFamily="34" charset="0"/>
                <a:ea typeface="Calibri" pitchFamily="34" charset="-122"/>
                <a:cs typeface="Calibri" pitchFamily="34" charset="-120"/>
              </a:rPr>
              <a:t>MODULE 5 · THE REAL TEST</a:t>
            </a:r>
            <a:endParaRPr lang="en-US" sz="1200" dirty="0"/>
          </a:p>
        </p:txBody>
      </p:sp>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Hold It Against The Real Bar</a:t>
            </a:r>
            <a:endParaRPr lang="en-US" sz="3000" dirty="0"/>
          </a:p>
        </p:txBody>
      </p:sp>
      <p:sp>
        <p:nvSpPr>
          <p:cNvPr id="4" name="Shape 2"/>
          <p:cNvSpPr/>
          <p:nvPr/>
        </p:nvSpPr>
        <p:spPr>
          <a:xfrm>
            <a:off x="640080" y="1965960"/>
            <a:ext cx="5120640" cy="3657600"/>
          </a:xfrm>
          <a:prstGeom prst="roundRect">
            <a:avLst>
              <a:gd name="adj" fmla="val 2000"/>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5" name="Text 3"/>
          <p:cNvSpPr txBox="1"/>
          <p:nvPr/>
        </p:nvSpPr>
        <p:spPr>
          <a:xfrm>
            <a:off x="868680" y="2194560"/>
            <a:ext cx="4572000" cy="365760"/>
          </a:xfrm>
          <a:prstGeom prst="rect">
            <a:avLst/>
          </a:prstGeom>
          <a:noFill/>
          <a:ln/>
        </p:spPr>
        <p:txBody>
          <a:bodyPr wrap="square" lIns="0" tIns="0" rIns="0" bIns="0" rtlCol="0" anchor="ctr"/>
          <a:lstStyle/>
          <a:p>
            <a:pPr marL="0" indent="0">
              <a:buNone/>
            </a:pPr>
            <a:r>
              <a:rPr lang="en-US" sz="1200" b="1" kern="0" spc="150" dirty="0">
                <a:solidFill>
                  <a:srgbClr val="9E1B32"/>
                </a:solidFill>
                <a:latin typeface="Calibri" pitchFamily="34" charset="0"/>
                <a:ea typeface="Calibri" pitchFamily="34" charset="-122"/>
                <a:cs typeface="Calibri" pitchFamily="34" charset="-120"/>
              </a:rPr>
              <a:t>MIDPOINT ESTIMATE</a:t>
            </a:r>
            <a:endParaRPr lang="en-US" sz="1200" dirty="0"/>
          </a:p>
        </p:txBody>
      </p:sp>
      <p:sp>
        <p:nvSpPr>
          <p:cNvPr id="6" name="Text 4"/>
          <p:cNvSpPr txBox="1"/>
          <p:nvPr/>
        </p:nvSpPr>
        <p:spPr>
          <a:xfrm>
            <a:off x="868680" y="2560320"/>
            <a:ext cx="4572000" cy="822960"/>
          </a:xfrm>
          <a:prstGeom prst="rect">
            <a:avLst/>
          </a:prstGeom>
          <a:noFill/>
          <a:ln/>
        </p:spPr>
        <p:txBody>
          <a:bodyPr wrap="square" lIns="0" tIns="0" rIns="0" bIns="0" rtlCol="0" anchor="ctr"/>
          <a:lstStyle/>
          <a:p>
            <a:pPr marL="0" indent="0">
              <a:buNone/>
            </a:pPr>
            <a:r>
              <a:rPr lang="en-US" sz="3400" b="1" dirty="0">
                <a:solidFill>
                  <a:srgbClr val="1B2A4A"/>
                </a:solidFill>
                <a:latin typeface="Cambria" pitchFamily="34" charset="0"/>
                <a:ea typeface="Cambria" pitchFamily="34" charset="-122"/>
                <a:cs typeface="Cambria" pitchFamily="34" charset="-120"/>
              </a:rPr>
              <a:t>$2,600–$2,900 psf</a:t>
            </a:r>
            <a:endParaRPr lang="en-US" sz="3400" dirty="0"/>
          </a:p>
        </p:txBody>
      </p:sp>
      <p:sp>
        <p:nvSpPr>
          <p:cNvPr id="7" name="Text 5"/>
          <p:cNvSpPr txBox="1"/>
          <p:nvPr/>
        </p:nvSpPr>
        <p:spPr>
          <a:xfrm>
            <a:off x="868680" y="3520440"/>
            <a:ext cx="4572000" cy="1920240"/>
          </a:xfrm>
          <a:prstGeom prst="rect">
            <a:avLst/>
          </a:prstGeom>
          <a:noFill/>
          <a:ln/>
        </p:spPr>
        <p:txBody>
          <a:bodyPr wrap="square" lIns="0" tIns="0" rIns="0" bIns="0" rtlCol="0" anchor="ctr"/>
          <a:lstStyle/>
          <a:p>
            <a:pPr marL="0" indent="0">
              <a:buNone/>
            </a:pPr>
            <a:r>
              <a:rPr lang="en-US" sz="1400" dirty="0">
                <a:solidFill>
                  <a:srgbClr val="1F2937"/>
                </a:solidFill>
                <a:latin typeface="Calibri" pitchFamily="34" charset="0"/>
                <a:ea typeface="Calibri" pitchFamily="34" charset="-122"/>
                <a:cs typeface="Calibri" pitchFamily="34" charset="-120"/>
              </a:rPr>
              <a:t>Middle of the public analyst range — run through the same leverage math as my own deals a few minutes ago.</a:t>
            </a:r>
            <a:endParaRPr lang="en-US" sz="1400" dirty="0"/>
          </a:p>
        </p:txBody>
      </p:sp>
      <p:sp>
        <p:nvSpPr>
          <p:cNvPr id="8" name="Shape 6"/>
          <p:cNvSpPr/>
          <p:nvPr/>
        </p:nvSpPr>
        <p:spPr>
          <a:xfrm>
            <a:off x="6080760" y="1965960"/>
            <a:ext cx="5440680" cy="3657600"/>
          </a:xfrm>
          <a:prstGeom prst="roundRect">
            <a:avLst>
              <a:gd name="adj" fmla="val 2000"/>
            </a:avLst>
          </a:prstGeom>
          <a:solidFill>
            <a:srgbClr val="1B2A4A"/>
          </a:solidFill>
          <a:ln/>
          <a:effectLst>
            <a:outerShdw blurRad="101600" dist="38100" dir="5400000" algn="bl" rotWithShape="0">
              <a:srgbClr val="000000">
                <a:alpha val="18000"/>
              </a:srgbClr>
            </a:outerShdw>
          </a:effectLst>
        </p:spPr>
        <p:txBody>
          <a:bodyPr/>
          <a:lstStyle/>
          <a:p>
            <a:endParaRPr lang="en-SG"/>
          </a:p>
        </p:txBody>
      </p:sp>
      <p:sp>
        <p:nvSpPr>
          <p:cNvPr id="9" name="Text 7"/>
          <p:cNvSpPr txBox="1"/>
          <p:nvPr/>
        </p:nvSpPr>
        <p:spPr>
          <a:xfrm>
            <a:off x="6309360" y="2194560"/>
            <a:ext cx="4937760" cy="365760"/>
          </a:xfrm>
          <a:prstGeom prst="rect">
            <a:avLst/>
          </a:prstGeom>
          <a:noFill/>
          <a:ln/>
        </p:spPr>
        <p:txBody>
          <a:bodyPr wrap="square" lIns="0" tIns="0" rIns="0" bIns="0" rtlCol="0" anchor="ctr"/>
          <a:lstStyle/>
          <a:p>
            <a:pPr marL="0" indent="0">
              <a:buNone/>
            </a:pPr>
            <a:r>
              <a:rPr lang="en-US" sz="1200" b="1" kern="0" spc="150" dirty="0">
                <a:solidFill>
                  <a:srgbClr val="C9A227"/>
                </a:solidFill>
                <a:latin typeface="Calibri" pitchFamily="34" charset="0"/>
                <a:ea typeface="Calibri" pitchFamily="34" charset="-122"/>
                <a:cs typeface="Calibri" pitchFamily="34" charset="-120"/>
              </a:rPr>
              <a:t>THE ACTUAL TEST</a:t>
            </a:r>
            <a:endParaRPr lang="en-US" sz="1200" dirty="0"/>
          </a:p>
        </p:txBody>
      </p:sp>
      <p:sp>
        <p:nvSpPr>
          <p:cNvPr id="10" name="Text 8"/>
          <p:cNvSpPr txBox="1"/>
          <p:nvPr/>
        </p:nvSpPr>
        <p:spPr>
          <a:xfrm>
            <a:off x="6309360" y="2606040"/>
            <a:ext cx="4937760" cy="2194560"/>
          </a:xfrm>
          <a:prstGeom prst="rect">
            <a:avLst/>
          </a:prstGeom>
          <a:noFill/>
          <a:ln/>
        </p:spPr>
        <p:txBody>
          <a:bodyPr wrap="square" lIns="0" tIns="0" rIns="0" bIns="0" rtlCol="0" anchor="ctr"/>
          <a:lstStyle/>
          <a:p>
            <a:pPr marL="0" indent="0">
              <a:lnSpc>
                <a:spcPct val="120000"/>
              </a:lnSpc>
              <a:buNone/>
            </a:pPr>
            <a:r>
              <a:rPr lang="en-US" sz="1500" dirty="0">
                <a:solidFill>
                  <a:srgbClr val="FFFFFF"/>
                </a:solidFill>
                <a:latin typeface="Calibri" pitchFamily="34" charset="0"/>
                <a:ea typeface="Calibri" pitchFamily="34" charset="-122"/>
                <a:cs typeface="Calibri" pitchFamily="34" charset="-120"/>
              </a:rPr>
              <a:t>At a typical loan quantum, does the growth needed to clear the S&amp;P bar over a realistic hold period look achievable — or does it need the market to do something it hasn't reliably done?</a:t>
            </a:r>
            <a:endParaRPr lang="en-US" sz="1500" dirty="0"/>
          </a:p>
        </p:txBody>
      </p:sp>
      <p:sp>
        <p:nvSpPr>
          <p:cNvPr id="11" name="Text 9"/>
          <p:cNvSpPr txBox="1"/>
          <p:nvPr/>
        </p:nvSpPr>
        <p:spPr>
          <a:xfrm>
            <a:off x="6309360" y="4709160"/>
            <a:ext cx="4937760" cy="822960"/>
          </a:xfrm>
          <a:prstGeom prst="rect">
            <a:avLst/>
          </a:prstGeom>
          <a:noFill/>
          <a:ln/>
        </p:spPr>
        <p:txBody>
          <a:bodyPr wrap="square" lIns="0" tIns="0" rIns="0" bIns="0" rtlCol="0" anchor="ctr"/>
          <a:lstStyle/>
          <a:p>
            <a:pPr marL="0" indent="0">
              <a:buNone/>
            </a:pPr>
            <a:r>
              <a:rPr lang="en-US" sz="1200" i="1" dirty="0">
                <a:solidFill>
                  <a:srgbClr val="C7CCE0"/>
                </a:solidFill>
                <a:latin typeface="Calibri" pitchFamily="34" charset="0"/>
                <a:ea typeface="Calibri" pitchFamily="34" charset="-122"/>
                <a:cs typeface="Calibri" pitchFamily="34" charset="-120"/>
              </a:rPr>
              <a:t>Not run live for your numbers tonight — that's your loan, your quantum, your hold period. But it's the exact test I'm applying to my own decision.</a:t>
            </a:r>
            <a:endParaRPr lang="en-US" sz="1200" dirty="0"/>
          </a:p>
        </p:txBody>
      </p:sp>
      <p:sp>
        <p:nvSpPr>
          <p:cNvPr id="12" name="Text 10"/>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16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058400" cy="365760"/>
          </a:xfrm>
          <a:prstGeom prst="rect">
            <a:avLst/>
          </a:prstGeom>
          <a:noFill/>
          <a:ln/>
        </p:spPr>
        <p:txBody>
          <a:bodyPr wrap="square" lIns="0" tIns="0" rIns="0" bIns="0" rtlCol="0" anchor="ctr"/>
          <a:lstStyle/>
          <a:p>
            <a:pPr marL="0" indent="0">
              <a:buNone/>
            </a:pPr>
            <a:r>
              <a:rPr lang="en-US" sz="1200" b="1" kern="0" spc="200" dirty="0">
                <a:solidFill>
                  <a:srgbClr val="9E1B32"/>
                </a:solidFill>
                <a:latin typeface="Calibri" pitchFamily="34" charset="0"/>
                <a:ea typeface="Calibri" pitchFamily="34" charset="-122"/>
                <a:cs typeface="Calibri" pitchFamily="34" charset="-120"/>
              </a:rPr>
              <a:t>MODULE 5 · VERDICT</a:t>
            </a:r>
            <a:endParaRPr lang="en-US" sz="1200" dirty="0"/>
          </a:p>
        </p:txBody>
      </p:sp>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Question 1, Honestly, By Objective</a:t>
            </a:r>
            <a:endParaRPr lang="en-US" sz="3000" dirty="0"/>
          </a:p>
        </p:txBody>
      </p:sp>
      <p:sp>
        <p:nvSpPr>
          <p:cNvPr id="4" name="Shape 2"/>
          <p:cNvSpPr/>
          <p:nvPr/>
        </p:nvSpPr>
        <p:spPr>
          <a:xfrm>
            <a:off x="640080" y="1874520"/>
            <a:ext cx="10881360" cy="1005840"/>
          </a:xfrm>
          <a:prstGeom prst="roundRect">
            <a:avLst>
              <a:gd name="adj" fmla="val 7273"/>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5" name="Text 3"/>
          <p:cNvSpPr txBox="1"/>
          <p:nvPr/>
        </p:nvSpPr>
        <p:spPr>
          <a:xfrm>
            <a:off x="868680" y="1874520"/>
            <a:ext cx="2743200" cy="100584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Stay-For-Free</a:t>
            </a:r>
            <a:endParaRPr lang="en-US" sz="1600" dirty="0"/>
          </a:p>
        </p:txBody>
      </p:sp>
      <p:sp>
        <p:nvSpPr>
          <p:cNvPr id="6" name="Text 4"/>
          <p:cNvSpPr txBox="1"/>
          <p:nvPr/>
        </p:nvSpPr>
        <p:spPr>
          <a:xfrm>
            <a:off x="3703320" y="1874520"/>
            <a:ext cx="7589520" cy="1005840"/>
          </a:xfrm>
          <a:prstGeom prst="rect">
            <a:avLst/>
          </a:prstGeom>
          <a:noFill/>
          <a:ln/>
        </p:spPr>
        <p:txBody>
          <a:bodyPr wrap="square" lIns="0" tIns="0" rIns="0" bIns="0" rtlCol="0" anchor="ctr"/>
          <a:lstStyle/>
          <a:p>
            <a:pPr marL="0" indent="0">
              <a:buNone/>
            </a:pPr>
            <a:r>
              <a:rPr lang="en-US" sz="1250" dirty="0">
                <a:solidFill>
                  <a:srgbClr val="1F2937"/>
                </a:solidFill>
                <a:latin typeface="Calibri" pitchFamily="34" charset="0"/>
                <a:ea typeface="Calibri" pitchFamily="34" charset="-122"/>
                <a:cs typeface="Calibri" pitchFamily="34" charset="-120"/>
              </a:rPr>
              <a:t>Strong fit — if the final price doesn't outrun what “for free” actually requires.</a:t>
            </a:r>
            <a:endParaRPr lang="en-US" sz="1250" dirty="0"/>
          </a:p>
        </p:txBody>
      </p:sp>
      <p:sp>
        <p:nvSpPr>
          <p:cNvPr id="7" name="Shape 5"/>
          <p:cNvSpPr/>
          <p:nvPr/>
        </p:nvSpPr>
        <p:spPr>
          <a:xfrm>
            <a:off x="640080" y="3044952"/>
            <a:ext cx="10881360" cy="1005840"/>
          </a:xfrm>
          <a:prstGeom prst="roundRect">
            <a:avLst>
              <a:gd name="adj" fmla="val 7273"/>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8" name="Text 6"/>
          <p:cNvSpPr txBox="1"/>
          <p:nvPr/>
        </p:nvSpPr>
        <p:spPr>
          <a:xfrm>
            <a:off x="868680" y="3044952"/>
            <a:ext cx="2743200" cy="100584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Kids / School</a:t>
            </a:r>
            <a:endParaRPr lang="en-US" sz="1600" dirty="0"/>
          </a:p>
        </p:txBody>
      </p:sp>
      <p:sp>
        <p:nvSpPr>
          <p:cNvPr id="9" name="Text 7"/>
          <p:cNvSpPr txBox="1"/>
          <p:nvPr/>
        </p:nvSpPr>
        <p:spPr>
          <a:xfrm>
            <a:off x="3703320" y="3044952"/>
            <a:ext cx="7589520" cy="1005840"/>
          </a:xfrm>
          <a:prstGeom prst="rect">
            <a:avLst/>
          </a:prstGeom>
          <a:noFill/>
          <a:ln/>
        </p:spPr>
        <p:txBody>
          <a:bodyPr wrap="square" lIns="0" tIns="0" rIns="0" bIns="0" rtlCol="0" anchor="ctr"/>
          <a:lstStyle/>
          <a:p>
            <a:pPr marL="0" indent="0">
              <a:buNone/>
            </a:pPr>
            <a:r>
              <a:rPr lang="en-US" sz="1250" dirty="0">
                <a:solidFill>
                  <a:srgbClr val="1F2937"/>
                </a:solidFill>
                <a:latin typeface="Calibri" pitchFamily="34" charset="0"/>
                <a:ea typeface="Calibri" pitchFamily="34" charset="-122"/>
                <a:cs typeface="Calibri" pitchFamily="34" charset="-120"/>
              </a:rPr>
              <a:t>Strong fit — one of the better arguments for this project specifically.</a:t>
            </a:r>
            <a:endParaRPr lang="en-US" sz="1250" dirty="0"/>
          </a:p>
        </p:txBody>
      </p:sp>
      <p:sp>
        <p:nvSpPr>
          <p:cNvPr id="10" name="Shape 8"/>
          <p:cNvSpPr/>
          <p:nvPr/>
        </p:nvSpPr>
        <p:spPr>
          <a:xfrm>
            <a:off x="640080" y="4215384"/>
            <a:ext cx="10881360" cy="1005840"/>
          </a:xfrm>
          <a:prstGeom prst="roundRect">
            <a:avLst>
              <a:gd name="adj" fmla="val 7273"/>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11" name="Text 9"/>
          <p:cNvSpPr txBox="1"/>
          <p:nvPr/>
        </p:nvSpPr>
        <p:spPr>
          <a:xfrm>
            <a:off x="868680" y="4215384"/>
            <a:ext cx="2743200" cy="100584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Legacy</a:t>
            </a:r>
            <a:endParaRPr lang="en-US" sz="1600" dirty="0"/>
          </a:p>
        </p:txBody>
      </p:sp>
      <p:sp>
        <p:nvSpPr>
          <p:cNvPr id="12" name="Text 10"/>
          <p:cNvSpPr txBox="1"/>
          <p:nvPr/>
        </p:nvSpPr>
        <p:spPr>
          <a:xfrm>
            <a:off x="3703320" y="4215384"/>
            <a:ext cx="7589520" cy="1005840"/>
          </a:xfrm>
          <a:prstGeom prst="rect">
            <a:avLst/>
          </a:prstGeom>
          <a:noFill/>
          <a:ln/>
        </p:spPr>
        <p:txBody>
          <a:bodyPr wrap="square" lIns="0" tIns="0" rIns="0" bIns="0" rtlCol="0" anchor="ctr"/>
          <a:lstStyle/>
          <a:p>
            <a:pPr marL="0" indent="0">
              <a:buNone/>
            </a:pPr>
            <a:r>
              <a:rPr lang="en-US" sz="1250" dirty="0">
                <a:solidFill>
                  <a:srgbClr val="1F2937"/>
                </a:solidFill>
                <a:latin typeface="Calibri" pitchFamily="34" charset="0"/>
                <a:ea typeface="Calibri" pitchFamily="34" charset="-122"/>
                <a:cs typeface="Calibri" pitchFamily="34" charset="-120"/>
              </a:rPr>
              <a:t>Reasonable — the 99-year lease is worth factoring into a multi-decade hold.</a:t>
            </a:r>
            <a:endParaRPr lang="en-US" sz="1250" dirty="0"/>
          </a:p>
        </p:txBody>
      </p:sp>
      <p:sp>
        <p:nvSpPr>
          <p:cNvPr id="13" name="Shape 11"/>
          <p:cNvSpPr/>
          <p:nvPr/>
        </p:nvSpPr>
        <p:spPr>
          <a:xfrm>
            <a:off x="640080" y="5385816"/>
            <a:ext cx="10881360" cy="1005840"/>
          </a:xfrm>
          <a:prstGeom prst="roundRect">
            <a:avLst>
              <a:gd name="adj" fmla="val 7273"/>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14" name="Text 12"/>
          <p:cNvSpPr txBox="1"/>
          <p:nvPr/>
        </p:nvSpPr>
        <p:spPr>
          <a:xfrm>
            <a:off x="868680" y="5385816"/>
            <a:ext cx="2743200" cy="100584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Pure Investment</a:t>
            </a:r>
            <a:endParaRPr lang="en-US" sz="1600" dirty="0"/>
          </a:p>
        </p:txBody>
      </p:sp>
      <p:sp>
        <p:nvSpPr>
          <p:cNvPr id="15" name="Text 13"/>
          <p:cNvSpPr txBox="1"/>
          <p:nvPr/>
        </p:nvSpPr>
        <p:spPr>
          <a:xfrm>
            <a:off x="3703320" y="5385816"/>
            <a:ext cx="7589520" cy="1005840"/>
          </a:xfrm>
          <a:prstGeom prst="rect">
            <a:avLst/>
          </a:prstGeom>
          <a:noFill/>
          <a:ln/>
        </p:spPr>
        <p:txBody>
          <a:bodyPr wrap="square" lIns="0" tIns="0" rIns="0" bIns="0" rtlCol="0" anchor="ctr"/>
          <a:lstStyle/>
          <a:p>
            <a:pPr marL="0" indent="0">
              <a:buNone/>
            </a:pPr>
            <a:r>
              <a:rPr lang="en-US" sz="1250" dirty="0">
                <a:solidFill>
                  <a:srgbClr val="1F2937"/>
                </a:solidFill>
                <a:latin typeface="Calibri" pitchFamily="34" charset="0"/>
                <a:ea typeface="Calibri" pitchFamily="34" charset="-122"/>
                <a:cs typeface="Calibri" pitchFamily="34" charset="-120"/>
              </a:rPr>
              <a:t>Needs real scrutiny — until price is confirmed, I can't tell you this clears the bar.</a:t>
            </a:r>
            <a:endParaRPr lang="en-US" sz="1250" dirty="0"/>
          </a:p>
        </p:txBody>
      </p:sp>
      <p:sp>
        <p:nvSpPr>
          <p:cNvPr id="16" name="Text 14"/>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17</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2286000" y="4389120"/>
            <a:ext cx="5486400" cy="5486400"/>
          </a:xfrm>
          <a:prstGeom prst="ellipse">
            <a:avLst/>
          </a:prstGeom>
          <a:solidFill>
            <a:srgbClr val="121D33"/>
          </a:solidFill>
          <a:ln/>
        </p:spPr>
        <p:txBody>
          <a:bodyPr/>
          <a:lstStyle/>
          <a:p>
            <a:endParaRPr lang="en-SG"/>
          </a:p>
        </p:txBody>
      </p:sp>
      <p:sp>
        <p:nvSpPr>
          <p:cNvPr id="3" name="Text 1"/>
          <p:cNvSpPr txBox="1"/>
          <p:nvPr/>
        </p:nvSpPr>
        <p:spPr>
          <a:xfrm>
            <a:off x="914400" y="2331720"/>
            <a:ext cx="10332720" cy="457200"/>
          </a:xfrm>
          <a:prstGeom prst="rect">
            <a:avLst/>
          </a:prstGeom>
          <a:noFill/>
          <a:ln/>
        </p:spPr>
        <p:txBody>
          <a:bodyPr wrap="square" lIns="0" tIns="0" rIns="0" bIns="0" rtlCol="0" anchor="ctr"/>
          <a:lstStyle/>
          <a:p>
            <a:pPr marL="0" indent="0" algn="l">
              <a:buNone/>
            </a:pPr>
            <a:r>
              <a:rPr lang="en-US" sz="1400" b="1" kern="0" spc="300" dirty="0">
                <a:solidFill>
                  <a:srgbClr val="C9A227"/>
                </a:solidFill>
                <a:latin typeface="Calibri" pitchFamily="34" charset="0"/>
                <a:ea typeface="Calibri" pitchFamily="34" charset="-122"/>
                <a:cs typeface="Calibri" pitchFamily="34" charset="-120"/>
              </a:rPr>
              <a:t>QUESTION 2</a:t>
            </a:r>
            <a:endParaRPr lang="en-US" sz="1400" dirty="0"/>
          </a:p>
        </p:txBody>
      </p:sp>
      <p:sp>
        <p:nvSpPr>
          <p:cNvPr id="4" name="Text 2"/>
          <p:cNvSpPr txBox="1"/>
          <p:nvPr/>
        </p:nvSpPr>
        <p:spPr>
          <a:xfrm>
            <a:off x="914400" y="2788920"/>
            <a:ext cx="10332720" cy="1737360"/>
          </a:xfrm>
          <a:prstGeom prst="rect">
            <a:avLst/>
          </a:prstGeom>
          <a:noFill/>
          <a:ln/>
        </p:spPr>
        <p:txBody>
          <a:bodyPr wrap="square" lIns="0" tIns="0" rIns="0" bIns="0" rtlCol="0" anchor="ctr"/>
          <a:lstStyle/>
          <a:p>
            <a:pPr marL="0" indent="0">
              <a:lnSpc>
                <a:spcPct val="105000"/>
              </a:lnSpc>
              <a:buNone/>
            </a:pPr>
            <a:r>
              <a:rPr lang="en-US" sz="3400" b="1" dirty="0">
                <a:solidFill>
                  <a:srgbClr val="FFFFFF"/>
                </a:solidFill>
                <a:latin typeface="Cambria" pitchFamily="34" charset="0"/>
                <a:ea typeface="Cambria" pitchFamily="34" charset="-122"/>
                <a:cs typeface="Cambria" pitchFamily="34" charset="-120"/>
              </a:rPr>
              <a:t>Even If It's A Fit —</a:t>
            </a:r>
            <a:endParaRPr lang="en-US" sz="3400" dirty="0"/>
          </a:p>
          <a:p>
            <a:pPr marL="0" indent="0">
              <a:lnSpc>
                <a:spcPct val="105000"/>
              </a:lnSpc>
              <a:buNone/>
            </a:pPr>
            <a:r>
              <a:rPr lang="en-US" sz="3400" b="1" dirty="0">
                <a:solidFill>
                  <a:srgbClr val="FFFFFF"/>
                </a:solidFill>
                <a:latin typeface="Cambria" pitchFamily="34" charset="0"/>
                <a:ea typeface="Cambria" pitchFamily="34" charset="-122"/>
                <a:cs typeface="Cambria" pitchFamily="34" charset="-120"/>
              </a:rPr>
              <a:t>Will You Get It?</a:t>
            </a:r>
            <a:endParaRPr lang="en-US" sz="3400" dirty="0"/>
          </a:p>
        </p:txBody>
      </p:sp>
      <p:sp>
        <p:nvSpPr>
          <p:cNvPr id="5" name="Text 3"/>
          <p:cNvSpPr txBox="1"/>
          <p:nvPr/>
        </p:nvSpPr>
        <p:spPr>
          <a:xfrm>
            <a:off x="914400" y="4480560"/>
            <a:ext cx="9692640" cy="731520"/>
          </a:xfrm>
          <a:prstGeom prst="rect">
            <a:avLst/>
          </a:prstGeom>
          <a:noFill/>
          <a:ln/>
        </p:spPr>
        <p:txBody>
          <a:bodyPr wrap="square" lIns="0" tIns="0" rIns="0" bIns="0" rtlCol="0" anchor="ctr"/>
          <a:lstStyle/>
          <a:p>
            <a:pPr marL="0" indent="0">
              <a:buNone/>
            </a:pPr>
            <a:r>
              <a:rPr lang="en-US" sz="1600" dirty="0">
                <a:solidFill>
                  <a:srgbClr val="D7DCE8"/>
                </a:solidFill>
                <a:latin typeface="Calibri" pitchFamily="34" charset="0"/>
                <a:ea typeface="Calibri" pitchFamily="34" charset="-122"/>
                <a:cs typeface="Calibri" pitchFamily="34" charset="-120"/>
              </a:rPr>
              <a:t>That's probability. Almost nobody checks it before they ballot.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txBody>
          <a:bodyPr/>
          <a:lstStyle/>
          <a:p>
            <a:endParaRPr lang="en-SG"/>
          </a:p>
        </p:txBody>
      </p:sp>
      <p:sp>
        <p:nvSpPr>
          <p:cNvPr id="3" name="Text 1"/>
          <p:cNvSpPr txBox="1"/>
          <p:nvPr/>
        </p:nvSpPr>
        <p:spPr>
          <a:xfrm>
            <a:off x="914400" y="2286000"/>
            <a:ext cx="10332720" cy="914400"/>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A CROWDED BALLOT PROVES DEMAND.</a:t>
            </a:r>
            <a:endParaRPr lang="en-US" sz="3400" dirty="0"/>
          </a:p>
        </p:txBody>
      </p:sp>
      <p:sp>
        <p:nvSpPr>
          <p:cNvPr id="4" name="Text 2"/>
          <p:cNvSpPr txBox="1"/>
          <p:nvPr/>
        </p:nvSpPr>
        <p:spPr>
          <a:xfrm>
            <a:off x="914400" y="3200400"/>
            <a:ext cx="10332720" cy="914400"/>
          </a:xfrm>
          <a:prstGeom prst="rect">
            <a:avLst/>
          </a:prstGeom>
          <a:noFill/>
          <a:ln/>
        </p:spPr>
        <p:txBody>
          <a:bodyPr wrap="square" lIns="0" tIns="0" rIns="0" bIns="0" rtlCol="0" anchor="ctr"/>
          <a:lstStyle/>
          <a:p>
            <a:pPr marL="0" indent="0" algn="ctr">
              <a:buNone/>
            </a:pPr>
            <a:r>
              <a:rPr lang="en-US" sz="3400" b="1" dirty="0">
                <a:solidFill>
                  <a:srgbClr val="9E1B32"/>
                </a:solidFill>
                <a:latin typeface="Cambria" pitchFamily="34" charset="0"/>
                <a:ea typeface="Cambria" pitchFamily="34" charset="-122"/>
                <a:cs typeface="Cambria" pitchFamily="34" charset="-120"/>
              </a:rPr>
              <a:t>IT DOES NOT PROVE VALUE.</a:t>
            </a:r>
            <a:endParaRPr lang="en-US" sz="3400" dirty="0"/>
          </a:p>
        </p:txBody>
      </p:sp>
      <p:sp>
        <p:nvSpPr>
          <p:cNvPr id="5" name="Text 3"/>
          <p:cNvSpPr txBox="1"/>
          <p:nvPr/>
        </p:nvSpPr>
        <p:spPr>
          <a:xfrm>
            <a:off x="1828800" y="4343400"/>
            <a:ext cx="8503920" cy="731520"/>
          </a:xfrm>
          <a:prstGeom prst="rect">
            <a:avLst/>
          </a:prstGeom>
          <a:noFill/>
          <a:ln/>
        </p:spPr>
        <p:txBody>
          <a:bodyPr wrap="square" lIns="0" tIns="0" rIns="0" bIns="0" rtlCol="0" anchor="ctr"/>
          <a:lstStyle/>
          <a:p>
            <a:pPr marL="0" indent="0" algn="ctr">
              <a:buNone/>
            </a:pPr>
            <a:r>
              <a:rPr lang="en-US" sz="1500" i="1" dirty="0">
                <a:solidFill>
                  <a:srgbClr val="6B7280"/>
                </a:solidFill>
                <a:latin typeface="Calibri" pitchFamily="34" charset="0"/>
                <a:ea typeface="Calibri" pitchFamily="34" charset="-122"/>
                <a:cs typeface="Calibri" pitchFamily="34" charset="-120"/>
              </a:rPr>
              <a:t>Sellout speed reflects pricing and hype on the day — not what happens to the project over the next 5 to 10 years.</a:t>
            </a:r>
            <a:endParaRPr lang="en-US" sz="1500" dirty="0"/>
          </a:p>
        </p:txBody>
      </p:sp>
      <p:sp>
        <p:nvSpPr>
          <p:cNvPr id="6" name="Text 4"/>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19</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058400" cy="365760"/>
          </a:xfrm>
          <a:prstGeom prst="rect">
            <a:avLst/>
          </a:prstGeom>
          <a:noFill/>
          <a:ln/>
        </p:spPr>
        <p:txBody>
          <a:bodyPr wrap="square" lIns="0" tIns="0" rIns="0" bIns="0" rtlCol="0" anchor="ctr"/>
          <a:lstStyle/>
          <a:p>
            <a:pPr marL="0" indent="0">
              <a:buNone/>
            </a:pPr>
            <a:r>
              <a:rPr lang="en-US" sz="1200" b="1" kern="0" spc="200" dirty="0">
                <a:solidFill>
                  <a:srgbClr val="9E1B32"/>
                </a:solidFill>
                <a:latin typeface="Calibri" pitchFamily="34" charset="0"/>
                <a:ea typeface="Calibri" pitchFamily="34" charset="-122"/>
                <a:cs typeface="Calibri" pitchFamily="34" charset="-120"/>
              </a:rPr>
              <a:t>MODULE 6 · PROBABILITY</a:t>
            </a:r>
            <a:endParaRPr lang="en-US" sz="1200" dirty="0"/>
          </a:p>
        </p:txBody>
      </p:sp>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Same Project. Different Odds.</a:t>
            </a:r>
            <a:endParaRPr lang="en-US" sz="3000" dirty="0"/>
          </a:p>
        </p:txBody>
      </p:sp>
      <p:graphicFrame>
        <p:nvGraphicFramePr>
          <p:cNvPr id="4" name="Chart 0"/>
          <p:cNvGraphicFramePr/>
          <p:nvPr/>
        </p:nvGraphicFramePr>
        <p:xfrm>
          <a:off x="640080" y="1874520"/>
          <a:ext cx="493776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989320" y="1874520"/>
            <a:ext cx="5532120" cy="3931920"/>
          </a:xfrm>
          <a:prstGeom prst="roundRect">
            <a:avLst>
              <a:gd name="adj" fmla="val 1860"/>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6" name="Text 3"/>
          <p:cNvSpPr txBox="1"/>
          <p:nvPr/>
        </p:nvSpPr>
        <p:spPr>
          <a:xfrm>
            <a:off x="6217920" y="2103120"/>
            <a:ext cx="5074920" cy="822960"/>
          </a:xfrm>
          <a:prstGeom prst="rect">
            <a:avLst/>
          </a:prstGeom>
          <a:noFill/>
          <a:ln/>
        </p:spPr>
        <p:txBody>
          <a:bodyPr wrap="square" lIns="0" tIns="0" rIns="0" bIns="0" rtlCol="0" anchor="ctr"/>
          <a:lstStyle/>
          <a:p>
            <a:pPr marL="0" indent="0">
              <a:buNone/>
            </a:pPr>
            <a:r>
              <a:rPr lang="en-US" sz="1500" dirty="0">
                <a:solidFill>
                  <a:srgbClr val="1F2937"/>
                </a:solidFill>
                <a:latin typeface="Calibri" pitchFamily="34" charset="0"/>
                <a:ea typeface="Calibri" pitchFamily="34" charset="-122"/>
                <a:cs typeface="Calibri" pitchFamily="34" charset="-120"/>
              </a:rPr>
              <a:t>Of the 1,268 total units, the bulk sits in the smaller 2- and 3-bedroom range.</a:t>
            </a:r>
            <a:endParaRPr lang="en-US" sz="1500" dirty="0"/>
          </a:p>
        </p:txBody>
      </p:sp>
      <p:sp>
        <p:nvSpPr>
          <p:cNvPr id="7" name="Shape 4"/>
          <p:cNvSpPr/>
          <p:nvPr/>
        </p:nvSpPr>
        <p:spPr>
          <a:xfrm>
            <a:off x="6217920" y="3063240"/>
            <a:ext cx="5074920" cy="0"/>
          </a:xfrm>
          <a:prstGeom prst="line">
            <a:avLst/>
          </a:prstGeom>
          <a:noFill/>
          <a:ln w="12700">
            <a:solidFill>
              <a:srgbClr val="D9DCE3"/>
            </a:solidFill>
            <a:prstDash val="solid"/>
          </a:ln>
        </p:spPr>
        <p:txBody>
          <a:bodyPr/>
          <a:lstStyle/>
          <a:p>
            <a:endParaRPr lang="en-SG"/>
          </a:p>
        </p:txBody>
      </p:sp>
      <p:sp>
        <p:nvSpPr>
          <p:cNvPr id="8" name="Text 5"/>
          <p:cNvSpPr txBox="1"/>
          <p:nvPr/>
        </p:nvSpPr>
        <p:spPr>
          <a:xfrm>
            <a:off x="6217920" y="3246120"/>
            <a:ext cx="5074920" cy="118872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A buyer chasing a family-sized unit faces structurally different odds than a 2-bedroom buyer — same project, very different probability.</a:t>
            </a:r>
            <a:endParaRPr lang="en-US" sz="1500" dirty="0"/>
          </a:p>
        </p:txBody>
      </p:sp>
      <p:sp>
        <p:nvSpPr>
          <p:cNvPr id="9" name="Text 6"/>
          <p:cNvSpPr txBox="1"/>
          <p:nvPr/>
        </p:nvSpPr>
        <p:spPr>
          <a:xfrm>
            <a:off x="6217920" y="4617720"/>
            <a:ext cx="5074920" cy="822960"/>
          </a:xfrm>
          <a:prstGeom prst="rect">
            <a:avLst/>
          </a:prstGeom>
          <a:noFill/>
          <a:ln/>
        </p:spPr>
        <p:txBody>
          <a:bodyPr wrap="square" lIns="0" tIns="0" rIns="0" bIns="0" rtlCol="0" anchor="ctr"/>
          <a:lstStyle/>
          <a:p>
            <a:pPr marL="0" indent="0">
              <a:buNone/>
            </a:pPr>
            <a:r>
              <a:rPr lang="en-US" sz="1300" i="1" dirty="0">
                <a:solidFill>
                  <a:srgbClr val="9E1B32"/>
                </a:solidFill>
                <a:latin typeface="Calibri" pitchFamily="34" charset="0"/>
                <a:ea typeface="Calibri" pitchFamily="34" charset="-122"/>
                <a:cs typeface="Calibri" pitchFamily="34" charset="-120"/>
              </a:rPr>
              <a:t>Most people find this out live, standing in the room — too late to plan around it.</a:t>
            </a:r>
            <a:endParaRPr lang="en-US" sz="1300" dirty="0"/>
          </a:p>
        </p:txBody>
      </p:sp>
      <p:sp>
        <p:nvSpPr>
          <p:cNvPr id="10" name="Text 7"/>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20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058400" cy="365760"/>
          </a:xfrm>
          <a:prstGeom prst="rect">
            <a:avLst/>
          </a:prstGeom>
          <a:noFill/>
          <a:ln/>
        </p:spPr>
        <p:txBody>
          <a:bodyPr wrap="square" lIns="0" tIns="0" rIns="0" bIns="0" rtlCol="0" anchor="ctr"/>
          <a:lstStyle/>
          <a:p>
            <a:pPr marL="0" indent="0">
              <a:buNone/>
            </a:pPr>
            <a:r>
              <a:rPr lang="en-US" sz="1200" b="1" kern="0" spc="200" dirty="0">
                <a:solidFill>
                  <a:srgbClr val="9E1B32"/>
                </a:solidFill>
                <a:latin typeface="Calibri" pitchFamily="34" charset="0"/>
                <a:ea typeface="Calibri" pitchFamily="34" charset="-122"/>
                <a:cs typeface="Calibri" pitchFamily="34" charset="-120"/>
              </a:rPr>
              <a:t>MODULE 7 · THE PROCESS</a:t>
            </a:r>
            <a:endParaRPr lang="en-US" sz="1200" dirty="0"/>
          </a:p>
        </p:txBody>
      </p:sp>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Before / During / After The Ballot</a:t>
            </a:r>
            <a:endParaRPr lang="en-US" sz="3000" dirty="0"/>
          </a:p>
        </p:txBody>
      </p:sp>
      <p:sp>
        <p:nvSpPr>
          <p:cNvPr id="4" name="Shape 2"/>
          <p:cNvSpPr/>
          <p:nvPr/>
        </p:nvSpPr>
        <p:spPr>
          <a:xfrm>
            <a:off x="640080" y="1965960"/>
            <a:ext cx="3520440" cy="3657600"/>
          </a:xfrm>
          <a:prstGeom prst="roundRect">
            <a:avLst>
              <a:gd name="adj" fmla="val 2078"/>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5" name="Shape 3"/>
          <p:cNvSpPr/>
          <p:nvPr/>
        </p:nvSpPr>
        <p:spPr>
          <a:xfrm>
            <a:off x="914400" y="2240280"/>
            <a:ext cx="640080" cy="640080"/>
          </a:xfrm>
          <a:prstGeom prst="ellipse">
            <a:avLst/>
          </a:prstGeom>
          <a:solidFill>
            <a:srgbClr val="1B2A4A"/>
          </a:solidFill>
          <a:ln/>
          <a:effectLst>
            <a:outerShdw blurRad="101600" dist="38100" dir="5400000" algn="bl" rotWithShape="0">
              <a:srgbClr val="000000">
                <a:alpha val="18000"/>
              </a:srgbClr>
            </a:outerShdw>
          </a:effectLst>
        </p:spPr>
        <p:txBody>
          <a:bodyPr/>
          <a:lstStyle/>
          <a:p>
            <a:endParaRPr lang="en-SG"/>
          </a:p>
        </p:txBody>
      </p:sp>
      <p:sp>
        <p:nvSpPr>
          <p:cNvPr id="6" name="Text 4"/>
          <p:cNvSpPr txBox="1"/>
          <p:nvPr/>
        </p:nvSpPr>
        <p:spPr>
          <a:xfrm>
            <a:off x="914400" y="2240280"/>
            <a:ext cx="6400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914400" y="3063240"/>
            <a:ext cx="2971800" cy="457200"/>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BEFORE</a:t>
            </a:r>
            <a:endParaRPr lang="en-US" sz="1900" dirty="0"/>
          </a:p>
        </p:txBody>
      </p:sp>
      <p:sp>
        <p:nvSpPr>
          <p:cNvPr id="8" name="Text 6"/>
          <p:cNvSpPr txBox="1"/>
          <p:nvPr/>
        </p:nvSpPr>
        <p:spPr>
          <a:xfrm>
            <a:off x="914400" y="3566160"/>
            <a:ext cx="2971800" cy="1920240"/>
          </a:xfrm>
          <a:prstGeom prst="rect">
            <a:avLst/>
          </a:prstGeom>
          <a:noFill/>
          <a:ln/>
        </p:spPr>
        <p:txBody>
          <a:bodyPr wrap="square" lIns="0" tIns="0" rIns="0" bIns="0" rtlCol="0" anchor="ctr"/>
          <a:lstStyle/>
          <a:p>
            <a:pPr marL="0" indent="0">
              <a:buNone/>
            </a:pPr>
            <a:r>
              <a:rPr lang="en-US" sz="1250" dirty="0">
                <a:solidFill>
                  <a:srgbClr val="1F2937"/>
                </a:solidFill>
                <a:latin typeface="Calibri" pitchFamily="34" charset="0"/>
                <a:ea typeface="Calibri" pitchFamily="34" charset="-122"/>
                <a:cs typeface="Calibri" pitchFamily="34" charset="-120"/>
              </a:rPr>
              <a:t>Walk-away price set weeks ahead. Ranked stack list decided at home. Financing actually sorted — if you're not ready, walk away.</a:t>
            </a:r>
            <a:endParaRPr lang="en-US" sz="1250" dirty="0"/>
          </a:p>
        </p:txBody>
      </p:sp>
      <p:sp>
        <p:nvSpPr>
          <p:cNvPr id="9" name="Shape 7"/>
          <p:cNvSpPr/>
          <p:nvPr/>
        </p:nvSpPr>
        <p:spPr>
          <a:xfrm>
            <a:off x="4187952" y="3520440"/>
            <a:ext cx="320040" cy="365760"/>
          </a:xfrm>
          <a:prstGeom prst="rightArrow">
            <a:avLst/>
          </a:prstGeom>
          <a:solidFill>
            <a:srgbClr val="C7CCD6"/>
          </a:solidFill>
          <a:ln/>
        </p:spPr>
        <p:txBody>
          <a:bodyPr/>
          <a:lstStyle/>
          <a:p>
            <a:endParaRPr lang="en-SG"/>
          </a:p>
        </p:txBody>
      </p:sp>
      <p:sp>
        <p:nvSpPr>
          <p:cNvPr id="10" name="Shape 8"/>
          <p:cNvSpPr/>
          <p:nvPr/>
        </p:nvSpPr>
        <p:spPr>
          <a:xfrm>
            <a:off x="4379976" y="1965960"/>
            <a:ext cx="3520440" cy="3657600"/>
          </a:xfrm>
          <a:prstGeom prst="roundRect">
            <a:avLst>
              <a:gd name="adj" fmla="val 2078"/>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11" name="Shape 9"/>
          <p:cNvSpPr/>
          <p:nvPr/>
        </p:nvSpPr>
        <p:spPr>
          <a:xfrm>
            <a:off x="4654296" y="2240280"/>
            <a:ext cx="640080" cy="640080"/>
          </a:xfrm>
          <a:prstGeom prst="ellipse">
            <a:avLst/>
          </a:prstGeom>
          <a:solidFill>
            <a:srgbClr val="9E1B32"/>
          </a:solidFill>
          <a:ln/>
          <a:effectLst>
            <a:outerShdw blurRad="101600" dist="38100" dir="5400000" algn="bl" rotWithShape="0">
              <a:srgbClr val="000000">
                <a:alpha val="18000"/>
              </a:srgbClr>
            </a:outerShdw>
          </a:effectLst>
        </p:spPr>
        <p:txBody>
          <a:bodyPr/>
          <a:lstStyle/>
          <a:p>
            <a:endParaRPr lang="en-SG"/>
          </a:p>
        </p:txBody>
      </p:sp>
      <p:sp>
        <p:nvSpPr>
          <p:cNvPr id="12" name="Text 10"/>
          <p:cNvSpPr txBox="1"/>
          <p:nvPr/>
        </p:nvSpPr>
        <p:spPr>
          <a:xfrm>
            <a:off x="4654296" y="2240280"/>
            <a:ext cx="6400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4654296" y="3063240"/>
            <a:ext cx="2971800" cy="457200"/>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DURING</a:t>
            </a:r>
            <a:endParaRPr lang="en-US" sz="1900" dirty="0"/>
          </a:p>
        </p:txBody>
      </p:sp>
      <p:sp>
        <p:nvSpPr>
          <p:cNvPr id="14" name="Text 12"/>
          <p:cNvSpPr txBox="1"/>
          <p:nvPr/>
        </p:nvSpPr>
        <p:spPr>
          <a:xfrm>
            <a:off x="4654296" y="3566160"/>
            <a:ext cx="2971800" cy="1920240"/>
          </a:xfrm>
          <a:prstGeom prst="rect">
            <a:avLst/>
          </a:prstGeom>
          <a:noFill/>
          <a:ln/>
        </p:spPr>
        <p:txBody>
          <a:bodyPr wrap="square" lIns="0" tIns="0" rIns="0" bIns="0" rtlCol="0" anchor="ctr"/>
          <a:lstStyle/>
          <a:p>
            <a:pPr marL="0" indent="0">
              <a:buNone/>
            </a:pPr>
            <a:r>
              <a:rPr lang="en-US" sz="1250" dirty="0">
                <a:solidFill>
                  <a:srgbClr val="1F2937"/>
                </a:solidFill>
                <a:latin typeface="Calibri" pitchFamily="34" charset="0"/>
                <a:ea typeface="Calibri" pitchFamily="34" charset="-122"/>
                <a:cs typeface="Calibri" pitchFamily="34" charset="-120"/>
              </a:rPr>
              <a:t>What to do live if your first choice is gone. Discipline, not panic — the hardest thing without a plan already decided.</a:t>
            </a:r>
            <a:endParaRPr lang="en-US" sz="1250" dirty="0"/>
          </a:p>
        </p:txBody>
      </p:sp>
      <p:sp>
        <p:nvSpPr>
          <p:cNvPr id="15" name="Shape 13"/>
          <p:cNvSpPr/>
          <p:nvPr/>
        </p:nvSpPr>
        <p:spPr>
          <a:xfrm>
            <a:off x="7927848" y="3520440"/>
            <a:ext cx="320040" cy="365760"/>
          </a:xfrm>
          <a:prstGeom prst="rightArrow">
            <a:avLst/>
          </a:prstGeom>
          <a:solidFill>
            <a:srgbClr val="C7CCD6"/>
          </a:solidFill>
          <a:ln/>
        </p:spPr>
        <p:txBody>
          <a:bodyPr/>
          <a:lstStyle/>
          <a:p>
            <a:endParaRPr lang="en-SG"/>
          </a:p>
        </p:txBody>
      </p:sp>
      <p:sp>
        <p:nvSpPr>
          <p:cNvPr id="16" name="Shape 14"/>
          <p:cNvSpPr/>
          <p:nvPr/>
        </p:nvSpPr>
        <p:spPr>
          <a:xfrm>
            <a:off x="8119872" y="1965960"/>
            <a:ext cx="3520440" cy="3657600"/>
          </a:xfrm>
          <a:prstGeom prst="roundRect">
            <a:avLst>
              <a:gd name="adj" fmla="val 2078"/>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17" name="Shape 15"/>
          <p:cNvSpPr/>
          <p:nvPr/>
        </p:nvSpPr>
        <p:spPr>
          <a:xfrm>
            <a:off x="8394192" y="2240280"/>
            <a:ext cx="640080" cy="640080"/>
          </a:xfrm>
          <a:prstGeom prst="ellipse">
            <a:avLst/>
          </a:prstGeom>
          <a:solidFill>
            <a:srgbClr val="1B2A4A"/>
          </a:solidFill>
          <a:ln/>
          <a:effectLst>
            <a:outerShdw blurRad="101600" dist="38100" dir="5400000" algn="bl" rotWithShape="0">
              <a:srgbClr val="000000">
                <a:alpha val="18000"/>
              </a:srgbClr>
            </a:outerShdw>
          </a:effectLst>
        </p:spPr>
        <p:txBody>
          <a:bodyPr/>
          <a:lstStyle/>
          <a:p>
            <a:endParaRPr lang="en-SG"/>
          </a:p>
        </p:txBody>
      </p:sp>
      <p:sp>
        <p:nvSpPr>
          <p:cNvPr id="18" name="Text 16"/>
          <p:cNvSpPr txBox="1"/>
          <p:nvPr/>
        </p:nvSpPr>
        <p:spPr>
          <a:xfrm>
            <a:off x="8394192" y="2240280"/>
            <a:ext cx="6400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txBox="1"/>
          <p:nvPr/>
        </p:nvSpPr>
        <p:spPr>
          <a:xfrm>
            <a:off x="8394192" y="3063240"/>
            <a:ext cx="2971800" cy="457200"/>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AFTER</a:t>
            </a:r>
            <a:endParaRPr lang="en-US" sz="1900" dirty="0"/>
          </a:p>
        </p:txBody>
      </p:sp>
      <p:sp>
        <p:nvSpPr>
          <p:cNvPr id="20" name="Text 18"/>
          <p:cNvSpPr txBox="1"/>
          <p:nvPr/>
        </p:nvSpPr>
        <p:spPr>
          <a:xfrm>
            <a:off x="8394192" y="3566160"/>
            <a:ext cx="2971800" cy="1920240"/>
          </a:xfrm>
          <a:prstGeom prst="rect">
            <a:avLst/>
          </a:prstGeom>
          <a:noFill/>
          <a:ln/>
        </p:spPr>
        <p:txBody>
          <a:bodyPr wrap="square" lIns="0" tIns="0" rIns="0" bIns="0" rtlCol="0" anchor="ctr"/>
          <a:lstStyle/>
          <a:p>
            <a:pPr marL="0" indent="0">
              <a:buNone/>
            </a:pPr>
            <a:r>
              <a:rPr lang="en-US" sz="1250" dirty="0">
                <a:solidFill>
                  <a:srgbClr val="1F2937"/>
                </a:solidFill>
                <a:latin typeface="Calibri" pitchFamily="34" charset="0"/>
                <a:ea typeface="Calibri" pitchFamily="34" charset="-122"/>
                <a:cs typeface="Calibri" pitchFamily="34" charset="-120"/>
              </a:rPr>
              <a:t>What changes once you're holding the unit — or didn't get it. Either outcome needs a next move mapped.</a:t>
            </a:r>
            <a:endParaRPr lang="en-US" sz="1250" dirty="0"/>
          </a:p>
        </p:txBody>
      </p:sp>
      <p:sp>
        <p:nvSpPr>
          <p:cNvPr id="21" name="Text 19"/>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21</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058400" cy="365760"/>
          </a:xfrm>
          <a:prstGeom prst="rect">
            <a:avLst/>
          </a:prstGeom>
          <a:noFill/>
          <a:ln/>
        </p:spPr>
        <p:txBody>
          <a:bodyPr wrap="square" lIns="0" tIns="0" rIns="0" bIns="0" rtlCol="0" anchor="ctr"/>
          <a:lstStyle/>
          <a:p>
            <a:pPr marL="0" indent="0">
              <a:buNone/>
            </a:pPr>
            <a:r>
              <a:rPr lang="en-US" sz="1200" b="1" kern="0" spc="200" dirty="0">
                <a:solidFill>
                  <a:srgbClr val="9E1B32"/>
                </a:solidFill>
                <a:latin typeface="Calibri" pitchFamily="34" charset="0"/>
                <a:ea typeface="Calibri" pitchFamily="34" charset="-122"/>
                <a:cs typeface="Calibri" pitchFamily="34" charset="-120"/>
              </a:rPr>
              <a:t>MODULE 8 · WHAT BUYERS GET WRONG</a:t>
            </a:r>
            <a:endParaRPr lang="en-US" sz="1200" dirty="0"/>
          </a:p>
        </p:txBody>
      </p:sp>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Total Floor Area vs. What You Actually Live In</a:t>
            </a:r>
            <a:endParaRPr lang="en-US" sz="3000" dirty="0"/>
          </a:p>
        </p:txBody>
      </p:sp>
      <p:sp>
        <p:nvSpPr>
          <p:cNvPr id="4" name="Shape 2"/>
          <p:cNvSpPr/>
          <p:nvPr/>
        </p:nvSpPr>
        <p:spPr>
          <a:xfrm>
            <a:off x="640080" y="1965960"/>
            <a:ext cx="5120640" cy="3657600"/>
          </a:xfrm>
          <a:prstGeom prst="roundRect">
            <a:avLst>
              <a:gd name="adj" fmla="val 2000"/>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5" name="Text 3"/>
          <p:cNvSpPr txBox="1"/>
          <p:nvPr/>
        </p:nvSpPr>
        <p:spPr>
          <a:xfrm>
            <a:off x="868680" y="2194560"/>
            <a:ext cx="4663440" cy="365760"/>
          </a:xfrm>
          <a:prstGeom prst="rect">
            <a:avLst/>
          </a:prstGeom>
          <a:noFill/>
          <a:ln/>
        </p:spPr>
        <p:txBody>
          <a:bodyPr wrap="square" lIns="0" tIns="0" rIns="0" bIns="0" rtlCol="0" anchor="ctr"/>
          <a:lstStyle/>
          <a:p>
            <a:pPr marL="0" indent="0">
              <a:buNone/>
            </a:pPr>
            <a:r>
              <a:rPr lang="en-US" sz="1200" b="1" kern="0" spc="150" dirty="0">
                <a:solidFill>
                  <a:srgbClr val="6B7280"/>
                </a:solidFill>
                <a:latin typeface="Calibri" pitchFamily="34" charset="0"/>
                <a:ea typeface="Calibri" pitchFamily="34" charset="-122"/>
                <a:cs typeface="Calibri" pitchFamily="34" charset="-120"/>
              </a:rPr>
              <a:t>TOTAL FLOOR AREA</a:t>
            </a:r>
            <a:endParaRPr lang="en-US" sz="1200" dirty="0"/>
          </a:p>
        </p:txBody>
      </p:sp>
      <p:sp>
        <p:nvSpPr>
          <p:cNvPr id="6" name="Text 4"/>
          <p:cNvSpPr txBox="1"/>
          <p:nvPr/>
        </p:nvSpPr>
        <p:spPr>
          <a:xfrm>
            <a:off x="868680" y="2560320"/>
            <a:ext cx="4663440" cy="457200"/>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Includes balconies &amp; aircon ledges</a:t>
            </a:r>
            <a:endParaRPr lang="en-US" sz="1700" dirty="0"/>
          </a:p>
        </p:txBody>
      </p:sp>
      <p:sp>
        <p:nvSpPr>
          <p:cNvPr id="7" name="Text 5"/>
          <p:cNvSpPr txBox="1"/>
          <p:nvPr/>
        </p:nvSpPr>
        <p:spPr>
          <a:xfrm>
            <a:off x="868680" y="3200400"/>
            <a:ext cx="4663440" cy="2194560"/>
          </a:xfrm>
          <a:prstGeom prst="rect">
            <a:avLst/>
          </a:prstGeom>
          <a:noFill/>
          <a:ln/>
        </p:spPr>
        <p:txBody>
          <a:bodyPr wrap="square" lIns="0" tIns="0" rIns="0" bIns="0" rtlCol="0" anchor="ctr"/>
          <a:lstStyle/>
          <a:p>
            <a:pPr marL="0" indent="0">
              <a:buNone/>
            </a:pPr>
            <a:r>
              <a:rPr lang="en-US" sz="1400" dirty="0">
                <a:solidFill>
                  <a:srgbClr val="1F2937"/>
                </a:solidFill>
                <a:latin typeface="Calibri" pitchFamily="34" charset="0"/>
                <a:ea typeface="Calibri" pitchFamily="34" charset="-122"/>
                <a:cs typeface="Calibri" pitchFamily="34" charset="-120"/>
              </a:rPr>
              <a:t>Older stock quotes this number — but a chunk of it isn't space you actually live in.</a:t>
            </a:r>
            <a:endParaRPr lang="en-US" sz="1400" dirty="0"/>
          </a:p>
        </p:txBody>
      </p:sp>
      <p:sp>
        <p:nvSpPr>
          <p:cNvPr id="8" name="Shape 6"/>
          <p:cNvSpPr/>
          <p:nvPr/>
        </p:nvSpPr>
        <p:spPr>
          <a:xfrm>
            <a:off x="6080760" y="1965960"/>
            <a:ext cx="5440680" cy="3657600"/>
          </a:xfrm>
          <a:prstGeom prst="roundRect">
            <a:avLst>
              <a:gd name="adj" fmla="val 2000"/>
            </a:avLst>
          </a:prstGeom>
          <a:solidFill>
            <a:srgbClr val="1B2A4A"/>
          </a:solidFill>
          <a:ln/>
          <a:effectLst>
            <a:outerShdw blurRad="101600" dist="38100" dir="5400000" algn="bl" rotWithShape="0">
              <a:srgbClr val="000000">
                <a:alpha val="18000"/>
              </a:srgbClr>
            </a:outerShdw>
          </a:effectLst>
        </p:spPr>
        <p:txBody>
          <a:bodyPr/>
          <a:lstStyle/>
          <a:p>
            <a:endParaRPr lang="en-SG"/>
          </a:p>
        </p:txBody>
      </p:sp>
      <p:sp>
        <p:nvSpPr>
          <p:cNvPr id="9" name="Text 7"/>
          <p:cNvSpPr txBox="1"/>
          <p:nvPr/>
        </p:nvSpPr>
        <p:spPr>
          <a:xfrm>
            <a:off x="6309360" y="2194560"/>
            <a:ext cx="4937760" cy="365760"/>
          </a:xfrm>
          <a:prstGeom prst="rect">
            <a:avLst/>
          </a:prstGeom>
          <a:noFill/>
          <a:ln/>
        </p:spPr>
        <p:txBody>
          <a:bodyPr wrap="square" lIns="0" tIns="0" rIns="0" bIns="0" rtlCol="0" anchor="ctr"/>
          <a:lstStyle/>
          <a:p>
            <a:pPr marL="0" indent="0">
              <a:buNone/>
            </a:pPr>
            <a:r>
              <a:rPr lang="en-US" sz="1200" b="1" kern="0" spc="150" dirty="0">
                <a:solidFill>
                  <a:srgbClr val="C9A227"/>
                </a:solidFill>
                <a:latin typeface="Calibri" pitchFamily="34" charset="0"/>
                <a:ea typeface="Calibri" pitchFamily="34" charset="-122"/>
                <a:cs typeface="Calibri" pitchFamily="34" charset="-120"/>
              </a:rPr>
              <a:t>HARMONISED / USABLE</a:t>
            </a:r>
            <a:endParaRPr lang="en-US" sz="1200" dirty="0"/>
          </a:p>
        </p:txBody>
      </p:sp>
      <p:sp>
        <p:nvSpPr>
          <p:cNvPr id="10" name="Text 8"/>
          <p:cNvSpPr txBox="1"/>
          <p:nvPr/>
        </p:nvSpPr>
        <p:spPr>
          <a:xfrm>
            <a:off x="6309360" y="2560320"/>
            <a:ext cx="4937760" cy="45720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What newer launches must now measure</a:t>
            </a:r>
            <a:endParaRPr lang="en-US" sz="1700" dirty="0"/>
          </a:p>
        </p:txBody>
      </p:sp>
      <p:sp>
        <p:nvSpPr>
          <p:cNvPr id="11" name="Text 9"/>
          <p:cNvSpPr txBox="1"/>
          <p:nvPr/>
        </p:nvSpPr>
        <p:spPr>
          <a:xfrm>
            <a:off x="6309360" y="3200400"/>
            <a:ext cx="4937760" cy="2286000"/>
          </a:xfrm>
          <a:prstGeom prst="rect">
            <a:avLst/>
          </a:prstGeom>
          <a:noFill/>
          <a:ln/>
        </p:spPr>
        <p:txBody>
          <a:bodyPr wrap="square" lIns="0" tIns="0" rIns="0" bIns="0" rtlCol="0" anchor="ctr"/>
          <a:lstStyle/>
          <a:p>
            <a:pPr marL="0" indent="0">
              <a:buNone/>
            </a:pPr>
            <a:r>
              <a:rPr lang="en-US" sz="1350" dirty="0">
                <a:solidFill>
                  <a:srgbClr val="D7DCE8"/>
                </a:solidFill>
                <a:latin typeface="Calibri" pitchFamily="34" charset="0"/>
                <a:ea typeface="Calibri" pitchFamily="34" charset="-122"/>
                <a:cs typeface="Calibri" pitchFamily="34" charset="-120"/>
              </a:rPr>
              <a:t>Newer, harmonised layouts genuinely give you more usable space per square foot than older stock quoting the same total number. Compare psf without knowing this, and an older “cheaper” unit can be the worse deal.</a:t>
            </a:r>
            <a:endParaRPr lang="en-US" sz="1350" dirty="0"/>
          </a:p>
        </p:txBody>
      </p:sp>
      <p:sp>
        <p:nvSpPr>
          <p:cNvPr id="12" name="Text 10"/>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22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822960" y="548640"/>
            <a:ext cx="9144000" cy="365760"/>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THE REFRAME</a:t>
            </a:r>
            <a:endParaRPr lang="en-US" sz="1300" dirty="0"/>
          </a:p>
        </p:txBody>
      </p:sp>
      <p:sp>
        <p:nvSpPr>
          <p:cNvPr id="3" name="Text 1"/>
          <p:cNvSpPr txBox="1"/>
          <p:nvPr/>
        </p:nvSpPr>
        <p:spPr>
          <a:xfrm>
            <a:off x="822960" y="914400"/>
            <a:ext cx="1005840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Gamble vs. Predictable</a:t>
            </a:r>
            <a:endParaRPr lang="en-US" sz="3000" dirty="0"/>
          </a:p>
        </p:txBody>
      </p:sp>
      <p:sp>
        <p:nvSpPr>
          <p:cNvPr id="4" name="Shape 2"/>
          <p:cNvSpPr/>
          <p:nvPr/>
        </p:nvSpPr>
        <p:spPr>
          <a:xfrm>
            <a:off x="822960" y="2057400"/>
            <a:ext cx="5166360" cy="3566160"/>
          </a:xfrm>
          <a:prstGeom prst="roundRect">
            <a:avLst>
              <a:gd name="adj" fmla="val 2051"/>
            </a:avLst>
          </a:prstGeom>
          <a:solidFill>
            <a:srgbClr val="24365C"/>
          </a:solidFill>
          <a:ln/>
          <a:effectLst>
            <a:outerShdw blurRad="101600" dist="38100" dir="5400000" algn="bl" rotWithShape="0">
              <a:srgbClr val="000000">
                <a:alpha val="18000"/>
              </a:srgbClr>
            </a:outerShdw>
          </a:effectLst>
        </p:spPr>
        <p:txBody>
          <a:bodyPr/>
          <a:lstStyle/>
          <a:p>
            <a:endParaRPr lang="en-SG"/>
          </a:p>
        </p:txBody>
      </p:sp>
      <p:sp>
        <p:nvSpPr>
          <p:cNvPr id="5" name="Text 3"/>
          <p:cNvSpPr txBox="1"/>
          <p:nvPr/>
        </p:nvSpPr>
        <p:spPr>
          <a:xfrm>
            <a:off x="1051560" y="2286000"/>
            <a:ext cx="4663440" cy="365760"/>
          </a:xfrm>
          <a:prstGeom prst="rect">
            <a:avLst/>
          </a:prstGeom>
          <a:noFill/>
          <a:ln/>
        </p:spPr>
        <p:txBody>
          <a:bodyPr wrap="square" lIns="0" tIns="0" rIns="0" bIns="0" rtlCol="0" anchor="ctr"/>
          <a:lstStyle/>
          <a:p>
            <a:pPr marL="0" indent="0">
              <a:buNone/>
            </a:pPr>
            <a:r>
              <a:rPr lang="en-US" sz="1200" b="1" kern="0" spc="150" dirty="0">
                <a:solidFill>
                  <a:srgbClr val="F6A9B4"/>
                </a:solidFill>
                <a:latin typeface="Calibri" pitchFamily="34" charset="0"/>
                <a:ea typeface="Calibri" pitchFamily="34" charset="-122"/>
                <a:cs typeface="Calibri" pitchFamily="34" charset="-120"/>
              </a:rPr>
              <a:t>THE GAMBLE</a:t>
            </a:r>
            <a:endParaRPr lang="en-US" sz="1200" dirty="0"/>
          </a:p>
        </p:txBody>
      </p:sp>
      <p:sp>
        <p:nvSpPr>
          <p:cNvPr id="6" name="Text 4"/>
          <p:cNvSpPr txBox="1"/>
          <p:nvPr/>
        </p:nvSpPr>
        <p:spPr>
          <a:xfrm>
            <a:off x="1051560" y="2743200"/>
            <a:ext cx="4663440" cy="2651760"/>
          </a:xfrm>
          <a:prstGeom prst="rect">
            <a:avLst/>
          </a:prstGeom>
          <a:noFill/>
          <a:ln/>
        </p:spPr>
        <p:txBody>
          <a:bodyPr wrap="square" lIns="0" tIns="0" rIns="0" bIns="0" rtlCol="0" anchor="ctr"/>
          <a:lstStyle/>
          <a:p>
            <a:pPr marL="0" indent="0">
              <a:buNone/>
            </a:pPr>
            <a:r>
              <a:rPr lang="en-US" sz="1600" dirty="0">
                <a:solidFill>
                  <a:srgbClr val="D7DCE8"/>
                </a:solidFill>
                <a:latin typeface="Calibri" pitchFamily="34" charset="0"/>
                <a:ea typeface="Calibri" pitchFamily="34" charset="-122"/>
                <a:cs typeface="Calibri" pitchFamily="34" charset="-120"/>
              </a:rPr>
              <a:t>Wait for the ballot. Hope your number and the price both land in your favour — two things you don't control.</a:t>
            </a:r>
            <a:endParaRPr lang="en-US" sz="1600" dirty="0"/>
          </a:p>
        </p:txBody>
      </p:sp>
      <p:sp>
        <p:nvSpPr>
          <p:cNvPr id="7" name="Shape 5"/>
          <p:cNvSpPr/>
          <p:nvPr/>
        </p:nvSpPr>
        <p:spPr>
          <a:xfrm>
            <a:off x="6199632" y="2057400"/>
            <a:ext cx="5166360" cy="3566160"/>
          </a:xfrm>
          <a:prstGeom prst="roundRect">
            <a:avLst>
              <a:gd name="adj" fmla="val 2051"/>
            </a:avLst>
          </a:prstGeom>
          <a:solidFill>
            <a:srgbClr val="C9A227"/>
          </a:solidFill>
          <a:ln/>
          <a:effectLst>
            <a:outerShdw blurRad="101600" dist="38100" dir="5400000" algn="bl" rotWithShape="0">
              <a:srgbClr val="000000">
                <a:alpha val="18000"/>
              </a:srgbClr>
            </a:outerShdw>
          </a:effectLst>
        </p:spPr>
        <p:txBody>
          <a:bodyPr/>
          <a:lstStyle/>
          <a:p>
            <a:endParaRPr lang="en-SG"/>
          </a:p>
        </p:txBody>
      </p:sp>
      <p:sp>
        <p:nvSpPr>
          <p:cNvPr id="8" name="Text 6"/>
          <p:cNvSpPr txBox="1"/>
          <p:nvPr/>
        </p:nvSpPr>
        <p:spPr>
          <a:xfrm>
            <a:off x="6428232" y="2286000"/>
            <a:ext cx="4663440" cy="365760"/>
          </a:xfrm>
          <a:prstGeom prst="rect">
            <a:avLst/>
          </a:prstGeom>
          <a:noFill/>
          <a:ln/>
        </p:spPr>
        <p:txBody>
          <a:bodyPr wrap="square" lIns="0" tIns="0" rIns="0" bIns="0" rtlCol="0" anchor="ctr"/>
          <a:lstStyle/>
          <a:p>
            <a:pPr marL="0" indent="0">
              <a:buNone/>
            </a:pPr>
            <a:r>
              <a:rPr lang="en-US" sz="1200" b="1" kern="0" spc="150" dirty="0">
                <a:solidFill>
                  <a:srgbClr val="121D33"/>
                </a:solidFill>
                <a:latin typeface="Calibri" pitchFamily="34" charset="0"/>
                <a:ea typeface="Calibri" pitchFamily="34" charset="-122"/>
                <a:cs typeface="Calibri" pitchFamily="34" charset="-120"/>
              </a:rPr>
              <a:t>PREPARED</a:t>
            </a:r>
            <a:endParaRPr lang="en-US" sz="1200" dirty="0"/>
          </a:p>
        </p:txBody>
      </p:sp>
      <p:sp>
        <p:nvSpPr>
          <p:cNvPr id="9" name="Text 7"/>
          <p:cNvSpPr txBox="1"/>
          <p:nvPr/>
        </p:nvSpPr>
        <p:spPr>
          <a:xfrm>
            <a:off x="6428232" y="2743200"/>
            <a:ext cx="4663440" cy="2651760"/>
          </a:xfrm>
          <a:prstGeom prst="rect">
            <a:avLst/>
          </a:prstGeom>
          <a:noFill/>
          <a:ln/>
        </p:spPr>
        <p:txBody>
          <a:bodyPr wrap="square" lIns="0" tIns="0" rIns="0" bIns="0" rtlCol="0" anchor="ctr"/>
          <a:lstStyle/>
          <a:p>
            <a:pPr marL="0" indent="0">
              <a:buNone/>
            </a:pPr>
            <a:r>
              <a:rPr lang="en-US" sz="1600" b="1" dirty="0">
                <a:solidFill>
                  <a:srgbClr val="121D33"/>
                </a:solidFill>
                <a:latin typeface="Calibri" pitchFamily="34" charset="0"/>
                <a:ea typeface="Calibri" pitchFamily="34" charset="-122"/>
                <a:cs typeface="Calibri" pitchFamily="34" charset="-120"/>
              </a:rPr>
              <a:t>Walk in with a plan already priced out. Already knows your walk-away. Already knows your real odds.</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058400" cy="365760"/>
          </a:xfrm>
          <a:prstGeom prst="rect">
            <a:avLst/>
          </a:prstGeom>
          <a:noFill/>
          <a:ln/>
        </p:spPr>
        <p:txBody>
          <a:bodyPr wrap="square" lIns="0" tIns="0" rIns="0" bIns="0" rtlCol="0" anchor="ctr"/>
          <a:lstStyle/>
          <a:p>
            <a:pPr marL="0" indent="0">
              <a:buNone/>
            </a:pPr>
            <a:r>
              <a:rPr lang="en-US" sz="1200" b="1" kern="0" spc="200" dirty="0">
                <a:solidFill>
                  <a:srgbClr val="9E1B32"/>
                </a:solidFill>
                <a:latin typeface="Calibri" pitchFamily="34" charset="0"/>
                <a:ea typeface="Calibri" pitchFamily="34" charset="-122"/>
                <a:cs typeface="Calibri" pitchFamily="34" charset="-120"/>
              </a:rPr>
              <a:t>RECAP</a:t>
            </a:r>
            <a:endParaRPr lang="en-US" sz="1200" dirty="0"/>
          </a:p>
        </p:txBody>
      </p:sp>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Everything Tonight Was General — Mine, Or An Average Scenario.</a:t>
            </a:r>
            <a:endParaRPr lang="en-US" sz="3000" dirty="0"/>
          </a:p>
        </p:txBody>
      </p:sp>
      <p:sp>
        <p:nvSpPr>
          <p:cNvPr id="4" name="Shape 2"/>
          <p:cNvSpPr/>
          <p:nvPr/>
        </p:nvSpPr>
        <p:spPr>
          <a:xfrm>
            <a:off x="640080" y="2103120"/>
            <a:ext cx="502920" cy="502920"/>
          </a:xfrm>
          <a:prstGeom prst="ellipse">
            <a:avLst/>
          </a:prstGeom>
          <a:solidFill>
            <a:srgbClr val="C9A227"/>
          </a:solidFill>
          <a:ln/>
          <a:effectLst>
            <a:outerShdw blurRad="101600" dist="38100" dir="5400000" algn="bl" rotWithShape="0">
              <a:srgbClr val="000000">
                <a:alpha val="18000"/>
              </a:srgbClr>
            </a:outerShdw>
          </a:effectLst>
        </p:spPr>
        <p:txBody>
          <a:bodyPr/>
          <a:lstStyle/>
          <a:p>
            <a:endParaRPr lang="en-SG"/>
          </a:p>
        </p:txBody>
      </p:sp>
      <p:sp>
        <p:nvSpPr>
          <p:cNvPr id="5" name="Text 3"/>
          <p:cNvSpPr txBox="1"/>
          <p:nvPr/>
        </p:nvSpPr>
        <p:spPr>
          <a:xfrm>
            <a:off x="640080" y="2103120"/>
            <a:ext cx="502920" cy="502920"/>
          </a:xfrm>
          <a:prstGeom prst="rect">
            <a:avLst/>
          </a:prstGeom>
          <a:noFill/>
          <a:ln/>
        </p:spPr>
        <p:txBody>
          <a:bodyPr wrap="square" lIns="0" tIns="0" rIns="0" bIns="0" rtlCol="0" anchor="ctr"/>
          <a:lstStyle/>
          <a:p>
            <a:pPr marL="0" indent="0" algn="ctr">
              <a:buNone/>
            </a:pPr>
            <a:r>
              <a:rPr lang="en-US" sz="1600" b="1" dirty="0">
                <a:solidFill>
                  <a:srgbClr val="121D33"/>
                </a:solidFill>
                <a:latin typeface="Cambria" pitchFamily="34" charset="0"/>
                <a:ea typeface="Cambria" pitchFamily="34" charset="-122"/>
                <a:cs typeface="Cambria" pitchFamily="34" charset="-120"/>
              </a:rPr>
              <a:t>✓</a:t>
            </a:r>
            <a:endParaRPr lang="en-US" sz="1600" dirty="0"/>
          </a:p>
        </p:txBody>
      </p:sp>
      <p:sp>
        <p:nvSpPr>
          <p:cNvPr id="6" name="Text 4"/>
          <p:cNvSpPr txBox="1"/>
          <p:nvPr/>
        </p:nvSpPr>
        <p:spPr>
          <a:xfrm>
            <a:off x="1371600" y="2084832"/>
            <a:ext cx="9875520" cy="548640"/>
          </a:xfrm>
          <a:prstGeom prst="rect">
            <a:avLst/>
          </a:prstGeom>
          <a:noFill/>
          <a:ln/>
        </p:spPr>
        <p:txBody>
          <a:bodyPr wrap="square" lIns="0" tIns="0" rIns="0" bIns="0" rtlCol="0" anchor="ctr"/>
          <a:lstStyle/>
          <a:p>
            <a:pPr marL="0" indent="0">
              <a:buNone/>
            </a:pPr>
            <a:r>
              <a:rPr lang="en-US" sz="1600" dirty="0">
                <a:solidFill>
                  <a:srgbClr val="1F2937"/>
                </a:solidFill>
                <a:latin typeface="Calibri" pitchFamily="34" charset="0"/>
                <a:ea typeface="Calibri" pitchFamily="34" charset="-122"/>
                <a:cs typeface="Calibri" pitchFamily="34" charset="-120"/>
              </a:rPr>
              <a:t>A real fair-price build, live — including the one honest gap.</a:t>
            </a:r>
            <a:endParaRPr lang="en-US" sz="1600" dirty="0"/>
          </a:p>
        </p:txBody>
      </p:sp>
      <p:sp>
        <p:nvSpPr>
          <p:cNvPr id="7" name="Shape 5"/>
          <p:cNvSpPr/>
          <p:nvPr/>
        </p:nvSpPr>
        <p:spPr>
          <a:xfrm>
            <a:off x="640080" y="2971800"/>
            <a:ext cx="502920" cy="502920"/>
          </a:xfrm>
          <a:prstGeom prst="ellipse">
            <a:avLst/>
          </a:prstGeom>
          <a:solidFill>
            <a:srgbClr val="C9A227"/>
          </a:solidFill>
          <a:ln/>
          <a:effectLst>
            <a:outerShdw blurRad="101600" dist="38100" dir="5400000" algn="bl" rotWithShape="0">
              <a:srgbClr val="000000">
                <a:alpha val="18000"/>
              </a:srgbClr>
            </a:outerShdw>
          </a:effectLst>
        </p:spPr>
        <p:txBody>
          <a:bodyPr/>
          <a:lstStyle/>
          <a:p>
            <a:endParaRPr lang="en-SG"/>
          </a:p>
        </p:txBody>
      </p:sp>
      <p:sp>
        <p:nvSpPr>
          <p:cNvPr id="8" name="Text 6"/>
          <p:cNvSpPr txBox="1"/>
          <p:nvPr/>
        </p:nvSpPr>
        <p:spPr>
          <a:xfrm>
            <a:off x="640080" y="2971800"/>
            <a:ext cx="502920" cy="502920"/>
          </a:xfrm>
          <a:prstGeom prst="rect">
            <a:avLst/>
          </a:prstGeom>
          <a:noFill/>
          <a:ln/>
        </p:spPr>
        <p:txBody>
          <a:bodyPr wrap="square" lIns="0" tIns="0" rIns="0" bIns="0" rtlCol="0" anchor="ctr"/>
          <a:lstStyle/>
          <a:p>
            <a:pPr marL="0" indent="0" algn="ctr">
              <a:buNone/>
            </a:pPr>
            <a:r>
              <a:rPr lang="en-US" sz="1600" b="1" dirty="0">
                <a:solidFill>
                  <a:srgbClr val="121D33"/>
                </a:solidFill>
                <a:latin typeface="Cambria" pitchFamily="34" charset="0"/>
                <a:ea typeface="Cambria" pitchFamily="34" charset="-122"/>
                <a:cs typeface="Cambria" pitchFamily="34" charset="-120"/>
              </a:rPr>
              <a:t>✓</a:t>
            </a:r>
            <a:endParaRPr lang="en-US" sz="1600" dirty="0"/>
          </a:p>
        </p:txBody>
      </p:sp>
      <p:sp>
        <p:nvSpPr>
          <p:cNvPr id="9" name="Text 7"/>
          <p:cNvSpPr txBox="1"/>
          <p:nvPr/>
        </p:nvSpPr>
        <p:spPr>
          <a:xfrm>
            <a:off x="1371600" y="2953512"/>
            <a:ext cx="9875520" cy="548640"/>
          </a:xfrm>
          <a:prstGeom prst="rect">
            <a:avLst/>
          </a:prstGeom>
          <a:noFill/>
          <a:ln/>
        </p:spPr>
        <p:txBody>
          <a:bodyPr wrap="square" lIns="0" tIns="0" rIns="0" bIns="0" rtlCol="0" anchor="ctr"/>
          <a:lstStyle/>
          <a:p>
            <a:pPr marL="0" indent="0">
              <a:buNone/>
            </a:pPr>
            <a:r>
              <a:rPr lang="en-US" sz="1600" dirty="0">
                <a:solidFill>
                  <a:srgbClr val="1F2937"/>
                </a:solidFill>
                <a:latin typeface="Calibri" pitchFamily="34" charset="0"/>
                <a:ea typeface="Calibri" pitchFamily="34" charset="-122"/>
                <a:cs typeface="Calibri" pitchFamily="34" charset="-120"/>
              </a:rPr>
              <a:t>Two objections most buyers are already having, addressed directly.</a:t>
            </a:r>
            <a:endParaRPr lang="en-US" sz="1600" dirty="0"/>
          </a:p>
        </p:txBody>
      </p:sp>
      <p:sp>
        <p:nvSpPr>
          <p:cNvPr id="10" name="Shape 8"/>
          <p:cNvSpPr/>
          <p:nvPr/>
        </p:nvSpPr>
        <p:spPr>
          <a:xfrm>
            <a:off x="640080" y="3840480"/>
            <a:ext cx="502920" cy="502920"/>
          </a:xfrm>
          <a:prstGeom prst="ellipse">
            <a:avLst/>
          </a:prstGeom>
          <a:solidFill>
            <a:srgbClr val="C9A227"/>
          </a:solidFill>
          <a:ln/>
          <a:effectLst>
            <a:outerShdw blurRad="101600" dist="38100" dir="5400000" algn="bl" rotWithShape="0">
              <a:srgbClr val="000000">
                <a:alpha val="18000"/>
              </a:srgbClr>
            </a:outerShdw>
          </a:effectLst>
        </p:spPr>
        <p:txBody>
          <a:bodyPr/>
          <a:lstStyle/>
          <a:p>
            <a:endParaRPr lang="en-SG"/>
          </a:p>
        </p:txBody>
      </p:sp>
      <p:sp>
        <p:nvSpPr>
          <p:cNvPr id="11" name="Text 9"/>
          <p:cNvSpPr txBox="1"/>
          <p:nvPr/>
        </p:nvSpPr>
        <p:spPr>
          <a:xfrm>
            <a:off x="640080" y="3840480"/>
            <a:ext cx="502920" cy="502920"/>
          </a:xfrm>
          <a:prstGeom prst="rect">
            <a:avLst/>
          </a:prstGeom>
          <a:noFill/>
          <a:ln/>
        </p:spPr>
        <p:txBody>
          <a:bodyPr wrap="square" lIns="0" tIns="0" rIns="0" bIns="0" rtlCol="0" anchor="ctr"/>
          <a:lstStyle/>
          <a:p>
            <a:pPr marL="0" indent="0" algn="ctr">
              <a:buNone/>
            </a:pPr>
            <a:r>
              <a:rPr lang="en-US" sz="1600" b="1" dirty="0">
                <a:solidFill>
                  <a:srgbClr val="121D33"/>
                </a:solidFill>
                <a:latin typeface="Cambria" pitchFamily="34" charset="0"/>
                <a:ea typeface="Cambria" pitchFamily="34" charset="-122"/>
                <a:cs typeface="Cambria" pitchFamily="34" charset="-120"/>
              </a:rPr>
              <a:t>✓</a:t>
            </a:r>
            <a:endParaRPr lang="en-US" sz="1600" dirty="0"/>
          </a:p>
        </p:txBody>
      </p:sp>
      <p:sp>
        <p:nvSpPr>
          <p:cNvPr id="12" name="Text 10"/>
          <p:cNvSpPr txBox="1"/>
          <p:nvPr/>
        </p:nvSpPr>
        <p:spPr>
          <a:xfrm>
            <a:off x="1371600" y="3822192"/>
            <a:ext cx="9875520" cy="548640"/>
          </a:xfrm>
          <a:prstGeom prst="rect">
            <a:avLst/>
          </a:prstGeom>
          <a:noFill/>
          <a:ln/>
        </p:spPr>
        <p:txBody>
          <a:bodyPr wrap="square" lIns="0" tIns="0" rIns="0" bIns="0" rtlCol="0" anchor="ctr"/>
          <a:lstStyle/>
          <a:p>
            <a:pPr marL="0" indent="0">
              <a:buNone/>
            </a:pPr>
            <a:r>
              <a:rPr lang="en-US" sz="1600" dirty="0">
                <a:solidFill>
                  <a:srgbClr val="1F2937"/>
                </a:solidFill>
                <a:latin typeface="Calibri" pitchFamily="34" charset="0"/>
                <a:ea typeface="Calibri" pitchFamily="34" charset="-122"/>
                <a:cs typeface="Calibri" pitchFamily="34" charset="-120"/>
              </a:rPr>
              <a:t>A real probability check most people never run.</a:t>
            </a:r>
            <a:endParaRPr lang="en-US" sz="1600" dirty="0"/>
          </a:p>
        </p:txBody>
      </p:sp>
      <p:sp>
        <p:nvSpPr>
          <p:cNvPr id="13" name="Shape 11"/>
          <p:cNvSpPr/>
          <p:nvPr/>
        </p:nvSpPr>
        <p:spPr>
          <a:xfrm>
            <a:off x="640080" y="4709160"/>
            <a:ext cx="502920" cy="502920"/>
          </a:xfrm>
          <a:prstGeom prst="ellipse">
            <a:avLst/>
          </a:prstGeom>
          <a:solidFill>
            <a:srgbClr val="C9A227"/>
          </a:solidFill>
          <a:ln/>
          <a:effectLst>
            <a:outerShdw blurRad="101600" dist="38100" dir="5400000" algn="bl" rotWithShape="0">
              <a:srgbClr val="000000">
                <a:alpha val="18000"/>
              </a:srgbClr>
            </a:outerShdw>
          </a:effectLst>
        </p:spPr>
        <p:txBody>
          <a:bodyPr/>
          <a:lstStyle/>
          <a:p>
            <a:endParaRPr lang="en-SG"/>
          </a:p>
        </p:txBody>
      </p:sp>
      <p:sp>
        <p:nvSpPr>
          <p:cNvPr id="14" name="Text 12"/>
          <p:cNvSpPr txBox="1"/>
          <p:nvPr/>
        </p:nvSpPr>
        <p:spPr>
          <a:xfrm>
            <a:off x="640080" y="4709160"/>
            <a:ext cx="502920" cy="502920"/>
          </a:xfrm>
          <a:prstGeom prst="rect">
            <a:avLst/>
          </a:prstGeom>
          <a:noFill/>
          <a:ln/>
        </p:spPr>
        <p:txBody>
          <a:bodyPr wrap="square" lIns="0" tIns="0" rIns="0" bIns="0" rtlCol="0" anchor="ctr"/>
          <a:lstStyle/>
          <a:p>
            <a:pPr marL="0" indent="0" algn="ctr">
              <a:buNone/>
            </a:pPr>
            <a:r>
              <a:rPr lang="en-US" sz="1600" b="1" dirty="0">
                <a:solidFill>
                  <a:srgbClr val="121D33"/>
                </a:solidFill>
                <a:latin typeface="Cambria" pitchFamily="34" charset="0"/>
                <a:ea typeface="Cambria" pitchFamily="34" charset="-122"/>
                <a:cs typeface="Cambria" pitchFamily="34" charset="-120"/>
              </a:rPr>
              <a:t>✓</a:t>
            </a:r>
            <a:endParaRPr lang="en-US" sz="1600" dirty="0"/>
          </a:p>
        </p:txBody>
      </p:sp>
      <p:sp>
        <p:nvSpPr>
          <p:cNvPr id="15" name="Text 13"/>
          <p:cNvSpPr txBox="1"/>
          <p:nvPr/>
        </p:nvSpPr>
        <p:spPr>
          <a:xfrm>
            <a:off x="1371600" y="4690872"/>
            <a:ext cx="9875520" cy="548640"/>
          </a:xfrm>
          <a:prstGeom prst="rect">
            <a:avLst/>
          </a:prstGeom>
          <a:noFill/>
          <a:ln/>
        </p:spPr>
        <p:txBody>
          <a:bodyPr wrap="square" lIns="0" tIns="0" rIns="0" bIns="0" rtlCol="0" anchor="ctr"/>
          <a:lstStyle/>
          <a:p>
            <a:pPr marL="0" indent="0">
              <a:buNone/>
            </a:pPr>
            <a:r>
              <a:rPr lang="en-US" sz="1600" dirty="0">
                <a:solidFill>
                  <a:srgbClr val="1F2937"/>
                </a:solidFill>
                <a:latin typeface="Calibri" pitchFamily="34" charset="0"/>
                <a:ea typeface="Calibri" pitchFamily="34" charset="-122"/>
                <a:cs typeface="Calibri" pitchFamily="34" charset="-120"/>
              </a:rPr>
              <a:t>A three-phase process for before, during and after.</a:t>
            </a:r>
            <a:endParaRPr lang="en-US" sz="1600" dirty="0"/>
          </a:p>
        </p:txBody>
      </p:sp>
      <p:sp>
        <p:nvSpPr>
          <p:cNvPr id="16" name="Text 14"/>
          <p:cNvSpPr txBox="1"/>
          <p:nvPr/>
        </p:nvSpPr>
        <p:spPr>
          <a:xfrm>
            <a:off x="640080" y="5669280"/>
            <a:ext cx="9144000" cy="548640"/>
          </a:xfrm>
          <a:prstGeom prst="rect">
            <a:avLst/>
          </a:prstGeom>
          <a:noFill/>
          <a:ln/>
        </p:spPr>
        <p:txBody>
          <a:bodyPr wrap="square" lIns="0" tIns="0" rIns="0" bIns="0" rtlCol="0" anchor="ctr"/>
          <a:lstStyle/>
          <a:p>
            <a:pPr marL="0" indent="0">
              <a:buNone/>
            </a:pPr>
            <a:r>
              <a:rPr lang="en-US" sz="2200" b="1" dirty="0">
                <a:solidFill>
                  <a:srgbClr val="9E1B32"/>
                </a:solidFill>
                <a:latin typeface="Cambria" pitchFamily="34" charset="0"/>
                <a:ea typeface="Cambria" pitchFamily="34" charset="-122"/>
                <a:cs typeface="Cambria" pitchFamily="34" charset="-120"/>
              </a:rPr>
              <a:t>Yours is different.</a:t>
            </a:r>
            <a:endParaRPr lang="en-US" sz="2200" dirty="0"/>
          </a:p>
        </p:txBody>
      </p:sp>
      <p:sp>
        <p:nvSpPr>
          <p:cNvPr id="17" name="Text 15"/>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24</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058400" cy="365760"/>
          </a:xfrm>
          <a:prstGeom prst="rect">
            <a:avLst/>
          </a:prstGeom>
          <a:noFill/>
          <a:ln/>
        </p:spPr>
        <p:txBody>
          <a:bodyPr wrap="square" lIns="0" tIns="0" rIns="0" bIns="0" rtlCol="0" anchor="ctr"/>
          <a:lstStyle/>
          <a:p>
            <a:pPr marL="0" indent="0">
              <a:buNone/>
            </a:pPr>
            <a:r>
              <a:rPr lang="en-US" sz="1200" b="1" kern="0" spc="200" dirty="0">
                <a:solidFill>
                  <a:srgbClr val="9E1B32"/>
                </a:solidFill>
                <a:latin typeface="Calibri" pitchFamily="34" charset="0"/>
                <a:ea typeface="Calibri" pitchFamily="34" charset="-122"/>
                <a:cs typeface="Calibri" pitchFamily="34" charset="-120"/>
              </a:rPr>
              <a:t>THE PITCH</a:t>
            </a:r>
            <a:endParaRPr lang="en-US" sz="1200" dirty="0"/>
          </a:p>
        </p:txBody>
      </p:sp>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Three Paths From Here</a:t>
            </a:r>
            <a:endParaRPr lang="en-US" sz="3000" dirty="0"/>
          </a:p>
        </p:txBody>
      </p:sp>
      <p:sp>
        <p:nvSpPr>
          <p:cNvPr id="4" name="Shape 2"/>
          <p:cNvSpPr/>
          <p:nvPr/>
        </p:nvSpPr>
        <p:spPr>
          <a:xfrm>
            <a:off x="640080" y="1965960"/>
            <a:ext cx="3520440" cy="3657600"/>
          </a:xfrm>
          <a:prstGeom prst="roundRect">
            <a:avLst>
              <a:gd name="adj" fmla="val 2078"/>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5" name="Text 3"/>
          <p:cNvSpPr txBox="1"/>
          <p:nvPr/>
        </p:nvSpPr>
        <p:spPr>
          <a:xfrm>
            <a:off x="868680" y="2148840"/>
            <a:ext cx="1097280" cy="640080"/>
          </a:xfrm>
          <a:prstGeom prst="rect">
            <a:avLst/>
          </a:prstGeom>
          <a:noFill/>
          <a:ln/>
        </p:spPr>
        <p:txBody>
          <a:bodyPr wrap="square" lIns="0" tIns="0" rIns="0" bIns="0" rtlCol="0" anchor="ctr"/>
          <a:lstStyle/>
          <a:p>
            <a:pPr marL="0" indent="0">
              <a:buNone/>
            </a:pPr>
            <a:r>
              <a:rPr lang="en-US" sz="2600" b="1" dirty="0">
                <a:solidFill>
                  <a:srgbClr val="C7CCD6"/>
                </a:solidFill>
                <a:latin typeface="Cambria" pitchFamily="34" charset="0"/>
                <a:ea typeface="Cambria" pitchFamily="34" charset="-122"/>
                <a:cs typeface="Cambria" pitchFamily="34" charset="-120"/>
              </a:rPr>
              <a:t>1</a:t>
            </a:r>
            <a:endParaRPr lang="en-US" sz="2600" dirty="0"/>
          </a:p>
        </p:txBody>
      </p:sp>
      <p:sp>
        <p:nvSpPr>
          <p:cNvPr id="6" name="Text 4"/>
          <p:cNvSpPr txBox="1"/>
          <p:nvPr/>
        </p:nvSpPr>
        <p:spPr>
          <a:xfrm>
            <a:off x="868680" y="2788920"/>
            <a:ext cx="3063240" cy="8229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Do Nothing</a:t>
            </a:r>
            <a:endParaRPr lang="en-US" sz="1800" dirty="0"/>
          </a:p>
        </p:txBody>
      </p:sp>
      <p:sp>
        <p:nvSpPr>
          <p:cNvPr id="7" name="Text 5"/>
          <p:cNvSpPr txBox="1"/>
          <p:nvPr/>
        </p:nvSpPr>
        <p:spPr>
          <a:xfrm>
            <a:off x="868680" y="3566160"/>
            <a:ext cx="3063240" cy="192024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Decide on hype and queue numbers.</a:t>
            </a:r>
            <a:endParaRPr lang="en-US" sz="1300" dirty="0"/>
          </a:p>
        </p:txBody>
      </p:sp>
      <p:sp>
        <p:nvSpPr>
          <p:cNvPr id="8" name="Shape 6"/>
          <p:cNvSpPr/>
          <p:nvPr/>
        </p:nvSpPr>
        <p:spPr>
          <a:xfrm>
            <a:off x="4379976" y="1965960"/>
            <a:ext cx="3520440" cy="3657600"/>
          </a:xfrm>
          <a:prstGeom prst="roundRect">
            <a:avLst>
              <a:gd name="adj" fmla="val 2078"/>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9" name="Text 7"/>
          <p:cNvSpPr txBox="1"/>
          <p:nvPr/>
        </p:nvSpPr>
        <p:spPr>
          <a:xfrm>
            <a:off x="4608576" y="2148840"/>
            <a:ext cx="1097280" cy="640080"/>
          </a:xfrm>
          <a:prstGeom prst="rect">
            <a:avLst/>
          </a:prstGeom>
          <a:noFill/>
          <a:ln/>
        </p:spPr>
        <p:txBody>
          <a:bodyPr wrap="square" lIns="0" tIns="0" rIns="0" bIns="0" rtlCol="0" anchor="ctr"/>
          <a:lstStyle/>
          <a:p>
            <a:pPr marL="0" indent="0">
              <a:buNone/>
            </a:pPr>
            <a:r>
              <a:rPr lang="en-US" sz="2600" b="1" dirty="0">
                <a:solidFill>
                  <a:srgbClr val="C7CCD6"/>
                </a:solidFill>
                <a:latin typeface="Cambria" pitchFamily="34" charset="0"/>
                <a:ea typeface="Cambria" pitchFamily="34" charset="-122"/>
                <a:cs typeface="Cambria" pitchFamily="34" charset="-120"/>
              </a:rPr>
              <a:t>2</a:t>
            </a:r>
            <a:endParaRPr lang="en-US" sz="2600" dirty="0"/>
          </a:p>
        </p:txBody>
      </p:sp>
      <p:sp>
        <p:nvSpPr>
          <p:cNvPr id="10" name="Text 8"/>
          <p:cNvSpPr txBox="1"/>
          <p:nvPr/>
        </p:nvSpPr>
        <p:spPr>
          <a:xfrm>
            <a:off x="4608576" y="2788920"/>
            <a:ext cx="3063240" cy="8229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DIY With Tonight's Process</a:t>
            </a:r>
            <a:endParaRPr lang="en-US" sz="1800" dirty="0"/>
          </a:p>
        </p:txBody>
      </p:sp>
      <p:sp>
        <p:nvSpPr>
          <p:cNvPr id="11" name="Text 9"/>
          <p:cNvSpPr txBox="1"/>
          <p:nvPr/>
        </p:nvSpPr>
        <p:spPr>
          <a:xfrm>
            <a:off x="4608576" y="3566160"/>
            <a:ext cx="3063240" cy="192024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Genuinely usable. Real gap: no read on YOUR numbers, no one to tell you “wait.”</a:t>
            </a:r>
            <a:endParaRPr lang="en-US" sz="1300" dirty="0"/>
          </a:p>
        </p:txBody>
      </p:sp>
      <p:sp>
        <p:nvSpPr>
          <p:cNvPr id="12" name="Shape 10"/>
          <p:cNvSpPr/>
          <p:nvPr/>
        </p:nvSpPr>
        <p:spPr>
          <a:xfrm>
            <a:off x="8119872" y="1965960"/>
            <a:ext cx="3520440" cy="3657600"/>
          </a:xfrm>
          <a:prstGeom prst="roundRect">
            <a:avLst>
              <a:gd name="adj" fmla="val 2078"/>
            </a:avLst>
          </a:prstGeom>
          <a:solidFill>
            <a:srgbClr val="1B2A4A"/>
          </a:solidFill>
          <a:ln/>
          <a:effectLst>
            <a:outerShdw blurRad="101600" dist="38100" dir="5400000" algn="bl" rotWithShape="0">
              <a:srgbClr val="000000">
                <a:alpha val="18000"/>
              </a:srgbClr>
            </a:outerShdw>
          </a:effectLst>
        </p:spPr>
        <p:txBody>
          <a:bodyPr/>
          <a:lstStyle/>
          <a:p>
            <a:endParaRPr lang="en-SG"/>
          </a:p>
        </p:txBody>
      </p:sp>
      <p:sp>
        <p:nvSpPr>
          <p:cNvPr id="13" name="Text 11"/>
          <p:cNvSpPr txBox="1"/>
          <p:nvPr/>
        </p:nvSpPr>
        <p:spPr>
          <a:xfrm>
            <a:off x="8348472" y="2148840"/>
            <a:ext cx="1097280" cy="640080"/>
          </a:xfrm>
          <a:prstGeom prst="rect">
            <a:avLst/>
          </a:prstGeom>
          <a:noFill/>
          <a:ln/>
        </p:spPr>
        <p:txBody>
          <a:bodyPr wrap="square" lIns="0" tIns="0" rIns="0" bIns="0" rtlCol="0" anchor="ctr"/>
          <a:lstStyle/>
          <a:p>
            <a:pPr marL="0" indent="0">
              <a:buNone/>
            </a:pPr>
            <a:r>
              <a:rPr lang="en-US" sz="2600" b="1" dirty="0">
                <a:solidFill>
                  <a:srgbClr val="C9A227"/>
                </a:solidFill>
                <a:latin typeface="Cambria" pitchFamily="34" charset="0"/>
                <a:ea typeface="Cambria" pitchFamily="34" charset="-122"/>
                <a:cs typeface="Cambria" pitchFamily="34" charset="-120"/>
              </a:rPr>
              <a:t>3</a:t>
            </a:r>
            <a:endParaRPr lang="en-US" sz="2600" dirty="0"/>
          </a:p>
        </p:txBody>
      </p:sp>
      <p:sp>
        <p:nvSpPr>
          <p:cNvPr id="14" name="Text 12"/>
          <p:cNvSpPr txBox="1"/>
          <p:nvPr/>
        </p:nvSpPr>
        <p:spPr>
          <a:xfrm>
            <a:off x="8348472" y="2788920"/>
            <a:ext cx="3063240" cy="822960"/>
          </a:xfrm>
          <a:prstGeom prst="rect">
            <a:avLst/>
          </a:prstGeom>
          <a:noFill/>
          <a:ln/>
        </p:spPr>
        <p:txBody>
          <a:bodyPr wrap="square" lIns="0" tIns="0" rIns="0" bIns="0" rtlCol="0" anchor="ctr"/>
          <a:lstStyle/>
          <a:p>
            <a:pPr marL="0" indent="0">
              <a:buNone/>
            </a:pPr>
            <a:r>
              <a:rPr lang="en-US" sz="1800" b="1" dirty="0">
                <a:solidFill>
                  <a:srgbClr val="C9A227"/>
                </a:solidFill>
                <a:latin typeface="Cambria" pitchFamily="34" charset="0"/>
                <a:ea typeface="Cambria" pitchFamily="34" charset="-122"/>
                <a:cs typeface="Cambria" pitchFamily="34" charset="-120"/>
              </a:rPr>
              <a:t>Work With Us</a:t>
            </a:r>
            <a:endParaRPr lang="en-US" sz="1800" dirty="0"/>
          </a:p>
        </p:txBody>
      </p:sp>
      <p:sp>
        <p:nvSpPr>
          <p:cNvPr id="15" name="Text 13"/>
          <p:cNvSpPr txBox="1"/>
          <p:nvPr/>
        </p:nvSpPr>
        <p:spPr>
          <a:xfrm>
            <a:off x="8348472" y="3566160"/>
            <a:ext cx="3063240" cy="19202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The same process, run properly, on your numbers.</a:t>
            </a:r>
            <a:endParaRPr lang="en-US" sz="1300" dirty="0"/>
          </a:p>
        </p:txBody>
      </p:sp>
      <p:sp>
        <p:nvSpPr>
          <p:cNvPr id="16" name="Text 14"/>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25</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058400" cy="365760"/>
          </a:xfrm>
          <a:prstGeom prst="rect">
            <a:avLst/>
          </a:prstGeom>
          <a:noFill/>
          <a:ln/>
        </p:spPr>
        <p:txBody>
          <a:bodyPr wrap="square" lIns="0" tIns="0" rIns="0" bIns="0" rtlCol="0" anchor="ctr"/>
          <a:lstStyle/>
          <a:p>
            <a:pPr marL="0" indent="0">
              <a:buNone/>
            </a:pPr>
            <a:r>
              <a:rPr lang="en-US" sz="1200" b="1" kern="0" spc="200" dirty="0">
                <a:solidFill>
                  <a:srgbClr val="9E1B32"/>
                </a:solidFill>
                <a:latin typeface="Calibri" pitchFamily="34" charset="0"/>
                <a:ea typeface="Calibri" pitchFamily="34" charset="-122"/>
                <a:cs typeface="Calibri" pitchFamily="34" charset="-120"/>
              </a:rPr>
              <a:t>THE OFFER</a:t>
            </a:r>
            <a:endParaRPr lang="en-US" sz="1200" dirty="0"/>
          </a:p>
        </p:txBody>
      </p:sp>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Two Tracks, Same Booking Action</a:t>
            </a:r>
            <a:endParaRPr lang="en-US" sz="3000" dirty="0"/>
          </a:p>
        </p:txBody>
      </p:sp>
      <p:sp>
        <p:nvSpPr>
          <p:cNvPr id="4" name="Shape 2"/>
          <p:cNvSpPr/>
          <p:nvPr/>
        </p:nvSpPr>
        <p:spPr>
          <a:xfrm>
            <a:off x="640080" y="1920240"/>
            <a:ext cx="5349240" cy="3794760"/>
          </a:xfrm>
          <a:prstGeom prst="roundRect">
            <a:avLst>
              <a:gd name="adj" fmla="val 1928"/>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5" name="Text 3"/>
          <p:cNvSpPr txBox="1"/>
          <p:nvPr/>
        </p:nvSpPr>
        <p:spPr>
          <a:xfrm>
            <a:off x="868680" y="2103120"/>
            <a:ext cx="4846320" cy="320040"/>
          </a:xfrm>
          <a:prstGeom prst="rect">
            <a:avLst/>
          </a:prstGeom>
          <a:noFill/>
          <a:ln/>
        </p:spPr>
        <p:txBody>
          <a:bodyPr wrap="square" lIns="0" tIns="0" rIns="0" bIns="0" rtlCol="0" anchor="ctr"/>
          <a:lstStyle/>
          <a:p>
            <a:pPr marL="0" indent="0">
              <a:buNone/>
            </a:pPr>
            <a:r>
              <a:rPr lang="en-US" sz="1150" b="1" kern="0" spc="150" dirty="0">
                <a:solidFill>
                  <a:srgbClr val="9E1B32"/>
                </a:solidFill>
                <a:latin typeface="Calibri" pitchFamily="34" charset="0"/>
                <a:ea typeface="Calibri" pitchFamily="34" charset="-122"/>
                <a:cs typeface="Calibri" pitchFamily="34" charset="-120"/>
              </a:rPr>
              <a:t>TRACK 1</a:t>
            </a:r>
            <a:endParaRPr lang="en-US" sz="1150" dirty="0"/>
          </a:p>
        </p:txBody>
      </p:sp>
      <p:sp>
        <p:nvSpPr>
          <p:cNvPr id="6" name="Text 4"/>
          <p:cNvSpPr txBox="1"/>
          <p:nvPr/>
        </p:nvSpPr>
        <p:spPr>
          <a:xfrm>
            <a:off x="868680" y="2395728"/>
            <a:ext cx="4846320" cy="548640"/>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Next Move Strategy Session</a:t>
            </a:r>
            <a:endParaRPr lang="en-US" sz="1900" dirty="0"/>
          </a:p>
        </p:txBody>
      </p:sp>
      <p:sp>
        <p:nvSpPr>
          <p:cNvPr id="7" name="Text 5"/>
          <p:cNvSpPr txBox="1"/>
          <p:nvPr/>
        </p:nvSpPr>
        <p:spPr>
          <a:xfrm>
            <a:off x="868680" y="3017520"/>
            <a:ext cx="4846320" cy="2560320"/>
          </a:xfrm>
          <a:prstGeom prst="rect">
            <a:avLst/>
          </a:prstGeom>
          <a:noFill/>
          <a:ln/>
        </p:spPr>
        <p:txBody>
          <a:bodyPr wrap="square" lIns="0" tIns="0" rIns="0" bIns="0" rtlCol="0" anchor="ctr"/>
          <a:lstStyle/>
          <a:p>
            <a:pPr marL="0" indent="0">
              <a:lnSpc>
                <a:spcPct val="135000"/>
              </a:lnSpc>
              <a:buNone/>
            </a:pPr>
            <a:r>
              <a:rPr lang="en-US" sz="1300" dirty="0">
                <a:solidFill>
                  <a:srgbClr val="1F2937"/>
                </a:solidFill>
                <a:latin typeface="Calibri" pitchFamily="34" charset="0"/>
                <a:ea typeface="Calibri" pitchFamily="34" charset="-122"/>
                <a:cs typeface="Calibri" pitchFamily="34" charset="-120"/>
              </a:rPr>
              <a:t>• Your objective, set properly</a:t>
            </a:r>
            <a:endParaRPr lang="en-US" sz="1300" dirty="0"/>
          </a:p>
          <a:p>
            <a:pPr marL="0" indent="0">
              <a:lnSpc>
                <a:spcPct val="135000"/>
              </a:lnSpc>
              <a:buNone/>
            </a:pPr>
            <a:r>
              <a:rPr lang="en-US" sz="1300" dirty="0">
                <a:solidFill>
                  <a:srgbClr val="1F2937"/>
                </a:solidFill>
                <a:latin typeface="Calibri" pitchFamily="34" charset="0"/>
                <a:ea typeface="Calibri" pitchFamily="34" charset="-122"/>
                <a:cs typeface="Calibri" pitchFamily="34" charset="-120"/>
              </a:rPr>
              <a:t>• Financing structure checked</a:t>
            </a:r>
            <a:endParaRPr lang="en-US" sz="1300" dirty="0"/>
          </a:p>
          <a:p>
            <a:pPr marL="0" indent="0">
              <a:lnSpc>
                <a:spcPct val="135000"/>
              </a:lnSpc>
              <a:buNone/>
            </a:pPr>
            <a:r>
              <a:rPr lang="en-US" sz="1300" dirty="0">
                <a:solidFill>
                  <a:srgbClr val="1F2937"/>
                </a:solidFill>
                <a:latin typeface="Calibri" pitchFamily="34" charset="0"/>
                <a:ea typeface="Calibri" pitchFamily="34" charset="-122"/>
                <a:cs typeface="Calibri" pitchFamily="34" charset="-120"/>
              </a:rPr>
              <a:t>• Fair-price build on your actual numbers</a:t>
            </a:r>
            <a:endParaRPr lang="en-US" sz="1300" dirty="0"/>
          </a:p>
          <a:p>
            <a:pPr marL="0" indent="0">
              <a:lnSpc>
                <a:spcPct val="135000"/>
              </a:lnSpc>
              <a:buNone/>
            </a:pPr>
            <a:r>
              <a:rPr lang="en-US" sz="1300" dirty="0">
                <a:solidFill>
                  <a:srgbClr val="1F2937"/>
                </a:solidFill>
                <a:latin typeface="Calibri" pitchFamily="34" charset="0"/>
                <a:ea typeface="Calibri" pitchFamily="34" charset="-122"/>
                <a:cs typeface="Calibri" pitchFamily="34" charset="-120"/>
              </a:rPr>
              <a:t>• Your real probability read</a:t>
            </a:r>
            <a:endParaRPr lang="en-US" sz="1300" dirty="0"/>
          </a:p>
          <a:p>
            <a:pPr marL="0" indent="0">
              <a:lnSpc>
                <a:spcPct val="135000"/>
              </a:lnSpc>
              <a:buNone/>
            </a:pPr>
            <a:r>
              <a:rPr lang="en-US" sz="1300" dirty="0">
                <a:solidFill>
                  <a:srgbClr val="1F2937"/>
                </a:solidFill>
                <a:latin typeface="Calibri" pitchFamily="34" charset="0"/>
                <a:ea typeface="Calibri" pitchFamily="34" charset="-122"/>
                <a:cs typeface="Calibri" pitchFamily="34" charset="-120"/>
              </a:rPr>
              <a:t>• Honest verdict — “wait” is a real outcome</a:t>
            </a:r>
            <a:endParaRPr lang="en-US" sz="1300" dirty="0"/>
          </a:p>
          <a:p>
            <a:pPr marL="0" indent="0">
              <a:lnSpc>
                <a:spcPct val="135000"/>
              </a:lnSpc>
              <a:buNone/>
            </a:pPr>
            <a:r>
              <a:rPr lang="en-US" sz="1300" dirty="0">
                <a:solidFill>
                  <a:srgbClr val="1F2937"/>
                </a:solidFill>
                <a:latin typeface="Calibri" pitchFamily="34" charset="0"/>
                <a:ea typeface="Calibri" pitchFamily="34" charset="-122"/>
                <a:cs typeface="Calibri" pitchFamily="34" charset="-120"/>
              </a:rPr>
              <a:t>• Fit inside your broader portfolio</a:t>
            </a:r>
            <a:endParaRPr lang="en-US" sz="1300" dirty="0"/>
          </a:p>
        </p:txBody>
      </p:sp>
      <p:sp>
        <p:nvSpPr>
          <p:cNvPr id="8" name="Shape 6"/>
          <p:cNvSpPr/>
          <p:nvPr/>
        </p:nvSpPr>
        <p:spPr>
          <a:xfrm>
            <a:off x="6199632" y="1920240"/>
            <a:ext cx="5349240" cy="3794760"/>
          </a:xfrm>
          <a:prstGeom prst="roundRect">
            <a:avLst>
              <a:gd name="adj" fmla="val 1928"/>
            </a:avLst>
          </a:prstGeom>
          <a:solidFill>
            <a:srgbClr val="1B2A4A"/>
          </a:solidFill>
          <a:ln/>
          <a:effectLst>
            <a:outerShdw blurRad="101600" dist="38100" dir="5400000" algn="bl" rotWithShape="0">
              <a:srgbClr val="000000">
                <a:alpha val="18000"/>
              </a:srgbClr>
            </a:outerShdw>
          </a:effectLst>
        </p:spPr>
        <p:txBody>
          <a:bodyPr/>
          <a:lstStyle/>
          <a:p>
            <a:endParaRPr lang="en-SG"/>
          </a:p>
        </p:txBody>
      </p:sp>
      <p:sp>
        <p:nvSpPr>
          <p:cNvPr id="9" name="Text 7"/>
          <p:cNvSpPr txBox="1"/>
          <p:nvPr/>
        </p:nvSpPr>
        <p:spPr>
          <a:xfrm>
            <a:off x="6428232" y="2103120"/>
            <a:ext cx="4846320" cy="320040"/>
          </a:xfrm>
          <a:prstGeom prst="rect">
            <a:avLst/>
          </a:prstGeom>
          <a:noFill/>
          <a:ln/>
        </p:spPr>
        <p:txBody>
          <a:bodyPr wrap="square" lIns="0" tIns="0" rIns="0" bIns="0" rtlCol="0" anchor="ctr"/>
          <a:lstStyle/>
          <a:p>
            <a:pPr marL="0" indent="0">
              <a:buNone/>
            </a:pPr>
            <a:r>
              <a:rPr lang="en-US" sz="1150" b="1" kern="0" spc="150" dirty="0">
                <a:solidFill>
                  <a:srgbClr val="C9A227"/>
                </a:solidFill>
                <a:latin typeface="Calibri" pitchFamily="34" charset="0"/>
                <a:ea typeface="Calibri" pitchFamily="34" charset="-122"/>
                <a:cs typeface="Calibri" pitchFamily="34" charset="-120"/>
              </a:rPr>
              <a:t>TRACK 2</a:t>
            </a:r>
            <a:endParaRPr lang="en-US" sz="1150" dirty="0"/>
          </a:p>
        </p:txBody>
      </p:sp>
      <p:sp>
        <p:nvSpPr>
          <p:cNvPr id="10" name="Text 8"/>
          <p:cNvSpPr txBox="1"/>
          <p:nvPr/>
        </p:nvSpPr>
        <p:spPr>
          <a:xfrm>
            <a:off x="6428232" y="2395728"/>
            <a:ext cx="4846320" cy="54864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Thomson Reserve Balloting Support</a:t>
            </a:r>
            <a:endParaRPr lang="en-US" sz="1900" dirty="0"/>
          </a:p>
        </p:txBody>
      </p:sp>
      <p:sp>
        <p:nvSpPr>
          <p:cNvPr id="11" name="Text 9"/>
          <p:cNvSpPr txBox="1"/>
          <p:nvPr/>
        </p:nvSpPr>
        <p:spPr>
          <a:xfrm>
            <a:off x="6428232" y="3017520"/>
            <a:ext cx="4846320" cy="2560320"/>
          </a:xfrm>
          <a:prstGeom prst="rect">
            <a:avLst/>
          </a:prstGeom>
          <a:noFill/>
          <a:ln/>
        </p:spPr>
        <p:txBody>
          <a:bodyPr wrap="square" lIns="0" tIns="0" rIns="0" bIns="0" rtlCol="0" anchor="ctr"/>
          <a:lstStyle/>
          <a:p>
            <a:pPr marL="0" indent="0">
              <a:lnSpc>
                <a:spcPct val="135000"/>
              </a:lnSpc>
              <a:buNone/>
            </a:pPr>
            <a:r>
              <a:rPr lang="en-US" sz="1300" dirty="0">
                <a:solidFill>
                  <a:srgbClr val="D7DCE8"/>
                </a:solidFill>
                <a:latin typeface="Calibri" pitchFamily="34" charset="0"/>
                <a:ea typeface="Calibri" pitchFamily="34" charset="-122"/>
                <a:cs typeface="Calibri" pitchFamily="34" charset="-120"/>
              </a:rPr>
              <a:t>Everything in Track 1, plus:</a:t>
            </a:r>
            <a:endParaRPr lang="en-US" sz="1300" dirty="0"/>
          </a:p>
          <a:p>
            <a:pPr marL="0" indent="0">
              <a:lnSpc>
                <a:spcPct val="135000"/>
              </a:lnSpc>
              <a:buNone/>
            </a:pPr>
            <a:r>
              <a:rPr lang="en-US" sz="1300" dirty="0">
                <a:solidFill>
                  <a:srgbClr val="D7DCE8"/>
                </a:solidFill>
                <a:latin typeface="Calibri" pitchFamily="34" charset="0"/>
                <a:ea typeface="Calibri" pitchFamily="34" charset="-122"/>
                <a:cs typeface="Calibri" pitchFamily="34" charset="-120"/>
              </a:rPr>
              <a:t>• Walk-away &amp; ranked list, set in writing weeks ahead</a:t>
            </a:r>
            <a:endParaRPr lang="en-US" sz="1300" dirty="0"/>
          </a:p>
          <a:p>
            <a:pPr marL="0" indent="0">
              <a:lnSpc>
                <a:spcPct val="135000"/>
              </a:lnSpc>
              <a:buNone/>
            </a:pPr>
            <a:r>
              <a:rPr lang="en-US" sz="1300" dirty="0">
                <a:solidFill>
                  <a:srgbClr val="D7DCE8"/>
                </a:solidFill>
                <a:latin typeface="Calibri" pitchFamily="34" charset="0"/>
                <a:ea typeface="Calibri" pitchFamily="34" charset="-122"/>
                <a:cs typeface="Calibri" pitchFamily="34" charset="-120"/>
              </a:rPr>
              <a:t>• Live support on ballot day itself</a:t>
            </a:r>
            <a:endParaRPr lang="en-US" sz="1300" dirty="0"/>
          </a:p>
          <a:p>
            <a:pPr marL="0" indent="0">
              <a:lnSpc>
                <a:spcPct val="135000"/>
              </a:lnSpc>
              <a:buNone/>
            </a:pPr>
            <a:r>
              <a:rPr lang="en-US" sz="1300" dirty="0">
                <a:solidFill>
                  <a:srgbClr val="D7DCE8"/>
                </a:solidFill>
                <a:latin typeface="Calibri" pitchFamily="34" charset="0"/>
                <a:ea typeface="Calibri" pitchFamily="34" charset="-122"/>
                <a:cs typeface="Calibri" pitchFamily="34" charset="-120"/>
              </a:rPr>
              <a:t>• Next-move planning after</a:t>
            </a:r>
            <a:endParaRPr lang="en-US" sz="1300" dirty="0"/>
          </a:p>
        </p:txBody>
      </p:sp>
      <p:sp>
        <p:nvSpPr>
          <p:cNvPr id="12" name="Text 10"/>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26</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058400" cy="365760"/>
          </a:xfrm>
          <a:prstGeom prst="rect">
            <a:avLst/>
          </a:prstGeom>
          <a:noFill/>
          <a:ln/>
        </p:spPr>
        <p:txBody>
          <a:bodyPr wrap="square" lIns="0" tIns="0" rIns="0" bIns="0" rtlCol="0" anchor="ctr"/>
          <a:lstStyle/>
          <a:p>
            <a:pPr marL="0" indent="0">
              <a:buNone/>
            </a:pPr>
            <a:r>
              <a:rPr lang="en-US" sz="1200" b="1" kern="0" spc="200" dirty="0">
                <a:solidFill>
                  <a:srgbClr val="9E1B32"/>
                </a:solidFill>
                <a:latin typeface="Calibri" pitchFamily="34" charset="0"/>
                <a:ea typeface="Calibri" pitchFamily="34" charset="-122"/>
                <a:cs typeface="Calibri" pitchFamily="34" charset="-120"/>
              </a:rPr>
              <a:t>PROOF</a:t>
            </a:r>
            <a:endParaRPr lang="en-US" sz="1200" dirty="0"/>
          </a:p>
        </p:txBody>
      </p:sp>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Real Results, Real Situations</a:t>
            </a:r>
            <a:endParaRPr lang="en-US" sz="3000" dirty="0"/>
          </a:p>
        </p:txBody>
      </p:sp>
      <p:sp>
        <p:nvSpPr>
          <p:cNvPr id="4" name="Shape 2"/>
          <p:cNvSpPr/>
          <p:nvPr/>
        </p:nvSpPr>
        <p:spPr>
          <a:xfrm>
            <a:off x="640080" y="1965960"/>
            <a:ext cx="3520440" cy="3566160"/>
          </a:xfrm>
          <a:prstGeom prst="roundRect">
            <a:avLst>
              <a:gd name="adj" fmla="val 2078"/>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5" name="Text 3"/>
          <p:cNvSpPr txBox="1"/>
          <p:nvPr/>
        </p:nvSpPr>
        <p:spPr>
          <a:xfrm>
            <a:off x="868680" y="2194560"/>
            <a:ext cx="3063240" cy="365760"/>
          </a:xfrm>
          <a:prstGeom prst="rect">
            <a:avLst/>
          </a:prstGeom>
          <a:noFill/>
          <a:ln/>
        </p:spPr>
        <p:txBody>
          <a:bodyPr wrap="square" lIns="0" tIns="0" rIns="0" bIns="0" rtlCol="0" anchor="ctr"/>
          <a:lstStyle/>
          <a:p>
            <a:pPr marL="0" indent="0">
              <a:buNone/>
            </a:pPr>
            <a:r>
              <a:rPr lang="en-US" sz="1200" b="1" kern="0" spc="100" dirty="0">
                <a:solidFill>
                  <a:srgbClr val="9E1B32"/>
                </a:solidFill>
                <a:latin typeface="Calibri" pitchFamily="34" charset="0"/>
                <a:ea typeface="Calibri" pitchFamily="34" charset="-122"/>
                <a:cs typeface="Calibri" pitchFamily="34" charset="-120"/>
              </a:rPr>
              <a:t>OWN-STAY</a:t>
            </a:r>
            <a:endParaRPr lang="en-US" sz="1200" dirty="0"/>
          </a:p>
        </p:txBody>
      </p:sp>
      <p:sp>
        <p:nvSpPr>
          <p:cNvPr id="6" name="Text 4"/>
          <p:cNvSpPr txBox="1"/>
          <p:nvPr/>
        </p:nvSpPr>
        <p:spPr>
          <a:xfrm>
            <a:off x="868680" y="2651760"/>
            <a:ext cx="3063240" cy="265176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 PLACEHOLDER — swap for a real, consented client result before this goes live ]</a:t>
            </a:r>
            <a:endParaRPr lang="en-US" sz="1300" dirty="0"/>
          </a:p>
        </p:txBody>
      </p:sp>
      <p:sp>
        <p:nvSpPr>
          <p:cNvPr id="7" name="Shape 5"/>
          <p:cNvSpPr/>
          <p:nvPr/>
        </p:nvSpPr>
        <p:spPr>
          <a:xfrm>
            <a:off x="4389120" y="1965960"/>
            <a:ext cx="3520440" cy="3566160"/>
          </a:xfrm>
          <a:prstGeom prst="roundRect">
            <a:avLst>
              <a:gd name="adj" fmla="val 2078"/>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8" name="Text 6"/>
          <p:cNvSpPr txBox="1"/>
          <p:nvPr/>
        </p:nvSpPr>
        <p:spPr>
          <a:xfrm>
            <a:off x="4617720" y="2194560"/>
            <a:ext cx="3063240" cy="365760"/>
          </a:xfrm>
          <a:prstGeom prst="rect">
            <a:avLst/>
          </a:prstGeom>
          <a:noFill/>
          <a:ln/>
        </p:spPr>
        <p:txBody>
          <a:bodyPr wrap="square" lIns="0" tIns="0" rIns="0" bIns="0" rtlCol="0" anchor="ctr"/>
          <a:lstStyle/>
          <a:p>
            <a:pPr marL="0" indent="0">
              <a:buNone/>
            </a:pPr>
            <a:r>
              <a:rPr lang="en-US" sz="1200" b="1" kern="0" spc="100" dirty="0">
                <a:solidFill>
                  <a:srgbClr val="9E1B32"/>
                </a:solidFill>
                <a:latin typeface="Calibri" pitchFamily="34" charset="0"/>
                <a:ea typeface="Calibri" pitchFamily="34" charset="-122"/>
                <a:cs typeface="Calibri" pitchFamily="34" charset="-120"/>
              </a:rPr>
              <a:t>INVESTMENT</a:t>
            </a:r>
            <a:endParaRPr lang="en-US" sz="1200" dirty="0"/>
          </a:p>
        </p:txBody>
      </p:sp>
      <p:sp>
        <p:nvSpPr>
          <p:cNvPr id="9" name="Text 7"/>
          <p:cNvSpPr txBox="1"/>
          <p:nvPr/>
        </p:nvSpPr>
        <p:spPr>
          <a:xfrm>
            <a:off x="4617720" y="2651760"/>
            <a:ext cx="3063240" cy="265176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 PLACEHOLDER — swap for a real, consented client result before this goes live ]</a:t>
            </a:r>
            <a:endParaRPr lang="en-US" sz="1300" dirty="0"/>
          </a:p>
        </p:txBody>
      </p:sp>
      <p:sp>
        <p:nvSpPr>
          <p:cNvPr id="10" name="Shape 8"/>
          <p:cNvSpPr/>
          <p:nvPr/>
        </p:nvSpPr>
        <p:spPr>
          <a:xfrm>
            <a:off x="8138160" y="1965960"/>
            <a:ext cx="3520440" cy="3566160"/>
          </a:xfrm>
          <a:prstGeom prst="roundRect">
            <a:avLst>
              <a:gd name="adj" fmla="val 2078"/>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11" name="Text 9"/>
          <p:cNvSpPr txBox="1"/>
          <p:nvPr/>
        </p:nvSpPr>
        <p:spPr>
          <a:xfrm>
            <a:off x="8366760" y="2194560"/>
            <a:ext cx="3063240" cy="365760"/>
          </a:xfrm>
          <a:prstGeom prst="rect">
            <a:avLst/>
          </a:prstGeom>
          <a:noFill/>
          <a:ln/>
        </p:spPr>
        <p:txBody>
          <a:bodyPr wrap="square" lIns="0" tIns="0" rIns="0" bIns="0" rtlCol="0" anchor="ctr"/>
          <a:lstStyle/>
          <a:p>
            <a:pPr marL="0" indent="0">
              <a:buNone/>
            </a:pPr>
            <a:r>
              <a:rPr lang="en-US" sz="1200" b="1" kern="0" spc="100" dirty="0">
                <a:solidFill>
                  <a:srgbClr val="9E1B32"/>
                </a:solidFill>
                <a:latin typeface="Calibri" pitchFamily="34" charset="0"/>
                <a:ea typeface="Calibri" pitchFamily="34" charset="-122"/>
                <a:cs typeface="Calibri" pitchFamily="34" charset="-120"/>
              </a:rPr>
              <a:t>KIDS / SCHOOL</a:t>
            </a:r>
            <a:endParaRPr lang="en-US" sz="1200" dirty="0"/>
          </a:p>
        </p:txBody>
      </p:sp>
      <p:sp>
        <p:nvSpPr>
          <p:cNvPr id="12" name="Text 10"/>
          <p:cNvSpPr txBox="1"/>
          <p:nvPr/>
        </p:nvSpPr>
        <p:spPr>
          <a:xfrm>
            <a:off x="8366760" y="2651760"/>
            <a:ext cx="3063240" cy="265176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 PLACEHOLDER — swap for a real, consented client result before this goes live ]</a:t>
            </a:r>
            <a:endParaRPr lang="en-US" sz="1300" dirty="0"/>
          </a:p>
        </p:txBody>
      </p:sp>
      <p:sp>
        <p:nvSpPr>
          <p:cNvPr id="13" name="Text 11"/>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27</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058400" cy="365760"/>
          </a:xfrm>
          <a:prstGeom prst="rect">
            <a:avLst/>
          </a:prstGeom>
          <a:noFill/>
          <a:ln/>
        </p:spPr>
        <p:txBody>
          <a:bodyPr wrap="square" lIns="0" tIns="0" rIns="0" bIns="0" rtlCol="0" anchor="ctr"/>
          <a:lstStyle/>
          <a:p>
            <a:pPr marL="0" indent="0">
              <a:buNone/>
            </a:pPr>
            <a:r>
              <a:rPr lang="en-US" sz="1200" b="1" kern="0" spc="200" dirty="0">
                <a:solidFill>
                  <a:srgbClr val="9E1B32"/>
                </a:solidFill>
                <a:latin typeface="Calibri" pitchFamily="34" charset="0"/>
                <a:ea typeface="Calibri" pitchFamily="34" charset="-122"/>
                <a:cs typeface="Calibri" pitchFamily="34" charset="-120"/>
              </a:rPr>
              <a:t>REAL URGENCY</a:t>
            </a:r>
            <a:endParaRPr lang="en-US" sz="1200" dirty="0"/>
          </a:p>
        </p:txBody>
      </p:sp>
      <p:sp>
        <p:nvSpPr>
          <p:cNvPr id="3" name="Text 1"/>
          <p:cNvSpPr txBox="1"/>
          <p:nvPr/>
        </p:nvSpPr>
        <p:spPr>
          <a:xfrm>
            <a:off x="640080" y="749808"/>
            <a:ext cx="10881360" cy="9144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No Countdown Gimmicks — Just What's True</a:t>
            </a:r>
            <a:endParaRPr lang="en-US" sz="3000" dirty="0"/>
          </a:p>
        </p:txBody>
      </p:sp>
      <p:sp>
        <p:nvSpPr>
          <p:cNvPr id="4" name="Shape 2"/>
          <p:cNvSpPr/>
          <p:nvPr/>
        </p:nvSpPr>
        <p:spPr>
          <a:xfrm>
            <a:off x="640080" y="1965960"/>
            <a:ext cx="10881360" cy="1143000"/>
          </a:xfrm>
          <a:prstGeom prst="roundRect">
            <a:avLst>
              <a:gd name="adj" fmla="val 6400"/>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5" name="Text 3"/>
          <p:cNvSpPr txBox="1"/>
          <p:nvPr/>
        </p:nvSpPr>
        <p:spPr>
          <a:xfrm>
            <a:off x="868680" y="1965960"/>
            <a:ext cx="3017520" cy="114300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Preview Timing</a:t>
            </a:r>
            <a:endParaRPr lang="en-US" sz="1600" dirty="0"/>
          </a:p>
        </p:txBody>
      </p:sp>
      <p:sp>
        <p:nvSpPr>
          <p:cNvPr id="6" name="Text 4"/>
          <p:cNvSpPr txBox="1"/>
          <p:nvPr/>
        </p:nvSpPr>
        <p:spPr>
          <a:xfrm>
            <a:off x="3931920" y="1965960"/>
            <a:ext cx="7315200" cy="114300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Thomson Reserve's preview is approaching — confirm exact date before this session.</a:t>
            </a:r>
            <a:endParaRPr lang="en-US" sz="1300" dirty="0"/>
          </a:p>
        </p:txBody>
      </p:sp>
      <p:sp>
        <p:nvSpPr>
          <p:cNvPr id="7" name="Shape 5"/>
          <p:cNvSpPr/>
          <p:nvPr/>
        </p:nvSpPr>
        <p:spPr>
          <a:xfrm>
            <a:off x="640080" y="3291840"/>
            <a:ext cx="10881360" cy="1143000"/>
          </a:xfrm>
          <a:prstGeom prst="roundRect">
            <a:avLst>
              <a:gd name="adj" fmla="val 6400"/>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8" name="Text 6"/>
          <p:cNvSpPr txBox="1"/>
          <p:nvPr/>
        </p:nvSpPr>
        <p:spPr>
          <a:xfrm>
            <a:off x="868680" y="3291840"/>
            <a:ext cx="3017520" cy="114300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Phase Pricing</a:t>
            </a:r>
            <a:endParaRPr lang="en-US" sz="1600" dirty="0"/>
          </a:p>
        </p:txBody>
      </p:sp>
      <p:sp>
        <p:nvSpPr>
          <p:cNvPr id="9" name="Text 7"/>
          <p:cNvSpPr txBox="1"/>
          <p:nvPr/>
        </p:nvSpPr>
        <p:spPr>
          <a:xfrm>
            <a:off x="3931920" y="3291840"/>
            <a:ext cx="7315200" cy="114300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In mega-launches, price typically climbs across sales phases — earliest buyers get the lowest tag.</a:t>
            </a:r>
            <a:endParaRPr lang="en-US" sz="1300" dirty="0"/>
          </a:p>
        </p:txBody>
      </p:sp>
      <p:sp>
        <p:nvSpPr>
          <p:cNvPr id="10" name="Shape 8"/>
          <p:cNvSpPr/>
          <p:nvPr/>
        </p:nvSpPr>
        <p:spPr>
          <a:xfrm>
            <a:off x="640080" y="4617720"/>
            <a:ext cx="10881360" cy="1143000"/>
          </a:xfrm>
          <a:prstGeom prst="roundRect">
            <a:avLst>
              <a:gd name="adj" fmla="val 6400"/>
            </a:avLst>
          </a:prstGeom>
          <a:solidFill>
            <a:srgbClr val="F3F4F6"/>
          </a:solidFill>
          <a:ln/>
          <a:effectLst>
            <a:outerShdw blurRad="101600" dist="38100" dir="5400000" algn="bl" rotWithShape="0">
              <a:srgbClr val="000000">
                <a:alpha val="18000"/>
              </a:srgbClr>
            </a:outerShdw>
          </a:effectLst>
        </p:spPr>
        <p:txBody>
          <a:bodyPr/>
          <a:lstStyle/>
          <a:p>
            <a:endParaRPr lang="en-SG"/>
          </a:p>
        </p:txBody>
      </p:sp>
      <p:sp>
        <p:nvSpPr>
          <p:cNvPr id="11" name="Text 9"/>
          <p:cNvSpPr txBox="1"/>
          <p:nvPr/>
        </p:nvSpPr>
        <p:spPr>
          <a:xfrm>
            <a:off x="868680" y="4617720"/>
            <a:ext cx="3017520" cy="114300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Real Capacity</a:t>
            </a:r>
            <a:endParaRPr lang="en-US" sz="1600" dirty="0"/>
          </a:p>
        </p:txBody>
      </p:sp>
      <p:sp>
        <p:nvSpPr>
          <p:cNvPr id="12" name="Text 10"/>
          <p:cNvSpPr txBox="1"/>
          <p:nvPr/>
        </p:nvSpPr>
        <p:spPr>
          <a:xfrm>
            <a:off x="3931920" y="4617720"/>
            <a:ext cx="7315200" cy="114300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Sessions run personally, one-on-one — not in batches.</a:t>
            </a:r>
            <a:endParaRPr lang="en-US" sz="1300" dirty="0"/>
          </a:p>
        </p:txBody>
      </p:sp>
      <p:sp>
        <p:nvSpPr>
          <p:cNvPr id="13" name="Text 11"/>
          <p:cNvSpPr txBox="1"/>
          <p:nvPr/>
        </p:nvSpPr>
        <p:spPr>
          <a:xfrm>
            <a:off x="640080" y="6537960"/>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Thomson Reserve Webinar  ·  28</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371600" y="-1645920"/>
            <a:ext cx="5486400" cy="5486400"/>
          </a:xfrm>
          <a:prstGeom prst="ellipse">
            <a:avLst/>
          </a:prstGeom>
          <a:solidFill>
            <a:srgbClr val="121D33"/>
          </a:solidFill>
          <a:ln/>
        </p:spPr>
        <p:txBody>
          <a:bodyPr/>
          <a:lstStyle/>
          <a:p>
            <a:endParaRPr lang="en-SG"/>
          </a:p>
        </p:txBody>
      </p:sp>
      <p:sp>
        <p:nvSpPr>
          <p:cNvPr id="3" name="Text 1"/>
          <p:cNvSpPr txBox="1"/>
          <p:nvPr/>
        </p:nvSpPr>
        <p:spPr>
          <a:xfrm>
            <a:off x="914400" y="1920240"/>
            <a:ext cx="10332720" cy="82296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You're not deciding today.</a:t>
            </a:r>
            <a:endParaRPr lang="en-US" sz="3000" dirty="0"/>
          </a:p>
        </p:txBody>
      </p:sp>
      <p:sp>
        <p:nvSpPr>
          <p:cNvPr id="4" name="Text 2"/>
          <p:cNvSpPr txBox="1"/>
          <p:nvPr/>
        </p:nvSpPr>
        <p:spPr>
          <a:xfrm>
            <a:off x="1371600" y="2697480"/>
            <a:ext cx="9418320" cy="822960"/>
          </a:xfrm>
          <a:prstGeom prst="rect">
            <a:avLst/>
          </a:prstGeom>
          <a:noFill/>
          <a:ln/>
        </p:spPr>
        <p:txBody>
          <a:bodyPr wrap="square" lIns="0" tIns="0" rIns="0" bIns="0" rtlCol="0" anchor="ctr"/>
          <a:lstStyle/>
          <a:p>
            <a:pPr marL="0" indent="0" algn="ctr">
              <a:buNone/>
            </a:pPr>
            <a:r>
              <a:rPr lang="en-US" sz="1800" i="1" dirty="0">
                <a:solidFill>
                  <a:srgbClr val="D7DCE8"/>
                </a:solidFill>
                <a:latin typeface="Calibri" pitchFamily="34" charset="0"/>
                <a:ea typeface="Calibri" pitchFamily="34" charset="-122"/>
                <a:cs typeface="Calibri" pitchFamily="34" charset="-120"/>
              </a:rPr>
              <a:t>You're deciding whether you want a real process behind you when you do.</a:t>
            </a:r>
            <a:endParaRPr lang="en-US" sz="1800" dirty="0"/>
          </a:p>
        </p:txBody>
      </p:sp>
      <p:sp>
        <p:nvSpPr>
          <p:cNvPr id="5" name="Shape 3"/>
          <p:cNvSpPr/>
          <p:nvPr/>
        </p:nvSpPr>
        <p:spPr>
          <a:xfrm>
            <a:off x="4023360" y="3977640"/>
            <a:ext cx="4114800" cy="868680"/>
          </a:xfrm>
          <a:prstGeom prst="roundRect">
            <a:avLst>
              <a:gd name="adj" fmla="val 50000"/>
            </a:avLst>
          </a:prstGeom>
          <a:solidFill>
            <a:srgbClr val="C9A227"/>
          </a:solidFill>
          <a:ln/>
          <a:effectLst>
            <a:outerShdw blurRad="101600" dist="38100" dir="5400000" algn="bl" rotWithShape="0">
              <a:srgbClr val="C9A227">
                <a:alpha val="30000"/>
              </a:srgbClr>
            </a:outerShdw>
          </a:effectLst>
        </p:spPr>
        <p:txBody>
          <a:bodyPr/>
          <a:lstStyle/>
          <a:p>
            <a:endParaRPr lang="en-SG"/>
          </a:p>
        </p:txBody>
      </p:sp>
      <p:sp>
        <p:nvSpPr>
          <p:cNvPr id="6" name="Text 4"/>
          <p:cNvSpPr txBox="1"/>
          <p:nvPr/>
        </p:nvSpPr>
        <p:spPr>
          <a:xfrm>
            <a:off x="4023360" y="3977640"/>
            <a:ext cx="4114800" cy="868680"/>
          </a:xfrm>
          <a:prstGeom prst="rect">
            <a:avLst/>
          </a:prstGeom>
          <a:noFill/>
          <a:ln/>
        </p:spPr>
        <p:txBody>
          <a:bodyPr wrap="square" lIns="0" tIns="0" rIns="0" bIns="0" rtlCol="0" anchor="ctr"/>
          <a:lstStyle/>
          <a:p>
            <a:pPr marL="0" indent="0" algn="ctr">
              <a:buNone/>
            </a:pPr>
            <a:r>
              <a:rPr lang="en-US" sz="1800" b="1" dirty="0">
                <a:solidFill>
                  <a:srgbClr val="121D33"/>
                </a:solidFill>
                <a:latin typeface="Cambria" pitchFamily="34" charset="0"/>
                <a:ea typeface="Cambria" pitchFamily="34" charset="-122"/>
                <a:cs typeface="Cambria" pitchFamily="34" charset="-120"/>
              </a:rPr>
              <a:t>BOOK YOUR SESSION</a:t>
            </a:r>
            <a:endParaRPr lang="en-US" sz="1800" dirty="0"/>
          </a:p>
        </p:txBody>
      </p:sp>
      <p:sp>
        <p:nvSpPr>
          <p:cNvPr id="7" name="Text 5"/>
          <p:cNvSpPr txBox="1"/>
          <p:nvPr/>
        </p:nvSpPr>
        <p:spPr>
          <a:xfrm>
            <a:off x="914400" y="5120640"/>
            <a:ext cx="10332720" cy="457200"/>
          </a:xfrm>
          <a:prstGeom prst="rect">
            <a:avLst/>
          </a:prstGeom>
          <a:noFill/>
          <a:ln/>
        </p:spPr>
        <p:txBody>
          <a:bodyPr wrap="square" lIns="0" tIns="0" rIns="0" bIns="0" rtlCol="0" anchor="ctr"/>
          <a:lstStyle/>
          <a:p>
            <a:pPr marL="0" indent="0" algn="ctr">
              <a:buNone/>
            </a:pPr>
            <a:r>
              <a:rPr lang="en-US" sz="1400" dirty="0">
                <a:solidFill>
                  <a:srgbClr val="C7CCE0"/>
                </a:solidFill>
                <a:latin typeface="Calibri" pitchFamily="34" charset="0"/>
                <a:ea typeface="Calibri" pitchFamily="34" charset="-122"/>
                <a:cs typeface="Calibri" pitchFamily="34" charset="-120"/>
              </a:rPr>
              <a:t>legacylaunch.com.sg/webinar</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2286000" y="4389120"/>
            <a:ext cx="5486400" cy="5486400"/>
          </a:xfrm>
          <a:prstGeom prst="ellipse">
            <a:avLst/>
          </a:prstGeom>
          <a:solidFill>
            <a:srgbClr val="121D33"/>
          </a:solidFill>
          <a:ln/>
        </p:spPr>
        <p:txBody>
          <a:bodyPr/>
          <a:lstStyle/>
          <a:p>
            <a:endParaRPr lang="en-SG"/>
          </a:p>
        </p:txBody>
      </p:sp>
      <p:sp>
        <p:nvSpPr>
          <p:cNvPr id="3" name="Text 1"/>
          <p:cNvSpPr txBox="1"/>
          <p:nvPr/>
        </p:nvSpPr>
        <p:spPr>
          <a:xfrm>
            <a:off x="914400" y="2331720"/>
            <a:ext cx="10332720" cy="457200"/>
          </a:xfrm>
          <a:prstGeom prst="rect">
            <a:avLst/>
          </a:prstGeom>
          <a:noFill/>
          <a:ln/>
        </p:spPr>
        <p:txBody>
          <a:bodyPr wrap="square" lIns="0" tIns="0" rIns="0" bIns="0" rtlCol="0" anchor="ctr"/>
          <a:lstStyle/>
          <a:p>
            <a:pPr marL="0" indent="0" algn="l">
              <a:buNone/>
            </a:pPr>
            <a:r>
              <a:rPr lang="en-US" sz="1400" b="1" kern="0" spc="300" dirty="0">
                <a:solidFill>
                  <a:srgbClr val="C9A227"/>
                </a:solidFill>
                <a:latin typeface="Calibri" pitchFamily="34" charset="0"/>
                <a:ea typeface="Calibri" pitchFamily="34" charset="-122"/>
                <a:cs typeface="Calibri" pitchFamily="34" charset="-120"/>
              </a:rPr>
              <a:t>OPEN FLOOR</a:t>
            </a:r>
            <a:endParaRPr lang="en-US" sz="1400" dirty="0"/>
          </a:p>
        </p:txBody>
      </p:sp>
      <p:sp>
        <p:nvSpPr>
          <p:cNvPr id="4" name="Text 2"/>
          <p:cNvSpPr txBox="1"/>
          <p:nvPr/>
        </p:nvSpPr>
        <p:spPr>
          <a:xfrm>
            <a:off x="914400" y="2788920"/>
            <a:ext cx="10332720" cy="1737360"/>
          </a:xfrm>
          <a:prstGeom prst="rect">
            <a:avLst/>
          </a:prstGeom>
          <a:noFill/>
          <a:ln/>
        </p:spPr>
        <p:txBody>
          <a:bodyPr wrap="square" lIns="0" tIns="0" rIns="0" bIns="0" rtlCol="0" anchor="ctr"/>
          <a:lstStyle/>
          <a:p>
            <a:pPr marL="0" indent="0">
              <a:lnSpc>
                <a:spcPct val="105000"/>
              </a:lnSpc>
              <a:buNone/>
            </a:pPr>
            <a:r>
              <a:rPr lang="en-US" sz="3400" b="1" dirty="0">
                <a:solidFill>
                  <a:srgbClr val="FFFFFF"/>
                </a:solidFill>
                <a:latin typeface="Cambria" pitchFamily="34" charset="0"/>
                <a:ea typeface="Cambria" pitchFamily="34" charset="-122"/>
                <a:cs typeface="Cambria" pitchFamily="34" charset="-120"/>
              </a:rPr>
              <a:t>Ask Me Anything.</a:t>
            </a:r>
            <a:endParaRPr lang="en-US" sz="3400" dirty="0"/>
          </a:p>
        </p:txBody>
      </p:sp>
      <p:sp>
        <p:nvSpPr>
          <p:cNvPr id="5" name="Text 3"/>
          <p:cNvSpPr txBox="1"/>
          <p:nvPr/>
        </p:nvSpPr>
        <p:spPr>
          <a:xfrm>
            <a:off x="914400" y="4480560"/>
            <a:ext cx="9692640" cy="731520"/>
          </a:xfrm>
          <a:prstGeom prst="rect">
            <a:avLst/>
          </a:prstGeom>
          <a:noFill/>
          <a:ln/>
        </p:spPr>
        <p:txBody>
          <a:bodyPr wrap="square" lIns="0" tIns="0" rIns="0" bIns="0" rtlCol="0" anchor="ctr"/>
          <a:lstStyle/>
          <a:p>
            <a:pPr marL="0" indent="0">
              <a:buNone/>
            </a:pPr>
            <a:r>
              <a:rPr lang="en-US" sz="1600" dirty="0">
                <a:solidFill>
                  <a:srgbClr val="D7DCE8"/>
                </a:solidFill>
                <a:latin typeface="Calibri" pitchFamily="34" charset="0"/>
                <a:ea typeface="Calibri" pitchFamily="34" charset="-122"/>
                <a:cs typeface="Calibri" pitchFamily="34" charset="-120"/>
              </a:rPr>
              <a:t>About this project, the process, or where you're at right now.</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209</TotalTime>
  <Words>3968</Words>
  <Application>Microsoft Office PowerPoint</Application>
  <PresentationFormat>Widescreen</PresentationFormat>
  <Paragraphs>364</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Cambria</vt:lpstr>
      <vt:lpstr>Impact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Singapore Real Estate Insider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Buy Thomson Reserve?</dc:title>
  <dc:subject>PptxGenJS Presentation</dc:subject>
  <dc:creator>Coach Edmund Tan</dc:creator>
  <cp:lastModifiedBy>TAN KIAT CHUAN TAN KIAT CHUAN</cp:lastModifiedBy>
  <cp:revision>3</cp:revision>
  <dcterms:created xsi:type="dcterms:W3CDTF">2026-09-11T09:59:52Z</dcterms:created>
  <dcterms:modified xsi:type="dcterms:W3CDTF">2026-09-11T14:41:26Z</dcterms:modified>
</cp:coreProperties>
</file>