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9144000"/>
  <p:notesSz cx="6858000" cy="9144000"/>
  <p:embeddedFontLst>
    <p:embeddedFont>
      <p:font typeface="Ex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Exo-regular.fntdata"/><Relationship Id="rId10" Type="http://schemas.openxmlformats.org/officeDocument/2006/relationships/slide" Target="slides/slide6.xml"/><Relationship Id="rId13" Type="http://schemas.openxmlformats.org/officeDocument/2006/relationships/font" Target="fonts/Exo-italic.fntdata"/><Relationship Id="rId12" Type="http://schemas.openxmlformats.org/officeDocument/2006/relationships/font" Target="fonts/Ex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Ex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h7023eb8641573f84_1_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h7023eb8641573f84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h7023eb8641573f84_1_4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19a8d5011_1_6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119a8d5011_1_6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DO CONSERVATIVE ADD 10K FOR FACING ONLY. DEVELOPER MAY WHACK 50K FOR FACING </a:t>
            </a:r>
            <a:endParaRPr/>
          </a:p>
        </p:txBody>
      </p:sp>
      <p:sp>
        <p:nvSpPr>
          <p:cNvPr id="100" name="Google Shape;100;g3119a8d5011_1_6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h7023eb8641573f84_1_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h7023eb8641573f84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 DO CONSERVATIVE ADD 10K FOR FACING ONLY. DEVELOPER MAY WHACK 50K FOR FACING </a:t>
            </a:r>
            <a:endParaRPr/>
          </a:p>
        </p:txBody>
      </p:sp>
      <p:sp>
        <p:nvSpPr>
          <p:cNvPr id="110" name="Google Shape;110;h7023eb8641573f84_1_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7023eb8641573f84_1_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h7023eb8641573f84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 DO CONSERVATIVE ADD 15K FOR FACING ONLY. DEVELOPER MAY WHACK 50K FOR FACING </a:t>
            </a:r>
            <a:endParaRPr/>
          </a:p>
        </p:txBody>
      </p:sp>
      <p:sp>
        <p:nvSpPr>
          <p:cNvPr id="119" name="Google Shape;119;h7023eb8641573f84_1_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7023eb8641573f84_1_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h7023eb8641573f84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 DO CONSERVATIVE ADD 10K FOR FACING ONLY. DEVELOPER MAY WHACK 50K FOR FACING </a:t>
            </a:r>
            <a:endParaRPr/>
          </a:p>
        </p:txBody>
      </p:sp>
      <p:sp>
        <p:nvSpPr>
          <p:cNvPr id="127" name="Google Shape;127;h7023eb8641573f84_1_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7023eb8641573f84_1_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h7023eb8641573f84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 DO CONSERVATIVE ADD 10K FOR FACING ONLY. DEVELOPER MAY WHACK 50K FOR FACING </a:t>
            </a:r>
            <a:endParaRPr/>
          </a:p>
        </p:txBody>
      </p:sp>
      <p:sp>
        <p:nvSpPr>
          <p:cNvPr id="137" name="Google Shape;137;h7023eb8641573f84_1_7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4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4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53200" y="6356354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stum Slides">
  <p:cSld name="Costum Slide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521027" y="426919"/>
            <a:ext cx="81018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Exo"/>
              <a:buNone/>
              <a:defRPr b="1" i="0" sz="2800" u="none" cap="none" strike="noStrike">
                <a:solidFill>
                  <a:srgbClr val="262626"/>
                </a:solidFill>
                <a:latin typeface="Exo"/>
                <a:ea typeface="Exo"/>
                <a:cs typeface="Exo"/>
                <a:sym typeface="Exo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521029" y="835213"/>
            <a:ext cx="80895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ctrTitle"/>
          </p:nvPr>
        </p:nvSpPr>
        <p:spPr>
          <a:xfrm>
            <a:off x="685800" y="2130429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457200" y="6356354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124200" y="6356354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6553200" y="6356354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457200" y="1600204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457200" y="6356354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124200" y="6356354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6553200" y="6356354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722313" y="4406904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4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4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4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600204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48200" y="1600204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0" type="dt"/>
          </p:nvPr>
        </p:nvSpPr>
        <p:spPr>
          <a:xfrm>
            <a:off x="457200" y="6356354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1" type="ftr"/>
          </p:nvPr>
        </p:nvSpPr>
        <p:spPr>
          <a:xfrm>
            <a:off x="3124200" y="6356354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2" type="sldNum"/>
          </p:nvPr>
        </p:nvSpPr>
        <p:spPr>
          <a:xfrm>
            <a:off x="6553200" y="6356354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9" name="Google Shape;49;p8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8"/>
          <p:cNvSpPr txBox="1"/>
          <p:nvPr>
            <p:ph idx="3" type="body"/>
          </p:nvPr>
        </p:nvSpPr>
        <p:spPr>
          <a:xfrm>
            <a:off x="4645027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idx="4" type="body"/>
          </p:nvPr>
        </p:nvSpPr>
        <p:spPr>
          <a:xfrm>
            <a:off x="4645027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0" type="dt"/>
          </p:nvPr>
        </p:nvSpPr>
        <p:spPr>
          <a:xfrm>
            <a:off x="457200" y="6356354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3124200" y="6356354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6553200" y="6356354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4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4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4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457200" y="273050"/>
            <a:ext cx="30084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3" name="Google Shape;63;p10"/>
          <p:cNvSpPr txBox="1"/>
          <p:nvPr>
            <p:ph idx="1" type="body"/>
          </p:nvPr>
        </p:nvSpPr>
        <p:spPr>
          <a:xfrm>
            <a:off x="3575051" y="273054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2" type="body"/>
          </p:nvPr>
        </p:nvSpPr>
        <p:spPr>
          <a:xfrm>
            <a:off x="457200" y="1435103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4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4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4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0" name="Google Shape;70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10" type="dt"/>
          </p:nvPr>
        </p:nvSpPr>
        <p:spPr>
          <a:xfrm>
            <a:off x="457200" y="6356354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11" type="ftr"/>
          </p:nvPr>
        </p:nvSpPr>
        <p:spPr>
          <a:xfrm>
            <a:off x="3124200" y="6356354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6553200" y="6356354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7" name="Google Shape;77;p12"/>
          <p:cNvSpPr txBox="1"/>
          <p:nvPr>
            <p:ph idx="1" type="body"/>
          </p:nvPr>
        </p:nvSpPr>
        <p:spPr>
          <a:xfrm rot="5400000">
            <a:off x="2308950" y="-251546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idx="10" type="dt"/>
          </p:nvPr>
        </p:nvSpPr>
        <p:spPr>
          <a:xfrm>
            <a:off x="457200" y="6356354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2"/>
          <p:cNvSpPr txBox="1"/>
          <p:nvPr>
            <p:ph idx="11" type="ftr"/>
          </p:nvPr>
        </p:nvSpPr>
        <p:spPr>
          <a:xfrm>
            <a:off x="3124200" y="6356354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6553200" y="6356354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>
            <p:ph type="title"/>
          </p:nvPr>
        </p:nvSpPr>
        <p:spPr>
          <a:xfrm rot="5400000">
            <a:off x="5370450" y="2085892"/>
            <a:ext cx="5851500" cy="22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3" name="Google Shape;83;p13"/>
          <p:cNvSpPr txBox="1"/>
          <p:nvPr>
            <p:ph idx="1" type="body"/>
          </p:nvPr>
        </p:nvSpPr>
        <p:spPr>
          <a:xfrm rot="5400000">
            <a:off x="836552" y="-66758"/>
            <a:ext cx="5851500" cy="6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0" type="dt"/>
          </p:nvPr>
        </p:nvSpPr>
        <p:spPr>
          <a:xfrm>
            <a:off x="457200" y="6356354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1" type="ftr"/>
          </p:nvPr>
        </p:nvSpPr>
        <p:spPr>
          <a:xfrm>
            <a:off x="3124200" y="6356354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6553200" y="6356354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4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4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4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4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>
    <mc:Choice Requires="p14">
      <p:transition spd="slow" p14:dur="2000">
        <p:fade thruBlk="1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5970225" y="2618975"/>
            <a:ext cx="2965200" cy="22638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STARTING FROM PRICES FROM LESS FAVOURABLE FACINGS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BE PREPARED +50K TO 80K FOR CHOICE FACINGS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$2.378MIL 2375PSF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$2.838MIL 2463PSF</a:t>
            </a:r>
            <a:endParaRPr b="1" sz="1300"/>
          </a:p>
        </p:txBody>
      </p:sp>
      <p:pic>
        <p:nvPicPr>
          <p:cNvPr id="93" name="Google Shape;93;p14" title="WhatsApp Image 2026-10-01 at 10.37.53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50" y="288150"/>
            <a:ext cx="5284400" cy="52060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" name="Google Shape;94;p14"/>
          <p:cNvCxnSpPr/>
          <p:nvPr/>
        </p:nvCxnSpPr>
        <p:spPr>
          <a:xfrm flipH="1" rot="10800000">
            <a:off x="5215625" y="4216875"/>
            <a:ext cx="932100" cy="4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4"/>
          <p:cNvCxnSpPr/>
          <p:nvPr/>
        </p:nvCxnSpPr>
        <p:spPr>
          <a:xfrm flipH="1" rot="10800000">
            <a:off x="5215625" y="4480250"/>
            <a:ext cx="932100" cy="4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" name="Google Shape;96;p14"/>
          <p:cNvSpPr/>
          <p:nvPr/>
        </p:nvSpPr>
        <p:spPr>
          <a:xfrm>
            <a:off x="6059025" y="998725"/>
            <a:ext cx="2787600" cy="13539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PER FLOOR JUMP ADD 10K CONSERVATIVELY. 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SOME LEVELS MAY JUMP MORE FOR UNBLOCK VIEW </a:t>
            </a:r>
            <a:endParaRPr b="1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title="Screenshot 2026-10-01 at 10.26.3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1625" y="883475"/>
            <a:ext cx="4003878" cy="54608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" name="Google Shape;103;p15"/>
          <p:cNvCxnSpPr>
            <a:endCxn id="104" idx="3"/>
          </p:cNvCxnSpPr>
          <p:nvPr/>
        </p:nvCxnSpPr>
        <p:spPr>
          <a:xfrm rot="10800000">
            <a:off x="2840825" y="2071413"/>
            <a:ext cx="1975200" cy="3144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" name="Google Shape;104;p15"/>
          <p:cNvSpPr/>
          <p:nvPr/>
        </p:nvSpPr>
        <p:spPr>
          <a:xfrm>
            <a:off x="599225" y="1461063"/>
            <a:ext cx="2241600" cy="12207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#03 $2.328mil 2326psf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#04 $2.338mil 2335psf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#05 $2.348mil 2345psf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#06 $2.358mil 2355psf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#07 $2.368mil 2365psf</a:t>
            </a:r>
            <a:endParaRPr b="1" sz="1300"/>
          </a:p>
        </p:txBody>
      </p:sp>
      <p:cxnSp>
        <p:nvCxnSpPr>
          <p:cNvPr id="105" name="Google Shape;105;p15"/>
          <p:cNvCxnSpPr/>
          <p:nvPr/>
        </p:nvCxnSpPr>
        <p:spPr>
          <a:xfrm flipH="1">
            <a:off x="3528825" y="5945075"/>
            <a:ext cx="1287300" cy="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" name="Google Shape;106;p15"/>
          <p:cNvSpPr/>
          <p:nvPr/>
        </p:nvSpPr>
        <p:spPr>
          <a:xfrm>
            <a:off x="255100" y="3475025"/>
            <a:ext cx="3240600" cy="31443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2857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ADD 10K FOR FACING 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#03 $2.338mil 2335psf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#04 $2.348mil 2345psf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FF0000"/>
                </a:solidFill>
              </a:rPr>
              <a:t>CLEAR SCHOOL MAY JUMP </a:t>
            </a:r>
            <a:endParaRPr b="1" sz="13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FF0000"/>
                </a:solidFill>
              </a:rPr>
              <a:t>20K TO 50K (AVERAGE 25K)</a:t>
            </a:r>
            <a:endParaRPr b="1" sz="13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#05 $2.373mil 2370psf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#06 $2.383mil 2380psf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#07 #2.393mil 2390psf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#08 $2.403mil 2400psf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#09 $2.413mil 2410psf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#10 $2.423mil 2420psf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#11 $2.433mil 2430psf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6" title="Screenshot 2026-10-01 at 10.27.03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2475" y="348256"/>
            <a:ext cx="4592175" cy="616149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/>
          <p:nvPr/>
        </p:nvSpPr>
        <p:spPr>
          <a:xfrm>
            <a:off x="599225" y="1461063"/>
            <a:ext cx="2241600" cy="12207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#03 $2.328mil 2326psf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#04 $2.338mil 2335psf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#05 $2.348mil 2345psf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#06 $2.358mil 2355psf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#07 $2.368mil 2365psf</a:t>
            </a:r>
            <a:endParaRPr b="1" sz="1300"/>
          </a:p>
        </p:txBody>
      </p:sp>
      <p:cxnSp>
        <p:nvCxnSpPr>
          <p:cNvPr id="114" name="Google Shape;114;p16"/>
          <p:cNvCxnSpPr/>
          <p:nvPr/>
        </p:nvCxnSpPr>
        <p:spPr>
          <a:xfrm flipH="1">
            <a:off x="3462225" y="5570750"/>
            <a:ext cx="1398300" cy="222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" name="Google Shape;115;p16"/>
          <p:cNvSpPr/>
          <p:nvPr/>
        </p:nvSpPr>
        <p:spPr>
          <a:xfrm>
            <a:off x="255100" y="3151575"/>
            <a:ext cx="3240600" cy="34677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2857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ADD 10K FOR FACING 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although see lake, its residential plot in future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#03 $2.338mil 2335psf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#04 $2.348mil 2345psf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0000"/>
                </a:solidFill>
              </a:rPr>
              <a:t>CLEAR MRT MAY JUMP </a:t>
            </a:r>
            <a:endParaRPr b="1" sz="13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0000"/>
                </a:solidFill>
              </a:rPr>
              <a:t>20K TO 50K (AVERAGE 25K)</a:t>
            </a:r>
            <a:endParaRPr b="1" sz="13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#05 $2.373mil 2370psf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#06 $2.383mil 2380psf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#07 #2.393mil 2390psf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#08 $2.403mil 2400psf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#09 $2.413mil 2410psf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#10 $2.423mil 2420psf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#11 $2.433mil 2430psf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7" title="Screenshot 2026-10-01 at 10.27.1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8151" y="431088"/>
            <a:ext cx="4468699" cy="5995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2" name="Google Shape;122;p17"/>
          <p:cNvCxnSpPr/>
          <p:nvPr/>
        </p:nvCxnSpPr>
        <p:spPr>
          <a:xfrm rot="10800000">
            <a:off x="3706425" y="5570650"/>
            <a:ext cx="1176300" cy="37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" name="Google Shape;123;p17"/>
          <p:cNvSpPr/>
          <p:nvPr/>
        </p:nvSpPr>
        <p:spPr>
          <a:xfrm>
            <a:off x="698975" y="2480350"/>
            <a:ext cx="3240600" cy="34677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2857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ADD 15K FOR POOL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#03 $2.343mil 2340psf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#04 $2.353mil 2350psf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0000"/>
                </a:solidFill>
              </a:rPr>
              <a:t>CERTAIN FLOOR </a:t>
            </a:r>
            <a:r>
              <a:rPr b="1" lang="en-US" sz="1300">
                <a:solidFill>
                  <a:srgbClr val="FF0000"/>
                </a:solidFill>
              </a:rPr>
              <a:t>MAY JUMP </a:t>
            </a:r>
            <a:endParaRPr b="1" sz="13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0000"/>
                </a:solidFill>
              </a:rPr>
              <a:t>20K TO 50K (use 20k)</a:t>
            </a:r>
            <a:endParaRPr b="1" sz="13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#05 $2.373mil 2370psf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#06 $2.383mil 2380psf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#07 #2.393mil 2390psf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#08 $2.403mil 2400psf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#09 $2.413mil 2410psf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#10 $2.423mil 2420psf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#11 $2.433mil 2430psf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8" title="Screenshot 2026-10-01 at 10.27.1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1026" y="326775"/>
            <a:ext cx="4375551" cy="587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0" name="Google Shape;130;p18"/>
          <p:cNvCxnSpPr/>
          <p:nvPr/>
        </p:nvCxnSpPr>
        <p:spPr>
          <a:xfrm flipH="1">
            <a:off x="3329100" y="5703900"/>
            <a:ext cx="1220700" cy="4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" name="Google Shape;131;p18"/>
          <p:cNvSpPr/>
          <p:nvPr/>
        </p:nvSpPr>
        <p:spPr>
          <a:xfrm>
            <a:off x="676900" y="3750875"/>
            <a:ext cx="2674500" cy="29739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2857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WEST SUN STACK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#03 $2.788mil 2420psf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#04 $2.798mil 2405psf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0000"/>
                </a:solidFill>
              </a:rPr>
              <a:t>AFTER #04 </a:t>
            </a:r>
            <a:r>
              <a:rPr b="1" lang="en-US" sz="1300">
                <a:solidFill>
                  <a:srgbClr val="FF0000"/>
                </a:solidFill>
              </a:rPr>
              <a:t>MAY JUMP </a:t>
            </a:r>
            <a:endParaRPr b="1" sz="13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0000"/>
                </a:solidFill>
              </a:rPr>
              <a:t>20K TO 50K (put 20K)</a:t>
            </a:r>
            <a:endParaRPr b="1" sz="13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#05 $2.818.mil 2423psf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#06 $2.828mil 2431psf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#07 #2.838mil 2440psf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#08 $2.848mil 2448psf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#09 $2.858mil 2457psf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#10 $2.868mil 2466psf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#11 $2.878mil 2474psf</a:t>
            </a:r>
            <a:endParaRPr b="1" sz="1300"/>
          </a:p>
        </p:txBody>
      </p:sp>
      <p:cxnSp>
        <p:nvCxnSpPr>
          <p:cNvPr id="132" name="Google Shape;132;p18"/>
          <p:cNvCxnSpPr/>
          <p:nvPr/>
        </p:nvCxnSpPr>
        <p:spPr>
          <a:xfrm rot="10800000">
            <a:off x="3351325" y="3062825"/>
            <a:ext cx="1087500" cy="217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" name="Google Shape;133;p18"/>
          <p:cNvSpPr/>
          <p:nvPr/>
        </p:nvSpPr>
        <p:spPr>
          <a:xfrm>
            <a:off x="676900" y="326775"/>
            <a:ext cx="2674500" cy="31992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2857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NON </a:t>
            </a:r>
            <a:r>
              <a:rPr b="1" lang="en-US" sz="1300"/>
              <a:t> SUN STACK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MAYBE 5K TO 10K MORE (USE 5K) 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#03 $2.793mil 2420psf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#04 $2.803mil 2405psf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0000"/>
                </a:solidFill>
              </a:rPr>
              <a:t>AFTER #04 MAY JUMP </a:t>
            </a:r>
            <a:endParaRPr b="1" sz="13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0000"/>
                </a:solidFill>
              </a:rPr>
              <a:t>20K TO 50K (put 20K)</a:t>
            </a:r>
            <a:endParaRPr b="1" sz="13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#05 $2.823mil 2427psf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#06 $2.833mil 2435psf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#07 #2.843mil 2444psf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#08 $2.853mil 2453psf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#09 $2.863mil 2461psf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#10 $2.873mil 2470psf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#11 $2.883mil 2478psf</a:t>
            </a:r>
            <a:endParaRPr b="1"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9" title="Screenshot 2026-10-01 at 10.27.4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9651" y="649598"/>
            <a:ext cx="4142999" cy="555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0" name="Google Shape;140;p19"/>
          <p:cNvCxnSpPr/>
          <p:nvPr/>
        </p:nvCxnSpPr>
        <p:spPr>
          <a:xfrm rot="10800000">
            <a:off x="3706575" y="5681650"/>
            <a:ext cx="1708800" cy="199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" name="Google Shape;141;p19"/>
          <p:cNvSpPr/>
          <p:nvPr/>
        </p:nvSpPr>
        <p:spPr>
          <a:xfrm>
            <a:off x="388275" y="2740700"/>
            <a:ext cx="3240600" cy="34677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2857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ADD 10K FOR SCHOOL FACING/ from left side can see lake so maybe more expensive than pool 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#03 $2.803mil 2345psf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#04 $2813.mil 2353psf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0000"/>
                </a:solidFill>
              </a:rPr>
              <a:t>CLEAR SCHOOL  MAY JUMP </a:t>
            </a:r>
            <a:endParaRPr b="1" sz="13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0000"/>
                </a:solidFill>
              </a:rPr>
              <a:t>20K TO 50K (AVERAGE 25K)</a:t>
            </a:r>
            <a:endParaRPr b="1" sz="13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#05 $2.838mil 2374psf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#06 $2.848mil 2383psf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#07 #2.858mil 2391psf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#08 $2.868mil 2400psf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#09 $2.878mil 2408psf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#10 $2.888mil 2416psf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#11 $2.898mil 2425psf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